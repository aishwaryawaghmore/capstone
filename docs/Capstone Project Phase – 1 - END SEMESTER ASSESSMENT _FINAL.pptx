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18"/>
  </p:notesMasterIdLst>
  <p:handoutMasterIdLst>
    <p:handoutMasterId r:id="rId19"/>
  </p:handoutMasterIdLst>
  <p:sldIdLst>
    <p:sldId id="538" r:id="rId2"/>
    <p:sldId id="535" r:id="rId3"/>
    <p:sldId id="570" r:id="rId4"/>
    <p:sldId id="572" r:id="rId5"/>
    <p:sldId id="569" r:id="rId6"/>
    <p:sldId id="557" r:id="rId7"/>
    <p:sldId id="585" r:id="rId8"/>
    <p:sldId id="586" r:id="rId9"/>
    <p:sldId id="568" r:id="rId10"/>
    <p:sldId id="587" r:id="rId11"/>
    <p:sldId id="536" r:id="rId12"/>
    <p:sldId id="583" r:id="rId13"/>
    <p:sldId id="545" r:id="rId14"/>
    <p:sldId id="584" r:id="rId15"/>
    <p:sldId id="552" r:id="rId16"/>
    <p:sldId id="549" r:id="rId17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FF0066"/>
    <a:srgbClr val="33CC33"/>
    <a:srgbClr val="00FFFF"/>
    <a:srgbClr val="6600FF"/>
    <a:srgbClr val="CC66FF"/>
    <a:srgbClr val="62832D"/>
    <a:srgbClr val="0066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37" autoAdjust="0"/>
    <p:restoredTop sz="86811" autoAdjust="0"/>
  </p:normalViewPr>
  <p:slideViewPr>
    <p:cSldViewPr>
      <p:cViewPr varScale="1">
        <p:scale>
          <a:sx n="59" d="100"/>
          <a:sy n="59" d="100"/>
        </p:scale>
        <p:origin x="956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13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6A7C97D-3554-44E0-8E72-665D45387ACC}" type="datetimeFigureOut">
              <a:rPr lang="en-US"/>
              <a:pPr>
                <a:defRPr/>
              </a:pPr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486DC43-659C-4A17-BDC0-5684401D4F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973BE83-6A1D-4DA3-83D0-ED76C71EFE38}" type="datetimeFigureOut">
              <a:rPr lang="en-US"/>
              <a:pPr>
                <a:defRPr/>
              </a:pPr>
              <a:t>11/7/2025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1C81575-24DE-4F6C-A73E-0331B3B2E4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0478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434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660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DE73D-8ECF-AF98-63B1-C3C5C8D58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F97682-F0C4-2DAE-14ED-FD74B0EA16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C0B31B-FD23-B3BE-3D10-42B801E32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73067-ECEF-68C9-F67D-53A99CA971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615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34CEF-7073-D7AB-EC74-925D23444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E6DAC7-DAEB-2A57-A800-59BBBFC1C8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99C16C-4B0D-EDC4-B7BB-F29488713B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BF1AB-0288-1910-8236-CA0405E441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499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309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4A08C-C927-42D4-1E74-E3E84DDC8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9600B6-8D8C-B153-664A-47537DFB3D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3644BB-518F-0B90-4C82-4A9E7FA23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C9081-9950-9395-6E9B-8C95CBB2A0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973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625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713C8-F183-1D43-AE77-BF9BD4D2A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AF752-0EC0-CF4D-965A-5129A9135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32540-0688-DC4A-809A-52FB3313D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CA43E-0611-D047-BC7B-31F920B6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E4123-5713-BC41-BBD0-42ADF35D9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70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DED43-C903-1F44-A779-40DF9AEFD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975D8-34AD-544B-B0E2-83FA77D2F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24DD5-B8E0-534E-B68A-EF415575E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96688-5BB1-5E48-BD14-BBC9FA67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C407C-3003-DB44-98B5-0DEC6272B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1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5630D-09E2-0742-AED8-D3F732546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B2CD3-A564-8044-A4EC-7EBA26298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A64EE-79C1-8B46-BA9C-199117C7B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1AAB2-DA47-AE48-A088-6FC7C169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8FF9C-19C9-FA46-8C21-74202499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91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CBAF5-C913-024F-8BE6-64C58F970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E6DB7-D3D7-1443-A583-8730715E2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EB82F-3E99-7441-9B06-6D7C2156A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6D282-1572-D344-87D1-785DA8576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3D760-065F-6442-AF7E-1A7AAFFCA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F4C15-EC3A-7E41-A2B3-D2AB7D70E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04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2CC90-B8AE-8A46-A8A5-F7E8DA615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152C5-AA77-4B47-965C-21A00C1EE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66F8D-3502-5242-9160-E1CDE38E0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754302-8F9A-5648-9C5E-6D037F1C7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9FC9CD-8823-F145-9952-EFBA9ACD2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5EF4D9-655F-4842-A6B8-D44A05012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E68A74-725F-8F40-8F80-E96287703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D868FA-8565-A740-9B9C-B3CD6AB3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54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DFCE3-1C1E-7448-AF7E-5E46BB140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9D5C9-50F6-8546-8D8C-AFACC1BC1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EA0D0C-FCAF-4F4C-AAF5-C9B78C03C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68836A-EEA3-7347-A63C-8E66DF7B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87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7A43C1-2303-5A41-B234-90D15E2A4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A77971-B281-6149-9884-0E9C45F8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0F6F3-1061-E842-B540-6BD0D6CB8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32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B970D-13D5-B346-968D-400B0BCC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9FFE0-37CD-7644-A007-76E5304F1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210BE7-EA92-B44F-9EEC-94E6F6955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6D810-D2A1-B549-A5BC-25CCA5CD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872D2-2005-3043-A02D-3E2DB9334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9F01D-1164-4249-AD67-1D51D33C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86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D3B30-2A71-A043-9BD7-3B8C66BF7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2B08A9-6B45-4340-8859-996D9B9490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B1F4B2-96C1-614B-9110-8D1AEE080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DF3EB-6252-5845-AE7D-FB94ECF9F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65DB7-EFE7-7446-8DEC-69F1FB47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0E09F-0F32-5644-881A-A61CD8246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594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6E61B7-8DCD-1544-BC5D-B4592F60C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B61D9-7FB3-1343-9555-936FC6036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2A79E-2DF5-4E41-BDCF-90E9D26B7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A7037-0853-0447-B5BA-F1548123F733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D5DC5-E1CB-B84F-BCAB-EB319B371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12A2C-5C91-4B43-A114-209348A10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 descr="PESSAT - All India Online Entrance Exam for Admission to PES University">
            <a:extLst>
              <a:ext uri="{FF2B5EF4-FFF2-40B4-BE49-F238E27FC236}">
                <a16:creationId xmlns:a16="http://schemas.microsoft.com/office/drawing/2014/main" id="{A3B97CAD-824E-EAC1-FC41-3EEEC584AA9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7336" y="264409"/>
            <a:ext cx="116205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238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0" y="1600200"/>
            <a:ext cx="79248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rebuchet MS" pitchFamily="34" charset="0"/>
              </a:rPr>
              <a:t>UE23CS320A–  Project Phase – 1</a:t>
            </a:r>
          </a:p>
          <a:p>
            <a:pPr algn="ctr"/>
            <a:r>
              <a:rPr lang="en-US" sz="4000" dirty="0">
                <a:latin typeface="Trebuchet MS" pitchFamily="34" charset="0"/>
              </a:rPr>
              <a:t> </a:t>
            </a:r>
            <a:r>
              <a:rPr lang="en-US" sz="3600" dirty="0">
                <a:solidFill>
                  <a:srgbClr val="FF0000"/>
                </a:solidFill>
                <a:latin typeface="Trebuchet MS" pitchFamily="34" charset="0"/>
              </a:rPr>
              <a:t>End Semester Assessment</a:t>
            </a:r>
          </a:p>
        </p:txBody>
      </p:sp>
      <p:sp>
        <p:nvSpPr>
          <p:cNvPr id="4" name="Google Shape;26;p3"/>
          <p:cNvSpPr txBox="1"/>
          <p:nvPr/>
        </p:nvSpPr>
        <p:spPr>
          <a:xfrm>
            <a:off x="1703512" y="4105167"/>
            <a:ext cx="8458200" cy="137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   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ID       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Guide :          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Team  : </a:t>
            </a:r>
            <a:endParaRPr lang="en-IN" sz="2000" dirty="0">
              <a:solidFill>
                <a:srgbClr val="0033CC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2000" dirty="0">
              <a:solidFill>
                <a:srgbClr val="0033CC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057400" y="1676400"/>
            <a:ext cx="8077200" cy="4724400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IN" sz="2000" kern="0" dirty="0">
                <a:solidFill>
                  <a:srgbClr val="0000FF"/>
                </a:solidFill>
                <a:latin typeface="Trebuchet MS" pitchFamily="34" charset="0"/>
              </a:rPr>
              <a:t>Introduction and Motivation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IN" sz="2000" kern="0" dirty="0">
                <a:solidFill>
                  <a:srgbClr val="0000FF"/>
                </a:solidFill>
                <a:latin typeface="Trebuchet MS" pitchFamily="34" charset="0"/>
              </a:rPr>
              <a:t>Problem Statement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</a:rPr>
              <a:t>Abstract and Scope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</a:rPr>
              <a:t>Suggestions from Review – 1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</a:rPr>
              <a:t> Research / Technology gap and Challenges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</a:rPr>
              <a:t>Objectives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</a:rPr>
              <a:t>Literature Survey / Existing System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</a:rPr>
              <a:t>Dataset exploration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References</a:t>
            </a:r>
            <a:endParaRPr lang="en-US" sz="2000" kern="0" dirty="0">
              <a:solidFill>
                <a:srgbClr val="0000FF"/>
              </a:solidFill>
              <a:latin typeface="Trebuchet MS" pitchFamily="34" charset="0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057400" y="2238380"/>
            <a:ext cx="8077200" cy="4162419"/>
          </a:xfrm>
          <a:prstGeom prst="rect">
            <a:avLst/>
          </a:prstGeom>
        </p:spPr>
        <p:txBody>
          <a:bodyPr/>
          <a:lstStyle/>
          <a:p>
            <a:pPr marL="342891" indent="12700" algn="just" eaLnBrk="0" hangingPunct="0">
              <a:spcBef>
                <a:spcPct val="20000"/>
              </a:spcBef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Provide basic introduction of the project and also motivation to select the problem statement</a:t>
            </a:r>
            <a:endParaRPr lang="en-IN" sz="2400" kern="0" dirty="0">
              <a:latin typeface="Trebuchet MS" pitchFamily="34" charset="0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Introduction and Motivation</a:t>
            </a:r>
          </a:p>
        </p:txBody>
      </p:sp>
    </p:spTree>
    <p:extLst>
      <p:ext uri="{BB962C8B-B14F-4D97-AF65-F5344CB8AC3E}">
        <p14:creationId xmlns:p14="http://schemas.microsoft.com/office/powerpoint/2010/main" val="3892582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057400" y="2238380"/>
            <a:ext cx="8077200" cy="4162419"/>
          </a:xfrm>
          <a:prstGeom prst="rect">
            <a:avLst/>
          </a:prstGeom>
        </p:spPr>
        <p:txBody>
          <a:bodyPr/>
          <a:lstStyle/>
          <a:p>
            <a:pPr marL="342891" indent="12700" algn="just" eaLnBrk="0" hangingPunct="0">
              <a:spcBef>
                <a:spcPct val="20000"/>
              </a:spcBef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Well defined problem statement</a:t>
            </a:r>
          </a:p>
          <a:p>
            <a:pPr marL="1142991" lvl="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 It should clearly specify the problem</a:t>
            </a:r>
            <a:endParaRPr lang="en-IN" sz="2400" kern="0" dirty="0">
              <a:latin typeface="Trebuchet MS" pitchFamily="34" charset="0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82208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</p:spPr>
        <p:txBody>
          <a:bodyPr/>
          <a:lstStyle/>
          <a:p>
            <a:pPr marL="342891" algn="just" eaLnBrk="0" hangingPunct="0">
              <a:spcBef>
                <a:spcPct val="20000"/>
              </a:spcBef>
              <a:defRPr/>
            </a:pPr>
            <a:r>
              <a:rPr lang="en-US" sz="2400" kern="0" dirty="0">
                <a:solidFill>
                  <a:srgbClr val="0000FF"/>
                </a:solidFill>
                <a:latin typeface="Trebuchet MS" pitchFamily="34" charset="0"/>
              </a:rPr>
              <a:t> Include the following,</a:t>
            </a:r>
          </a:p>
          <a:p>
            <a:pPr marL="342891" indent="127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kern="0" dirty="0">
                <a:solidFill>
                  <a:srgbClr val="0000FF"/>
                </a:solidFill>
                <a:latin typeface="Trebuchet MS" pitchFamily="34" charset="0"/>
              </a:rPr>
              <a:t>  The problem addressed in the project.</a:t>
            </a:r>
          </a:p>
          <a:p>
            <a:pPr marL="342891" indent="127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kern="0" dirty="0">
                <a:solidFill>
                  <a:srgbClr val="0000FF"/>
                </a:solidFill>
                <a:latin typeface="Trebuchet MS" pitchFamily="34" charset="0"/>
              </a:rPr>
              <a:t>  Provide a basic introduction of the project and also an overview of scope it entails.</a:t>
            </a:r>
          </a:p>
          <a:p>
            <a:pPr marL="342891" indent="127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kern="0" dirty="0">
                <a:solidFill>
                  <a:srgbClr val="0000FF"/>
                </a:solidFill>
                <a:latin typeface="Trebuchet MS" pitchFamily="34" charset="0"/>
              </a:rPr>
              <a:t> Include objective and adopted approach.</a:t>
            </a:r>
          </a:p>
          <a:p>
            <a:pPr marL="342891" indent="127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kern="0" dirty="0">
                <a:solidFill>
                  <a:srgbClr val="0000FF"/>
                </a:solidFill>
                <a:latin typeface="Trebuchet MS" pitchFamily="34" charset="0"/>
              </a:rPr>
              <a:t>  Set the context.</a:t>
            </a:r>
            <a:endParaRPr lang="en-IN" sz="2400" kern="0" dirty="0">
              <a:solidFill>
                <a:srgbClr val="0000FF"/>
              </a:solidFill>
              <a:latin typeface="Trebuchet MS" pitchFamily="34" charset="0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Abstract and Scope</a:t>
            </a:r>
          </a:p>
        </p:txBody>
      </p:sp>
    </p:spTree>
    <p:extLst>
      <p:ext uri="{BB962C8B-B14F-4D97-AF65-F5344CB8AC3E}">
        <p14:creationId xmlns:p14="http://schemas.microsoft.com/office/powerpoint/2010/main" val="3811030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905000" y="2092332"/>
            <a:ext cx="8077200" cy="4384667"/>
          </a:xfrm>
          <a:prstGeom prst="rect">
            <a:avLst/>
          </a:prstGeom>
        </p:spPr>
        <p:txBody>
          <a:bodyPr/>
          <a:lstStyle/>
          <a:p>
            <a:pPr marL="342891" indent="127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Provide the suggestions and remarks given by the panel members. </a:t>
            </a:r>
          </a:p>
          <a:p>
            <a:pPr marL="685791" indent="-342900" algn="just" eaLnBrk="0" hangingPunct="0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Explain how each remark by panel members is addressed in the current system</a:t>
            </a: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Suggestions from Review - 1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7E7DF-CD10-A895-4CFF-5816898EE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DB940B1-8E0A-43F5-8145-5E6D13847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29AC46B-F2BB-0650-180C-2D4A9807C7E0}"/>
              </a:ext>
            </a:extLst>
          </p:cNvPr>
          <p:cNvSpPr txBox="1">
            <a:spLocks/>
          </p:cNvSpPr>
          <p:nvPr/>
        </p:nvSpPr>
        <p:spPr>
          <a:xfrm>
            <a:off x="2057400" y="2188868"/>
            <a:ext cx="8077200" cy="4211931"/>
          </a:xfrm>
          <a:prstGeom prst="rect">
            <a:avLst/>
          </a:prstGeom>
        </p:spPr>
        <p:txBody>
          <a:bodyPr/>
          <a:lstStyle/>
          <a:p>
            <a:pPr marL="342891" algn="just" eaLnBrk="0" hangingPunct="0">
              <a:spcBef>
                <a:spcPct val="20000"/>
              </a:spcBef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</p:txBody>
      </p:sp>
      <p:sp>
        <p:nvSpPr>
          <p:cNvPr id="14" name="Text Box 34">
            <a:extLst>
              <a:ext uri="{FF2B5EF4-FFF2-40B4-BE49-F238E27FC236}">
                <a16:creationId xmlns:a16="http://schemas.microsoft.com/office/drawing/2014/main" id="{1390B55D-43F9-5CAE-77DD-5114F2D2B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Challenges and Research Gap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05C299-4584-D135-D740-A49DDBCBF6EC}"/>
              </a:ext>
            </a:extLst>
          </p:cNvPr>
          <p:cNvSpPr txBox="1"/>
          <p:nvPr/>
        </p:nvSpPr>
        <p:spPr>
          <a:xfrm>
            <a:off x="911424" y="2167178"/>
            <a:ext cx="72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research Gap</a:t>
            </a:r>
            <a:endParaRPr lang="en-IN" sz="2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270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A82B5-85E5-9F52-E735-9D94A9AC8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977EF10-7059-1AAF-06F1-C993B66CD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20BC0D5-82C5-776F-7C47-B575E1F9943F}"/>
              </a:ext>
            </a:extLst>
          </p:cNvPr>
          <p:cNvSpPr txBox="1">
            <a:spLocks/>
          </p:cNvSpPr>
          <p:nvPr/>
        </p:nvSpPr>
        <p:spPr>
          <a:xfrm>
            <a:off x="2057400" y="2188868"/>
            <a:ext cx="8077200" cy="4211931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</p:txBody>
      </p:sp>
      <p:sp>
        <p:nvSpPr>
          <p:cNvPr id="14" name="Text Box 34">
            <a:extLst>
              <a:ext uri="{FF2B5EF4-FFF2-40B4-BE49-F238E27FC236}">
                <a16:creationId xmlns:a16="http://schemas.microsoft.com/office/drawing/2014/main" id="{F1B5795C-E560-9A58-09B9-5DABEA8971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Objectives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412D00-3589-0008-37F0-FFC630094186}"/>
              </a:ext>
            </a:extLst>
          </p:cNvPr>
          <p:cNvSpPr txBox="1"/>
          <p:nvPr/>
        </p:nvSpPr>
        <p:spPr>
          <a:xfrm>
            <a:off x="911424" y="2167178"/>
            <a:ext cx="72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 the objectives of project</a:t>
            </a:r>
            <a:endParaRPr lang="en-IN" sz="2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662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057400" y="2188868"/>
            <a:ext cx="8077200" cy="4211931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00FF"/>
                </a:solidFill>
                <a:latin typeface="Trebuchet MS" pitchFamily="34" charset="0"/>
              </a:rPr>
              <a:t>A critical assessment of the research that has been conducted on the topic.</a:t>
            </a:r>
          </a:p>
          <a:p>
            <a:pPr marL="685791" indent="-3429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00FF"/>
                </a:solidFill>
                <a:latin typeface="Trebuchet MS" pitchFamily="34" charset="0"/>
              </a:rPr>
              <a:t>8-10 recently published research papers/products.</a:t>
            </a:r>
          </a:p>
          <a:p>
            <a:pPr marL="685791" indent="-3429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00FF"/>
                </a:solidFill>
                <a:latin typeface="Trebuchet MS" pitchFamily="34" charset="0"/>
              </a:rPr>
              <a:t>Summarize the individual papers/products with as much detail as each deserves, depending up on its relative importance in the overall literature on the topic. 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Literature Survey/Existing System</a:t>
            </a:r>
          </a:p>
        </p:txBody>
      </p:sp>
    </p:spTree>
    <p:extLst>
      <p:ext uri="{BB962C8B-B14F-4D97-AF65-F5344CB8AC3E}">
        <p14:creationId xmlns:p14="http://schemas.microsoft.com/office/powerpoint/2010/main" val="4205369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23FF-26CE-0AF2-6ED4-D8B45DDAF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9FD3129-7547-A295-0997-F1A0378C9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59D000B-476A-6A52-28DE-6A4B6A5E4E07}"/>
              </a:ext>
            </a:extLst>
          </p:cNvPr>
          <p:cNvSpPr txBox="1">
            <a:spLocks/>
          </p:cNvSpPr>
          <p:nvPr/>
        </p:nvSpPr>
        <p:spPr>
          <a:xfrm>
            <a:off x="2057400" y="2188868"/>
            <a:ext cx="8077200" cy="4211931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00FF"/>
                </a:solidFill>
                <a:latin typeface="Trebuchet MS" pitchFamily="34" charset="0"/>
              </a:rPr>
              <a:t>Sample Template- Student can use any other template also to explain about the paper</a:t>
            </a:r>
          </a:p>
          <a:p>
            <a:pPr marL="685791" indent="-3429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dirty="0">
              <a:solidFill>
                <a:srgbClr val="0000FF"/>
              </a:solidFill>
              <a:latin typeface="Trebuchet MS" pitchFamily="34" charset="0"/>
            </a:endParaRP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</p:txBody>
      </p:sp>
      <p:sp>
        <p:nvSpPr>
          <p:cNvPr id="14" name="Text Box 34">
            <a:extLst>
              <a:ext uri="{FF2B5EF4-FFF2-40B4-BE49-F238E27FC236}">
                <a16:creationId xmlns:a16="http://schemas.microsoft.com/office/drawing/2014/main" id="{CE0956C5-C413-3480-EEF3-487EA92FE7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Literature Survey/Existing System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0450688-C4D3-B62C-E415-135F1AB23B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634582"/>
              </p:ext>
            </p:extLst>
          </p:nvPr>
        </p:nvGraphicFramePr>
        <p:xfrm>
          <a:off x="1847528" y="3140968"/>
          <a:ext cx="8352928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232">
                  <a:extLst>
                    <a:ext uri="{9D8B030D-6E8A-4147-A177-3AD203B41FA5}">
                      <a16:colId xmlns:a16="http://schemas.microsoft.com/office/drawing/2014/main" val="821004949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3428168394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399984517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13709966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Details of Paper- Title, author, conference /Journal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Methodology Used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Limitations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505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207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536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776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5681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34"/>
          <p:cNvSpPr txBox="1">
            <a:spLocks noChangeArrowheads="1"/>
          </p:cNvSpPr>
          <p:nvPr/>
        </p:nvSpPr>
        <p:spPr bwMode="auto">
          <a:xfrm>
            <a:off x="1905000" y="1143002"/>
            <a:ext cx="8763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sym typeface="Trebuchet MS"/>
              </a:rPr>
              <a:t>Dataset Exploration</a:t>
            </a:r>
            <a:endParaRPr lang="en-US" sz="24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981200" y="1752600"/>
            <a:ext cx="8229600" cy="4724400"/>
          </a:xfrm>
          <a:prstGeom prst="rect">
            <a:avLst/>
          </a:prstGeo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Availability of dataset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Source of dataset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Size </a:t>
            </a:r>
            <a:r>
              <a:rPr lang="en-US" sz="24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of dataset</a:t>
            </a: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dirty="0">
                <a:solidFill>
                  <a:srgbClr val="FF0000"/>
                </a:solidFill>
                <a:latin typeface="Trebuchet MS"/>
              </a:rPr>
              <a:t>Capstone (Phase-I , Phase-II and Phase III) Project Timeline</a:t>
            </a:r>
            <a:endParaRPr lang="en-US" sz="2400" dirty="0">
              <a:solidFill>
                <a:srgbClr val="FF0000"/>
              </a:solidFill>
              <a:latin typeface="Trebuchet M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1066800" y="2003213"/>
            <a:ext cx="8839199" cy="2825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Provide </a:t>
            </a:r>
          </a:p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The timelines for execution of the project through Gantt chart.</a:t>
            </a:r>
          </a:p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The plan in terms of efforts by individuals in the team. </a:t>
            </a:r>
          </a:p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Mention the tasks involved in different stages.</a:t>
            </a:r>
          </a:p>
          <a:p>
            <a:pPr marL="1077913" lvl="1" indent="-265113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IN" sz="2400" dirty="0">
              <a:solidFill>
                <a:srgbClr val="0033CC"/>
              </a:solidFill>
              <a:latin typeface="Trebuchet MS"/>
            </a:endParaRPr>
          </a:p>
          <a:p>
            <a:pPr marL="1077913" lvl="1" indent="-265113" algn="just" eaLnBrk="0" hangingPunct="0">
              <a:spcBef>
                <a:spcPct val="20000"/>
              </a:spcBef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940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Any other information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2133601" y="1905001"/>
            <a:ext cx="8839199" cy="216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891" indent="12700" algn="just" eaLnBrk="0" hangingPunct="0">
              <a:spcBef>
                <a:spcPct val="20000"/>
              </a:spcBef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Provide any other information you wish to add on.</a:t>
            </a:r>
          </a:p>
          <a:p>
            <a:pPr marL="342891" indent="12700" algn="just" eaLnBrk="0" hangingPunct="0">
              <a:spcBef>
                <a:spcPct val="20000"/>
              </a:spcBef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 </a:t>
            </a:r>
          </a:p>
          <a:p>
            <a:pPr marL="342891" indent="12700" algn="just" eaLnBrk="0" hangingPunct="0">
              <a:spcBef>
                <a:spcPct val="20000"/>
              </a:spcBef>
              <a:defRPr/>
            </a:pPr>
            <a:endParaRPr lang="en-IN" sz="2400" kern="0" dirty="0">
              <a:solidFill>
                <a:srgbClr val="0000FF"/>
              </a:solidFill>
              <a:latin typeface="Trebuchet MS" pitchFamily="34" charset="0"/>
            </a:endParaRPr>
          </a:p>
          <a:p>
            <a:pPr marL="342891" indent="12700" algn="just" eaLnBrk="0" hangingPunct="0">
              <a:spcBef>
                <a:spcPct val="20000"/>
              </a:spcBef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Note: Changes can be made in the template, with the consent of the guide for inclusion of any other information.</a:t>
            </a:r>
            <a:endParaRPr lang="en-IN" sz="2400" kern="0" dirty="0">
              <a:latin typeface="Trebuchet MS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dirty="0">
                <a:solidFill>
                  <a:srgbClr val="FF0000"/>
                </a:solidFill>
                <a:latin typeface="Trebuchet MS"/>
              </a:rPr>
              <a:t>Conclusion</a:t>
            </a:r>
            <a:endParaRPr lang="en-US" sz="2400" dirty="0">
              <a:solidFill>
                <a:srgbClr val="FF0000"/>
              </a:solidFill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374062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References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828800" y="1828800"/>
            <a:ext cx="8458200" cy="4724400"/>
          </a:xfrm>
          <a:prstGeom prst="rect">
            <a:avLst/>
          </a:prstGeom>
        </p:spPr>
        <p:txBody>
          <a:bodyPr/>
          <a:lstStyle/>
          <a:p>
            <a:pPr marL="342900" indent="12700" algn="just" eaLnBrk="0" hangingPunct="0">
              <a:spcBef>
                <a:spcPct val="20000"/>
              </a:spcBef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  <a:p>
            <a:pPr marL="342900" indent="12700" algn="just" eaLnBrk="0" hangingPunct="0">
              <a:spcBef>
                <a:spcPct val="20000"/>
              </a:spcBef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  <a:p>
            <a:pPr marL="342900" indent="12700" algn="just" eaLnBrk="0" hangingPunct="0">
              <a:spcBef>
                <a:spcPct val="20000"/>
              </a:spcBef>
              <a:defRPr/>
            </a:pPr>
            <a:r>
              <a:rPr lang="en-IN" sz="2400" dirty="0">
                <a:solidFill>
                  <a:srgbClr val="0000FF"/>
                </a:solidFill>
                <a:latin typeface="Trebuchet MS" pitchFamily="34" charset="0"/>
              </a:rPr>
              <a:t>Provide references pertaining to your research according to IEEE format.</a:t>
            </a:r>
          </a:p>
          <a:p>
            <a:pPr marL="342900" indent="12700" algn="just" eaLnBrk="0" hangingPunct="0">
              <a:spcBef>
                <a:spcPct val="20000"/>
              </a:spcBef>
              <a:defRPr/>
            </a:pPr>
            <a:r>
              <a:rPr lang="en-IN" sz="2400" dirty="0">
                <a:solidFill>
                  <a:srgbClr val="0000FF"/>
                </a:solidFill>
                <a:latin typeface="Trebuchet MS" pitchFamily="34" charset="0"/>
              </a:rPr>
              <a:t>EX:</a:t>
            </a:r>
            <a:r>
              <a:rPr lang="en-US" sz="2400" dirty="0">
                <a:solidFill>
                  <a:srgbClr val="0000FF"/>
                </a:solidFill>
                <a:latin typeface="Trebuchet MS" pitchFamily="34" charset="0"/>
              </a:rPr>
              <a:t>G. Eason, B. Noble, and I. N. Sneddon, “On certain integrals of  Lipschitz-Hankel type involving products of Bessel functions,” Phil. Trans.  Roy. Soc. London, vol. A247, pp. 529–551, April 1955. (references)</a:t>
            </a: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  <a:p>
            <a:pPr marL="1077913" lvl="1" indent="-265113" algn="just" eaLnBrk="0" hangingPunct="0">
              <a:spcBef>
                <a:spcPct val="20000"/>
              </a:spcBef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defRPr/>
            </a:pPr>
            <a:endParaRPr lang="en-IN" sz="2000" kern="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358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71485" y="3352800"/>
            <a:ext cx="250658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4000" dirty="0">
                <a:solidFill>
                  <a:srgbClr val="FF0000"/>
                </a:solidFill>
                <a:latin typeface="Trebuchet MS" pitchFamily="34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pstone Project - Review 3 - Template.pptx" id="{77E64785-C4AC-D447-9F20-AA3556BA4DEA}" vid="{211B08FD-A304-1146-A3C3-5229E601B30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Capstone Project - Review 3 - Template (1)</Template>
  <TotalTime>187</TotalTime>
  <Words>430</Words>
  <Application>Microsoft Office PowerPoint</Application>
  <PresentationFormat>Widescreen</PresentationFormat>
  <Paragraphs>79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Trebuchet MS</vt:lpstr>
      <vt:lpstr>Wingdings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KTwo Technology Solutions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Sunitha R</dc:creator>
  <cp:lastModifiedBy>prajwala talanki</cp:lastModifiedBy>
  <cp:revision>47</cp:revision>
  <dcterms:created xsi:type="dcterms:W3CDTF">2020-11-22T08:14:37Z</dcterms:created>
  <dcterms:modified xsi:type="dcterms:W3CDTF">2025-11-07T06:24:44Z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