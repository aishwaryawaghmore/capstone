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2"/>
  </p:notesMasterIdLst>
  <p:handoutMasterIdLst>
    <p:handoutMasterId r:id="rId33"/>
  </p:handoutMasterIdLst>
  <p:sldIdLst>
    <p:sldId id="538" r:id="rId2"/>
    <p:sldId id="535" r:id="rId3"/>
    <p:sldId id="572" r:id="rId4"/>
    <p:sldId id="569" r:id="rId5"/>
    <p:sldId id="597" r:id="rId6"/>
    <p:sldId id="557" r:id="rId7"/>
    <p:sldId id="573" r:id="rId8"/>
    <p:sldId id="602" r:id="rId9"/>
    <p:sldId id="603" r:id="rId10"/>
    <p:sldId id="585" r:id="rId11"/>
    <p:sldId id="604" r:id="rId12"/>
    <p:sldId id="562" r:id="rId13"/>
    <p:sldId id="588" r:id="rId14"/>
    <p:sldId id="589" r:id="rId15"/>
    <p:sldId id="590" r:id="rId16"/>
    <p:sldId id="591" r:id="rId17"/>
    <p:sldId id="563" r:id="rId18"/>
    <p:sldId id="592" r:id="rId19"/>
    <p:sldId id="593" r:id="rId20"/>
    <p:sldId id="571" r:id="rId21"/>
    <p:sldId id="566" r:id="rId22"/>
    <p:sldId id="598" r:id="rId23"/>
    <p:sldId id="599" r:id="rId24"/>
    <p:sldId id="600" r:id="rId25"/>
    <p:sldId id="601" r:id="rId26"/>
    <p:sldId id="567" r:id="rId27"/>
    <p:sldId id="583" r:id="rId28"/>
    <p:sldId id="584" r:id="rId29"/>
    <p:sldId id="552" r:id="rId30"/>
    <p:sldId id="549" r:id="rId31"/>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FF"/>
    <a:srgbClr val="FF33CC"/>
    <a:srgbClr val="FF0066"/>
    <a:srgbClr val="0000FF"/>
    <a:srgbClr val="33CC33"/>
    <a:srgbClr val="00FF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F4423-2681-4007-B805-4E8DC35727F6}" v="2" dt="2026-02-16T10:11:26.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95" d="100"/>
          <a:sy n="95" d="100"/>
        </p:scale>
        <p:origin x="202"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2/19/2026</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2/19/2026</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2213043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C6B83-68A6-A272-89A0-575CF98547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4DE40-39C1-4C9B-A1DB-63FC313A9C39}"/>
              </a:ext>
            </a:extLst>
          </p:cNvPr>
          <p:cNvSpPr>
            <a:spLocks noGrp="1" noRot="1" noChangeAspect="1"/>
          </p:cNvSpPr>
          <p:nvPr>
            <p:ph type="sldImg"/>
          </p:nvPr>
        </p:nvSpPr>
        <p:spPr>
          <a:xfrm>
            <a:off x="407988" y="696913"/>
            <a:ext cx="6196012" cy="3486150"/>
          </a:xfrm>
        </p:spPr>
        <p:txBody>
          <a:bodyPr/>
          <a:lstStyle/>
          <a:p>
            <a:endParaRPr lang="en-IN"/>
          </a:p>
        </p:txBody>
      </p:sp>
      <p:sp>
        <p:nvSpPr>
          <p:cNvPr id="3" name="Notes Placeholder 2">
            <a:extLst>
              <a:ext uri="{FF2B5EF4-FFF2-40B4-BE49-F238E27FC236}">
                <a16:creationId xmlns:a16="http://schemas.microsoft.com/office/drawing/2014/main" id="{453DF791-3E86-7850-E68B-DF73ADE2E5AB}"/>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38D735B4-F24D-A5DF-62C7-C4FE97E9AD32}"/>
              </a:ext>
            </a:extLst>
          </p:cNvPr>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3332735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7</a:t>
            </a:fld>
            <a:endParaRPr lang="en-US"/>
          </a:p>
        </p:txBody>
      </p:sp>
    </p:spTree>
    <p:extLst>
      <p:ext uri="{BB962C8B-B14F-4D97-AF65-F5344CB8AC3E}">
        <p14:creationId xmlns:p14="http://schemas.microsoft.com/office/powerpoint/2010/main" val="4055125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C920-6544-FA60-9D0F-17BC5D3D9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94748-08A0-450F-CE51-8EAD4675E5DC}"/>
              </a:ext>
            </a:extLst>
          </p:cNvPr>
          <p:cNvSpPr>
            <a:spLocks noGrp="1" noRot="1" noChangeAspect="1"/>
          </p:cNvSpPr>
          <p:nvPr>
            <p:ph type="sldImg"/>
          </p:nvPr>
        </p:nvSpPr>
        <p:spPr>
          <a:xfrm>
            <a:off x="407988" y="696913"/>
            <a:ext cx="6196012" cy="3486150"/>
          </a:xfrm>
        </p:spPr>
        <p:txBody>
          <a:bodyPr/>
          <a:lstStyle/>
          <a:p>
            <a:endParaRPr lang="en-IN"/>
          </a:p>
        </p:txBody>
      </p:sp>
      <p:sp>
        <p:nvSpPr>
          <p:cNvPr id="3" name="Notes Placeholder 2">
            <a:extLst>
              <a:ext uri="{FF2B5EF4-FFF2-40B4-BE49-F238E27FC236}">
                <a16:creationId xmlns:a16="http://schemas.microsoft.com/office/drawing/2014/main" id="{C0F3A30C-12E9-B228-F669-FA8AADD2EA9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14443EF4-4CFF-913E-44EF-893A9B08AB7E}"/>
              </a:ext>
            </a:extLst>
          </p:cNvPr>
          <p:cNvSpPr>
            <a:spLocks noGrp="1"/>
          </p:cNvSpPr>
          <p:nvPr>
            <p:ph type="sldNum" sz="quarter" idx="10"/>
          </p:nvPr>
        </p:nvSpPr>
        <p:spPr/>
        <p:txBody>
          <a:bodyPr/>
          <a:lstStyle/>
          <a:p>
            <a:pPr>
              <a:defRPr/>
            </a:pPr>
            <a:fld id="{01C81575-24DE-4F6C-A73E-0331B3B2E418}" type="slidenum">
              <a:rPr lang="en-US" smtClean="0"/>
              <a:pPr>
                <a:defRPr/>
              </a:pPr>
              <a:t>8</a:t>
            </a:fld>
            <a:endParaRPr lang="en-US"/>
          </a:p>
        </p:txBody>
      </p:sp>
    </p:spTree>
    <p:extLst>
      <p:ext uri="{BB962C8B-B14F-4D97-AF65-F5344CB8AC3E}">
        <p14:creationId xmlns:p14="http://schemas.microsoft.com/office/powerpoint/2010/main" val="3577480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BE7C1-305B-AB2A-9BAC-B99540460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EB281-ADA8-1CEE-29F0-E136C62FE969}"/>
              </a:ext>
            </a:extLst>
          </p:cNvPr>
          <p:cNvSpPr>
            <a:spLocks noGrp="1" noRot="1" noChangeAspect="1"/>
          </p:cNvSpPr>
          <p:nvPr>
            <p:ph type="sldImg"/>
          </p:nvPr>
        </p:nvSpPr>
        <p:spPr>
          <a:xfrm>
            <a:off x="407988" y="696913"/>
            <a:ext cx="6196012" cy="3486150"/>
          </a:xfrm>
        </p:spPr>
        <p:txBody>
          <a:bodyPr/>
          <a:lstStyle/>
          <a:p>
            <a:endParaRPr lang="en-IN"/>
          </a:p>
        </p:txBody>
      </p:sp>
      <p:sp>
        <p:nvSpPr>
          <p:cNvPr id="3" name="Notes Placeholder 2">
            <a:extLst>
              <a:ext uri="{FF2B5EF4-FFF2-40B4-BE49-F238E27FC236}">
                <a16:creationId xmlns:a16="http://schemas.microsoft.com/office/drawing/2014/main" id="{CCA0473B-1D0F-8997-91AA-32363F8B9C8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09711CC2-150D-E5C5-532B-E3A5EE3B04FC}"/>
              </a:ext>
            </a:extLst>
          </p:cNvPr>
          <p:cNvSpPr>
            <a:spLocks noGrp="1"/>
          </p:cNvSpPr>
          <p:nvPr>
            <p:ph type="sldNum" sz="quarter" idx="10"/>
          </p:nvPr>
        </p:nvSpPr>
        <p:spPr/>
        <p:txBody>
          <a:bodyPr/>
          <a:lstStyle/>
          <a:p>
            <a:pPr>
              <a:defRPr/>
            </a:pPr>
            <a:fld id="{01C81575-24DE-4F6C-A73E-0331B3B2E418}" type="slidenum">
              <a:rPr lang="en-US" smtClean="0"/>
              <a:pPr>
                <a:defRPr/>
              </a:pPr>
              <a:t>9</a:t>
            </a:fld>
            <a:endParaRPr lang="en-US"/>
          </a:p>
        </p:txBody>
      </p:sp>
    </p:spTree>
    <p:extLst>
      <p:ext uri="{BB962C8B-B14F-4D97-AF65-F5344CB8AC3E}">
        <p14:creationId xmlns:p14="http://schemas.microsoft.com/office/powerpoint/2010/main" val="1795654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FC5D8-82E7-D74A-CA0C-1B8BE28C5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95CBB-C80E-B47E-6FDE-F8FC217AA968}"/>
              </a:ext>
            </a:extLst>
          </p:cNvPr>
          <p:cNvSpPr>
            <a:spLocks noGrp="1" noRot="1" noChangeAspect="1"/>
          </p:cNvSpPr>
          <p:nvPr>
            <p:ph type="sldImg"/>
          </p:nvPr>
        </p:nvSpPr>
        <p:spPr>
          <a:xfrm>
            <a:off x="407988" y="696913"/>
            <a:ext cx="6196012" cy="3486150"/>
          </a:xfrm>
        </p:spPr>
        <p:txBody>
          <a:bodyPr/>
          <a:lstStyle/>
          <a:p>
            <a:endParaRPr lang="en-IN"/>
          </a:p>
        </p:txBody>
      </p:sp>
      <p:sp>
        <p:nvSpPr>
          <p:cNvPr id="3" name="Notes Placeholder 2">
            <a:extLst>
              <a:ext uri="{FF2B5EF4-FFF2-40B4-BE49-F238E27FC236}">
                <a16:creationId xmlns:a16="http://schemas.microsoft.com/office/drawing/2014/main" id="{B00B1881-580E-EFC6-B57A-04190C23ADEE}"/>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6BCB88FC-240A-ABD8-9A73-B62731F807E0}"/>
              </a:ext>
            </a:extLst>
          </p:cNvPr>
          <p:cNvSpPr>
            <a:spLocks noGrp="1"/>
          </p:cNvSpPr>
          <p:nvPr>
            <p:ph type="sldNum" sz="quarter" idx="10"/>
          </p:nvPr>
        </p:nvSpPr>
        <p:spPr/>
        <p:txBody>
          <a:bodyPr/>
          <a:lstStyle/>
          <a:p>
            <a:pPr>
              <a:defRPr/>
            </a:pPr>
            <a:fld id="{01C81575-24DE-4F6C-A73E-0331B3B2E418}" type="slidenum">
              <a:rPr lang="en-US" smtClean="0"/>
              <a:pPr>
                <a:defRPr/>
              </a:pPr>
              <a:t>10</a:t>
            </a:fld>
            <a:endParaRPr lang="en-US"/>
          </a:p>
        </p:txBody>
      </p:sp>
    </p:spTree>
    <p:extLst>
      <p:ext uri="{BB962C8B-B14F-4D97-AF65-F5344CB8AC3E}">
        <p14:creationId xmlns:p14="http://schemas.microsoft.com/office/powerpoint/2010/main" val="231721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38E7-2E1B-A926-3934-35B9C1EE8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686FF-224D-E5D8-07F7-01CF73E18406}"/>
              </a:ext>
            </a:extLst>
          </p:cNvPr>
          <p:cNvSpPr>
            <a:spLocks noGrp="1" noRot="1" noChangeAspect="1"/>
          </p:cNvSpPr>
          <p:nvPr>
            <p:ph type="sldImg"/>
          </p:nvPr>
        </p:nvSpPr>
        <p:spPr>
          <a:xfrm>
            <a:off x="407988" y="696913"/>
            <a:ext cx="6196012" cy="3486150"/>
          </a:xfrm>
        </p:spPr>
        <p:txBody>
          <a:bodyPr/>
          <a:lstStyle/>
          <a:p>
            <a:endParaRPr lang="en-IN"/>
          </a:p>
        </p:txBody>
      </p:sp>
      <p:sp>
        <p:nvSpPr>
          <p:cNvPr id="3" name="Notes Placeholder 2">
            <a:extLst>
              <a:ext uri="{FF2B5EF4-FFF2-40B4-BE49-F238E27FC236}">
                <a16:creationId xmlns:a16="http://schemas.microsoft.com/office/drawing/2014/main" id="{EBE5A72F-91CF-6334-55AE-9A74052EE717}"/>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812BB3D-F612-6A27-7B18-CF493B869977}"/>
              </a:ext>
            </a:extLst>
          </p:cNvPr>
          <p:cNvSpPr>
            <a:spLocks noGrp="1"/>
          </p:cNvSpPr>
          <p:nvPr>
            <p:ph type="sldNum" sz="quarter" idx="10"/>
          </p:nvPr>
        </p:nvSpPr>
        <p:spPr/>
        <p:txBody>
          <a:bodyPr/>
          <a:lstStyle/>
          <a:p>
            <a:pPr>
              <a:defRPr/>
            </a:pPr>
            <a:fld id="{01C81575-24DE-4F6C-A73E-0331B3B2E418}" type="slidenum">
              <a:rPr lang="en-US" smtClean="0"/>
              <a:pPr>
                <a:defRPr/>
              </a:pPr>
              <a:t>11</a:t>
            </a:fld>
            <a:endParaRPr lang="en-US"/>
          </a:p>
        </p:txBody>
      </p:sp>
    </p:spTree>
    <p:extLst>
      <p:ext uri="{BB962C8B-B14F-4D97-AF65-F5344CB8AC3E}">
        <p14:creationId xmlns:p14="http://schemas.microsoft.com/office/powerpoint/2010/main" val="26538365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2D0C51FC-28DC-1999-B651-5D7BAB453F08}"/>
            </a:ext>
          </a:extLst>
        </p:cNvPr>
        <p:cNvGrpSpPr/>
        <p:nvPr/>
      </p:nvGrpSpPr>
      <p:grpSpPr>
        <a:xfrm>
          <a:off x="0" y="0"/>
          <a:ext cx="0" cy="0"/>
          <a:chOff x="0" y="0"/>
          <a:chExt cx="0" cy="0"/>
        </a:xfrm>
      </p:grpSpPr>
      <p:sp>
        <p:nvSpPr>
          <p:cNvPr id="42" name="Google Shape;42;p4:notes">
            <a:extLst>
              <a:ext uri="{FF2B5EF4-FFF2-40B4-BE49-F238E27FC236}">
                <a16:creationId xmlns:a16="http://schemas.microsoft.com/office/drawing/2014/main" id="{DAB67FD2-2CA0-F65E-7C27-8038A1D856FA}"/>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a:extLst>
              <a:ext uri="{FF2B5EF4-FFF2-40B4-BE49-F238E27FC236}">
                <a16:creationId xmlns:a16="http://schemas.microsoft.com/office/drawing/2014/main" id="{34F1C79D-3D12-EF86-B8BC-3E32B0E007A5}"/>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721386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94DBA96-9C3E-716F-F345-321317298FB6}"/>
            </a:ext>
          </a:extLst>
        </p:cNvPr>
        <p:cNvGrpSpPr/>
        <p:nvPr/>
      </p:nvGrpSpPr>
      <p:grpSpPr>
        <a:xfrm>
          <a:off x="0" y="0"/>
          <a:ext cx="0" cy="0"/>
          <a:chOff x="0" y="0"/>
          <a:chExt cx="0" cy="0"/>
        </a:xfrm>
      </p:grpSpPr>
      <p:sp>
        <p:nvSpPr>
          <p:cNvPr id="42" name="Google Shape;42;p4:notes">
            <a:extLst>
              <a:ext uri="{FF2B5EF4-FFF2-40B4-BE49-F238E27FC236}">
                <a16:creationId xmlns:a16="http://schemas.microsoft.com/office/drawing/2014/main" id="{3378E60F-872A-2672-B50A-37BD7CFBFDE3}"/>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a:extLst>
              <a:ext uri="{FF2B5EF4-FFF2-40B4-BE49-F238E27FC236}">
                <a16:creationId xmlns:a16="http://schemas.microsoft.com/office/drawing/2014/main" id="{93680DA5-C2BA-F7E1-2AC0-37E9FC0D89E0}"/>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866202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1203BAB6-BD7E-C20F-6A1A-C8B9CA177C40}"/>
            </a:ext>
          </a:extLst>
        </p:cNvPr>
        <p:cNvGrpSpPr/>
        <p:nvPr/>
      </p:nvGrpSpPr>
      <p:grpSpPr>
        <a:xfrm>
          <a:off x="0" y="0"/>
          <a:ext cx="0" cy="0"/>
          <a:chOff x="0" y="0"/>
          <a:chExt cx="0" cy="0"/>
        </a:xfrm>
      </p:grpSpPr>
      <p:sp>
        <p:nvSpPr>
          <p:cNvPr id="42" name="Google Shape;42;p4:notes">
            <a:extLst>
              <a:ext uri="{FF2B5EF4-FFF2-40B4-BE49-F238E27FC236}">
                <a16:creationId xmlns:a16="http://schemas.microsoft.com/office/drawing/2014/main" id="{A5FD2B59-4CE1-38FB-7868-A237A1DD2A10}"/>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a:extLst>
              <a:ext uri="{FF2B5EF4-FFF2-40B4-BE49-F238E27FC236}">
                <a16:creationId xmlns:a16="http://schemas.microsoft.com/office/drawing/2014/main" id="{61788DC3-1B83-7507-8B0E-CAB6AD0829F7}"/>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57833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5AD6CEFC-63D7-EDCC-07B2-ADAC02F725FE}"/>
            </a:ext>
          </a:extLst>
        </p:cNvPr>
        <p:cNvGrpSpPr/>
        <p:nvPr/>
      </p:nvGrpSpPr>
      <p:grpSpPr>
        <a:xfrm>
          <a:off x="0" y="0"/>
          <a:ext cx="0" cy="0"/>
          <a:chOff x="0" y="0"/>
          <a:chExt cx="0" cy="0"/>
        </a:xfrm>
      </p:grpSpPr>
      <p:sp>
        <p:nvSpPr>
          <p:cNvPr id="42" name="Google Shape;42;p4:notes">
            <a:extLst>
              <a:ext uri="{FF2B5EF4-FFF2-40B4-BE49-F238E27FC236}">
                <a16:creationId xmlns:a16="http://schemas.microsoft.com/office/drawing/2014/main" id="{EAFAE20D-961B-DD6E-6D2F-96DDD64DBA18}"/>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a:extLst>
              <a:ext uri="{FF2B5EF4-FFF2-40B4-BE49-F238E27FC236}">
                <a16:creationId xmlns:a16="http://schemas.microsoft.com/office/drawing/2014/main" id="{627685C2-EBAB-6DE2-DD8D-13AC8DF6C8D2}"/>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41631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0D80FCB3-C5A1-0478-8D5A-837B179536AF}"/>
            </a:ext>
          </a:extLst>
        </p:cNvPr>
        <p:cNvGrpSpPr/>
        <p:nvPr/>
      </p:nvGrpSpPr>
      <p:grpSpPr>
        <a:xfrm>
          <a:off x="0" y="0"/>
          <a:ext cx="0" cy="0"/>
          <a:chOff x="0" y="0"/>
          <a:chExt cx="0" cy="0"/>
        </a:xfrm>
      </p:grpSpPr>
      <p:sp>
        <p:nvSpPr>
          <p:cNvPr id="49" name="Google Shape;49;p5:notes">
            <a:extLst>
              <a:ext uri="{FF2B5EF4-FFF2-40B4-BE49-F238E27FC236}">
                <a16:creationId xmlns:a16="http://schemas.microsoft.com/office/drawing/2014/main" id="{71E71BFA-6183-CDE7-A104-8A35CFF129AB}"/>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a:extLst>
              <a:ext uri="{FF2B5EF4-FFF2-40B4-BE49-F238E27FC236}">
                <a16:creationId xmlns:a16="http://schemas.microsoft.com/office/drawing/2014/main" id="{15EE4237-9EA4-7D39-E19A-E3F290A0D548}"/>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75198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A36A486A-1AAA-DEB5-0F28-92D32B9CBC07}"/>
            </a:ext>
          </a:extLst>
        </p:cNvPr>
        <p:cNvGrpSpPr/>
        <p:nvPr/>
      </p:nvGrpSpPr>
      <p:grpSpPr>
        <a:xfrm>
          <a:off x="0" y="0"/>
          <a:ext cx="0" cy="0"/>
          <a:chOff x="0" y="0"/>
          <a:chExt cx="0" cy="0"/>
        </a:xfrm>
      </p:grpSpPr>
      <p:sp>
        <p:nvSpPr>
          <p:cNvPr id="49" name="Google Shape;49;p5:notes">
            <a:extLst>
              <a:ext uri="{FF2B5EF4-FFF2-40B4-BE49-F238E27FC236}">
                <a16:creationId xmlns:a16="http://schemas.microsoft.com/office/drawing/2014/main" id="{D642A2B4-4E6D-063C-87A1-22134355E716}"/>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a:extLst>
              <a:ext uri="{FF2B5EF4-FFF2-40B4-BE49-F238E27FC236}">
                <a16:creationId xmlns:a16="http://schemas.microsoft.com/office/drawing/2014/main" id="{C905D87C-307B-7107-EB0A-678C5735A4CD}"/>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135827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794564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80280E8D-CFE0-7D43-0A11-045A3278F6E4}"/>
            </a:ext>
          </a:extLst>
        </p:cNvPr>
        <p:cNvGrpSpPr/>
        <p:nvPr/>
      </p:nvGrpSpPr>
      <p:grpSpPr>
        <a:xfrm>
          <a:off x="0" y="0"/>
          <a:ext cx="0" cy="0"/>
          <a:chOff x="0" y="0"/>
          <a:chExt cx="0" cy="0"/>
        </a:xfrm>
      </p:grpSpPr>
      <p:sp>
        <p:nvSpPr>
          <p:cNvPr id="49" name="Google Shape;49;p5:notes">
            <a:extLst>
              <a:ext uri="{FF2B5EF4-FFF2-40B4-BE49-F238E27FC236}">
                <a16:creationId xmlns:a16="http://schemas.microsoft.com/office/drawing/2014/main" id="{E26F2984-C20E-F3B3-D983-5C2934D7B07A}"/>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a:extLst>
              <a:ext uri="{FF2B5EF4-FFF2-40B4-BE49-F238E27FC236}">
                <a16:creationId xmlns:a16="http://schemas.microsoft.com/office/drawing/2014/main" id="{A54D8CFB-8A6D-BCC8-0A89-534256AAB2CD}"/>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15082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DDE05A39-76E4-63C4-D28B-4B51081EAE82}"/>
            </a:ext>
          </a:extLst>
        </p:cNvPr>
        <p:cNvGrpSpPr/>
        <p:nvPr/>
      </p:nvGrpSpPr>
      <p:grpSpPr>
        <a:xfrm>
          <a:off x="0" y="0"/>
          <a:ext cx="0" cy="0"/>
          <a:chOff x="0" y="0"/>
          <a:chExt cx="0" cy="0"/>
        </a:xfrm>
      </p:grpSpPr>
      <p:sp>
        <p:nvSpPr>
          <p:cNvPr id="49" name="Google Shape;49;p5:notes">
            <a:extLst>
              <a:ext uri="{FF2B5EF4-FFF2-40B4-BE49-F238E27FC236}">
                <a16:creationId xmlns:a16="http://schemas.microsoft.com/office/drawing/2014/main" id="{FA938F1A-F5BF-058E-BFB2-8CED79EB3FDE}"/>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a:extLst>
              <a:ext uri="{FF2B5EF4-FFF2-40B4-BE49-F238E27FC236}">
                <a16:creationId xmlns:a16="http://schemas.microsoft.com/office/drawing/2014/main" id="{47EA5831-77F6-CDF6-DD7F-B20158520155}"/>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550478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C5A62DAC-B1A4-44FE-E06B-D7EA6A400D19}"/>
            </a:ext>
          </a:extLst>
        </p:cNvPr>
        <p:cNvGrpSpPr/>
        <p:nvPr/>
      </p:nvGrpSpPr>
      <p:grpSpPr>
        <a:xfrm>
          <a:off x="0" y="0"/>
          <a:ext cx="0" cy="0"/>
          <a:chOff x="0" y="0"/>
          <a:chExt cx="0" cy="0"/>
        </a:xfrm>
      </p:grpSpPr>
      <p:sp>
        <p:nvSpPr>
          <p:cNvPr id="49" name="Google Shape;49;p5:notes">
            <a:extLst>
              <a:ext uri="{FF2B5EF4-FFF2-40B4-BE49-F238E27FC236}">
                <a16:creationId xmlns:a16="http://schemas.microsoft.com/office/drawing/2014/main" id="{4C7E8571-A1BB-1FD7-7FB3-76FB5BE3DE0B}"/>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a:extLst>
              <a:ext uri="{FF2B5EF4-FFF2-40B4-BE49-F238E27FC236}">
                <a16:creationId xmlns:a16="http://schemas.microsoft.com/office/drawing/2014/main" id="{CA159ED3-98AF-E28A-B0E9-FE8C4C03372B}"/>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9171611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9A0716DF-E944-913D-A1A5-FB53576C3E39}"/>
            </a:ext>
          </a:extLst>
        </p:cNvPr>
        <p:cNvGrpSpPr/>
        <p:nvPr/>
      </p:nvGrpSpPr>
      <p:grpSpPr>
        <a:xfrm>
          <a:off x="0" y="0"/>
          <a:ext cx="0" cy="0"/>
          <a:chOff x="0" y="0"/>
          <a:chExt cx="0" cy="0"/>
        </a:xfrm>
      </p:grpSpPr>
      <p:sp>
        <p:nvSpPr>
          <p:cNvPr id="49" name="Google Shape;49;p5:notes">
            <a:extLst>
              <a:ext uri="{FF2B5EF4-FFF2-40B4-BE49-F238E27FC236}">
                <a16:creationId xmlns:a16="http://schemas.microsoft.com/office/drawing/2014/main" id="{0E73CBD8-AF1A-8F9E-E614-3097A792E874}"/>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a:extLst>
              <a:ext uri="{FF2B5EF4-FFF2-40B4-BE49-F238E27FC236}">
                <a16:creationId xmlns:a16="http://schemas.microsoft.com/office/drawing/2014/main" id="{BE1D73AE-DF41-950D-93B1-246993073BAB}"/>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735055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29</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2/19/2026</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2/19/2026</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3B97CAD-824E-EAC1-FC41-3EEEC584AA9C}"/>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1552" y="548680"/>
            <a:ext cx="8788896" cy="1138773"/>
          </a:xfrm>
          <a:prstGeom prst="rect">
            <a:avLst/>
          </a:prstGeom>
        </p:spPr>
        <p:txBody>
          <a:bodyPr wrap="square">
            <a:spAutoFit/>
          </a:bodyPr>
          <a:lstStyle/>
          <a:p>
            <a:pPr algn="ctr"/>
            <a:r>
              <a:rPr lang="en-US" sz="2800" b="1" dirty="0">
                <a:solidFill>
                  <a:srgbClr val="FF0000"/>
                </a:solidFill>
                <a:latin typeface="Trebuchet MS" pitchFamily="34" charset="0"/>
              </a:rPr>
              <a:t>UE23CS320B–  Project Phase – 2</a:t>
            </a:r>
          </a:p>
          <a:p>
            <a:pPr algn="ctr"/>
            <a:r>
              <a:rPr lang="en-US" sz="4000" dirty="0">
                <a:solidFill>
                  <a:srgbClr val="FF0000"/>
                </a:solidFill>
                <a:latin typeface="Trebuchet MS" pitchFamily="34" charset="0"/>
              </a:rPr>
              <a:t>Capstone Project –Phase 2 –review 1</a:t>
            </a:r>
            <a:endParaRPr lang="en-US" sz="3600" dirty="0">
              <a:solidFill>
                <a:srgbClr val="FF0000"/>
              </a:solidFill>
              <a:latin typeface="Trebuchet MS" pitchFamily="34" charset="0"/>
            </a:endParaRPr>
          </a:p>
        </p:txBody>
      </p:sp>
      <p:sp>
        <p:nvSpPr>
          <p:cNvPr id="10" name="TextBox 9">
            <a:extLst>
              <a:ext uri="{FF2B5EF4-FFF2-40B4-BE49-F238E27FC236}">
                <a16:creationId xmlns:a16="http://schemas.microsoft.com/office/drawing/2014/main" id="{1B10E194-DE33-2690-1706-ADAD8F029395}"/>
              </a:ext>
            </a:extLst>
          </p:cNvPr>
          <p:cNvSpPr txBox="1"/>
          <p:nvPr/>
        </p:nvSpPr>
        <p:spPr>
          <a:xfrm>
            <a:off x="2027548" y="2275575"/>
            <a:ext cx="9253028" cy="2552943"/>
          </a:xfrm>
          <a:prstGeom prst="rect">
            <a:avLst/>
          </a:prstGeom>
          <a:noFill/>
        </p:spPr>
        <p:txBody>
          <a:bodyPr wrap="square">
            <a:spAutoFit/>
          </a:bodyPr>
          <a:lstStyle/>
          <a:p>
            <a:pPr marL="252095" marR="5080">
              <a:lnSpc>
                <a:spcPct val="101499"/>
              </a:lnSpc>
              <a:tabLst>
                <a:tab pos="1883410" algn="l"/>
              </a:tabLst>
            </a:pPr>
            <a:r>
              <a:rPr lang="en-IN" sz="2000" spc="-85" dirty="0">
                <a:solidFill>
                  <a:srgbClr val="6600FF"/>
                </a:solidFill>
              </a:rPr>
              <a:t>P</a:t>
            </a:r>
            <a:r>
              <a:rPr lang="en-IN" sz="2000" spc="5" dirty="0">
                <a:solidFill>
                  <a:srgbClr val="6600FF"/>
                </a:solidFill>
              </a:rPr>
              <a:t>r</a:t>
            </a:r>
            <a:r>
              <a:rPr lang="en-IN" sz="2000" spc="10" dirty="0">
                <a:solidFill>
                  <a:srgbClr val="6600FF"/>
                </a:solidFill>
              </a:rPr>
              <a:t>oj</a:t>
            </a:r>
            <a:r>
              <a:rPr lang="en-IN" sz="2000" dirty="0">
                <a:solidFill>
                  <a:srgbClr val="6600FF"/>
                </a:solidFill>
              </a:rPr>
              <a:t>e</a:t>
            </a:r>
            <a:r>
              <a:rPr lang="en-IN" sz="2000" spc="15" dirty="0">
                <a:solidFill>
                  <a:srgbClr val="6600FF"/>
                </a:solidFill>
              </a:rPr>
              <a:t>c</a:t>
            </a:r>
            <a:r>
              <a:rPr lang="en-IN" sz="2000" spc="5" dirty="0">
                <a:solidFill>
                  <a:srgbClr val="6600FF"/>
                </a:solidFill>
              </a:rPr>
              <a:t>t</a:t>
            </a:r>
            <a:r>
              <a:rPr lang="en-IN" sz="2000" spc="-45" dirty="0">
                <a:solidFill>
                  <a:srgbClr val="6600FF"/>
                </a:solidFill>
              </a:rPr>
              <a:t> </a:t>
            </a:r>
            <a:r>
              <a:rPr lang="en-IN" sz="2000" spc="-75" dirty="0">
                <a:solidFill>
                  <a:srgbClr val="6600FF"/>
                </a:solidFill>
              </a:rPr>
              <a:t>T</a:t>
            </a:r>
            <a:r>
              <a:rPr lang="en-IN" sz="2000" spc="10" dirty="0">
                <a:solidFill>
                  <a:srgbClr val="6600FF"/>
                </a:solidFill>
              </a:rPr>
              <a:t>i</a:t>
            </a:r>
            <a:r>
              <a:rPr lang="en-IN" sz="2000" spc="-10" dirty="0">
                <a:solidFill>
                  <a:srgbClr val="6600FF"/>
                </a:solidFill>
              </a:rPr>
              <a:t>t</a:t>
            </a:r>
            <a:r>
              <a:rPr lang="en-IN" sz="2000" spc="10" dirty="0">
                <a:solidFill>
                  <a:srgbClr val="6600FF"/>
                </a:solidFill>
              </a:rPr>
              <a:t>le</a:t>
            </a:r>
            <a:r>
              <a:rPr lang="en-IN" sz="2000" dirty="0">
                <a:solidFill>
                  <a:srgbClr val="6600FF"/>
                </a:solidFill>
              </a:rPr>
              <a:t>	</a:t>
            </a:r>
            <a:r>
              <a:rPr lang="en-IN" sz="2000" spc="5" dirty="0">
                <a:solidFill>
                  <a:srgbClr val="6600FF"/>
                </a:solidFill>
              </a:rPr>
              <a:t>:</a:t>
            </a:r>
            <a:r>
              <a:rPr lang="en-IN" sz="2000" spc="-90" dirty="0">
                <a:solidFill>
                  <a:srgbClr val="6600FF"/>
                </a:solidFill>
              </a:rPr>
              <a:t> </a:t>
            </a:r>
            <a:r>
              <a:rPr lang="en-IN" sz="2000" spc="5" dirty="0">
                <a:solidFill>
                  <a:srgbClr val="6600FF"/>
                </a:solidFill>
              </a:rPr>
              <a:t>AI</a:t>
            </a:r>
            <a:r>
              <a:rPr lang="en-IN" sz="2000" spc="10" dirty="0">
                <a:solidFill>
                  <a:srgbClr val="6600FF"/>
                </a:solidFill>
              </a:rPr>
              <a:t>-</a:t>
            </a:r>
            <a:r>
              <a:rPr lang="en-IN" sz="2000" spc="-5" dirty="0">
                <a:solidFill>
                  <a:srgbClr val="6600FF"/>
                </a:solidFill>
              </a:rPr>
              <a:t>B</a:t>
            </a:r>
            <a:r>
              <a:rPr lang="en-IN" sz="2000" spc="20" dirty="0">
                <a:solidFill>
                  <a:srgbClr val="6600FF"/>
                </a:solidFill>
              </a:rPr>
              <a:t>a</a:t>
            </a:r>
            <a:r>
              <a:rPr lang="en-IN" sz="2000" spc="-5" dirty="0">
                <a:solidFill>
                  <a:srgbClr val="6600FF"/>
                </a:solidFill>
              </a:rPr>
              <a:t>s</a:t>
            </a:r>
            <a:r>
              <a:rPr lang="en-IN" sz="2000" spc="15" dirty="0">
                <a:solidFill>
                  <a:srgbClr val="6600FF"/>
                </a:solidFill>
              </a:rPr>
              <a:t>e</a:t>
            </a:r>
            <a:r>
              <a:rPr lang="en-IN" sz="2000" spc="10" dirty="0">
                <a:solidFill>
                  <a:srgbClr val="6600FF"/>
                </a:solidFill>
              </a:rPr>
              <a:t>d </a:t>
            </a:r>
            <a:r>
              <a:rPr lang="en-IN" sz="2000" dirty="0">
                <a:solidFill>
                  <a:srgbClr val="6600FF"/>
                </a:solidFill>
              </a:rPr>
              <a:t>D</a:t>
            </a:r>
            <a:r>
              <a:rPr lang="en-IN" sz="2000" spc="15" dirty="0">
                <a:solidFill>
                  <a:srgbClr val="6600FF"/>
                </a:solidFill>
              </a:rPr>
              <a:t>o</a:t>
            </a:r>
            <a:r>
              <a:rPr lang="en-IN" sz="2000" spc="5" dirty="0">
                <a:solidFill>
                  <a:srgbClr val="6600FF"/>
                </a:solidFill>
              </a:rPr>
              <a:t>g</a:t>
            </a:r>
            <a:r>
              <a:rPr lang="en-IN" sz="2000" dirty="0">
                <a:solidFill>
                  <a:srgbClr val="6600FF"/>
                </a:solidFill>
              </a:rPr>
              <a:t> H</a:t>
            </a:r>
            <a:r>
              <a:rPr lang="en-IN" sz="2000" spc="15" dirty="0">
                <a:solidFill>
                  <a:srgbClr val="6600FF"/>
                </a:solidFill>
              </a:rPr>
              <a:t>e</a:t>
            </a:r>
            <a:r>
              <a:rPr lang="en-IN" sz="2000" spc="20" dirty="0">
                <a:solidFill>
                  <a:srgbClr val="6600FF"/>
                </a:solidFill>
              </a:rPr>
              <a:t>a</a:t>
            </a:r>
            <a:r>
              <a:rPr lang="en-IN" sz="2000" spc="-5" dirty="0">
                <a:solidFill>
                  <a:srgbClr val="6600FF"/>
                </a:solidFill>
              </a:rPr>
              <a:t>l</a:t>
            </a:r>
            <a:r>
              <a:rPr lang="en-IN" sz="2000" spc="10" dirty="0">
                <a:solidFill>
                  <a:srgbClr val="6600FF"/>
                </a:solidFill>
              </a:rPr>
              <a:t>th</a:t>
            </a:r>
            <a:r>
              <a:rPr lang="en-IN" sz="2000" spc="15" dirty="0">
                <a:solidFill>
                  <a:srgbClr val="6600FF"/>
                </a:solidFill>
              </a:rPr>
              <a:t> </a:t>
            </a:r>
            <a:r>
              <a:rPr lang="en-IN" sz="2000" spc="10" dirty="0">
                <a:solidFill>
                  <a:srgbClr val="6600FF"/>
                </a:solidFill>
              </a:rPr>
              <a:t>M</a:t>
            </a:r>
            <a:r>
              <a:rPr lang="en-IN" sz="2000" spc="15" dirty="0">
                <a:solidFill>
                  <a:srgbClr val="6600FF"/>
                </a:solidFill>
              </a:rPr>
              <a:t>on</a:t>
            </a:r>
            <a:r>
              <a:rPr lang="en-IN" sz="2000" spc="-5" dirty="0">
                <a:solidFill>
                  <a:srgbClr val="6600FF"/>
                </a:solidFill>
              </a:rPr>
              <a:t>i</a:t>
            </a:r>
            <a:r>
              <a:rPr lang="en-IN" sz="2000" spc="10" dirty="0">
                <a:solidFill>
                  <a:srgbClr val="6600FF"/>
                </a:solidFill>
              </a:rPr>
              <a:t>t</a:t>
            </a:r>
            <a:r>
              <a:rPr lang="en-IN" sz="2000" spc="-5" dirty="0">
                <a:solidFill>
                  <a:srgbClr val="6600FF"/>
                </a:solidFill>
              </a:rPr>
              <a:t>o</a:t>
            </a:r>
            <a:r>
              <a:rPr lang="en-IN" sz="2000" spc="5" dirty="0">
                <a:solidFill>
                  <a:srgbClr val="6600FF"/>
                </a:solidFill>
              </a:rPr>
              <a:t>r</a:t>
            </a:r>
            <a:r>
              <a:rPr lang="en-IN" sz="2000" spc="10" dirty="0">
                <a:solidFill>
                  <a:srgbClr val="6600FF"/>
                </a:solidFill>
              </a:rPr>
              <a:t>i</a:t>
            </a:r>
            <a:r>
              <a:rPr lang="en-IN" sz="2000" spc="-5" dirty="0">
                <a:solidFill>
                  <a:srgbClr val="6600FF"/>
                </a:solidFill>
              </a:rPr>
              <a:t>n</a:t>
            </a:r>
            <a:r>
              <a:rPr lang="en-IN" sz="2000" spc="5" dirty="0">
                <a:solidFill>
                  <a:srgbClr val="6600FF"/>
                </a:solidFill>
              </a:rPr>
              <a:t>g</a:t>
            </a:r>
            <a:r>
              <a:rPr lang="en-IN" sz="2000" spc="20" dirty="0">
                <a:solidFill>
                  <a:srgbClr val="6600FF"/>
                </a:solidFill>
              </a:rPr>
              <a:t> </a:t>
            </a:r>
            <a:r>
              <a:rPr lang="en-IN" sz="2000" dirty="0">
                <a:solidFill>
                  <a:srgbClr val="6600FF"/>
                </a:solidFill>
              </a:rPr>
              <a:t>S</a:t>
            </a:r>
            <a:r>
              <a:rPr lang="en-IN" sz="2000" spc="-5" dirty="0">
                <a:solidFill>
                  <a:srgbClr val="6600FF"/>
                </a:solidFill>
              </a:rPr>
              <a:t>y</a:t>
            </a:r>
            <a:r>
              <a:rPr lang="en-IN" sz="2000" spc="10" dirty="0">
                <a:solidFill>
                  <a:srgbClr val="6600FF"/>
                </a:solidFill>
              </a:rPr>
              <a:t>s</a:t>
            </a:r>
            <a:r>
              <a:rPr lang="en-IN" sz="2000" spc="-10" dirty="0">
                <a:solidFill>
                  <a:srgbClr val="6600FF"/>
                </a:solidFill>
              </a:rPr>
              <a:t>t</a:t>
            </a:r>
            <a:r>
              <a:rPr lang="en-IN" sz="2000" dirty="0">
                <a:solidFill>
                  <a:srgbClr val="6600FF"/>
                </a:solidFill>
              </a:rPr>
              <a:t>e</a:t>
            </a:r>
            <a:r>
              <a:rPr lang="en-IN" sz="2000" spc="15" dirty="0">
                <a:solidFill>
                  <a:srgbClr val="6600FF"/>
                </a:solidFill>
              </a:rPr>
              <a:t>m</a:t>
            </a:r>
            <a:r>
              <a:rPr lang="en-IN" sz="2000" spc="25" dirty="0">
                <a:solidFill>
                  <a:srgbClr val="6600FF"/>
                </a:solidFill>
              </a:rPr>
              <a:t> </a:t>
            </a:r>
            <a:r>
              <a:rPr lang="en-IN" sz="2000" spc="10" dirty="0">
                <a:solidFill>
                  <a:srgbClr val="6600FF"/>
                </a:solidFill>
              </a:rPr>
              <a:t>U</a:t>
            </a:r>
            <a:r>
              <a:rPr lang="en-IN" sz="2000" spc="15" dirty="0">
                <a:solidFill>
                  <a:srgbClr val="6600FF"/>
                </a:solidFill>
              </a:rPr>
              <a:t>s</a:t>
            </a:r>
            <a:r>
              <a:rPr lang="en-IN" sz="2000" spc="-5" dirty="0">
                <a:solidFill>
                  <a:srgbClr val="6600FF"/>
                </a:solidFill>
              </a:rPr>
              <a:t>i</a:t>
            </a:r>
            <a:r>
              <a:rPr lang="en-IN" sz="2000" spc="15" dirty="0">
                <a:solidFill>
                  <a:srgbClr val="6600FF"/>
                </a:solidFill>
              </a:rPr>
              <a:t>n</a:t>
            </a:r>
            <a:r>
              <a:rPr lang="en-IN" sz="2000" spc="5" dirty="0">
                <a:solidFill>
                  <a:srgbClr val="6600FF"/>
                </a:solidFill>
              </a:rPr>
              <a:t>g </a:t>
            </a:r>
            <a:r>
              <a:rPr lang="en-IN" sz="2000" dirty="0">
                <a:solidFill>
                  <a:srgbClr val="6600FF"/>
                </a:solidFill>
              </a:rPr>
              <a:t>D</a:t>
            </a:r>
            <a:r>
              <a:rPr lang="en-IN" sz="2000" spc="15" dirty="0">
                <a:solidFill>
                  <a:srgbClr val="6600FF"/>
                </a:solidFill>
              </a:rPr>
              <a:t>u</a:t>
            </a:r>
            <a:r>
              <a:rPr lang="en-IN" sz="2000" spc="20" dirty="0">
                <a:solidFill>
                  <a:srgbClr val="6600FF"/>
                </a:solidFill>
              </a:rPr>
              <a:t>a</a:t>
            </a:r>
            <a:r>
              <a:rPr lang="en-IN" sz="2000" spc="-5" dirty="0">
                <a:solidFill>
                  <a:srgbClr val="6600FF"/>
                </a:solidFill>
              </a:rPr>
              <a:t>l</a:t>
            </a:r>
            <a:r>
              <a:rPr lang="en-IN" sz="2000" spc="10" dirty="0">
                <a:solidFill>
                  <a:srgbClr val="6600FF"/>
                </a:solidFill>
              </a:rPr>
              <a:t>-</a:t>
            </a:r>
            <a:r>
              <a:rPr lang="en-IN" sz="2000" spc="5" dirty="0">
                <a:solidFill>
                  <a:srgbClr val="6600FF"/>
                </a:solidFill>
              </a:rPr>
              <a:t>I</a:t>
            </a:r>
            <a:r>
              <a:rPr lang="en-IN" sz="2000" spc="15" dirty="0">
                <a:solidFill>
                  <a:srgbClr val="6600FF"/>
                </a:solidFill>
              </a:rPr>
              <a:t>n</a:t>
            </a:r>
            <a:r>
              <a:rPr lang="en-IN" sz="2000" spc="-5" dirty="0">
                <a:solidFill>
                  <a:srgbClr val="6600FF"/>
                </a:solidFill>
              </a:rPr>
              <a:t>p</a:t>
            </a:r>
            <a:r>
              <a:rPr lang="en-IN" sz="2000" spc="15" dirty="0">
                <a:solidFill>
                  <a:srgbClr val="6600FF"/>
                </a:solidFill>
              </a:rPr>
              <a:t>u</a:t>
            </a:r>
            <a:r>
              <a:rPr lang="en-IN" sz="2000" spc="5" dirty="0">
                <a:solidFill>
                  <a:srgbClr val="6600FF"/>
                </a:solidFill>
              </a:rPr>
              <a:t>t</a:t>
            </a:r>
            <a:r>
              <a:rPr lang="en-IN" sz="2000" spc="15" dirty="0">
                <a:solidFill>
                  <a:srgbClr val="6600FF"/>
                </a:solidFill>
              </a:rPr>
              <a:t>        </a:t>
            </a:r>
            <a:r>
              <a:rPr lang="en-IN" sz="2000" spc="10" dirty="0">
                <a:solidFill>
                  <a:srgbClr val="6600FF"/>
                </a:solidFill>
              </a:rPr>
              <a:t>(Im</a:t>
            </a:r>
            <a:r>
              <a:rPr lang="en-IN" sz="2000" spc="20" dirty="0">
                <a:solidFill>
                  <a:srgbClr val="6600FF"/>
                </a:solidFill>
              </a:rPr>
              <a:t>a</a:t>
            </a:r>
            <a:r>
              <a:rPr lang="en-IN" sz="2000" dirty="0">
                <a:solidFill>
                  <a:srgbClr val="6600FF"/>
                </a:solidFill>
              </a:rPr>
              <a:t>g</a:t>
            </a:r>
            <a:r>
              <a:rPr lang="en-IN" sz="2000" spc="15" dirty="0">
                <a:solidFill>
                  <a:srgbClr val="6600FF"/>
                </a:solidFill>
              </a:rPr>
              <a:t>e</a:t>
            </a:r>
            <a:r>
              <a:rPr lang="en-IN" sz="2000" spc="5" dirty="0">
                <a:solidFill>
                  <a:srgbClr val="6600FF"/>
                </a:solidFill>
              </a:rPr>
              <a:t>s</a:t>
            </a:r>
            <a:r>
              <a:rPr lang="en-IN" sz="2000" spc="-25" dirty="0">
                <a:solidFill>
                  <a:srgbClr val="6600FF"/>
                </a:solidFill>
              </a:rPr>
              <a:t> </a:t>
            </a:r>
            <a:r>
              <a:rPr lang="en-IN" sz="2000" spc="10" dirty="0">
                <a:solidFill>
                  <a:srgbClr val="6600FF"/>
                </a:solidFill>
              </a:rPr>
              <a:t>+</a:t>
            </a:r>
            <a:r>
              <a:rPr lang="en-IN" sz="2000" spc="15" dirty="0">
                <a:solidFill>
                  <a:srgbClr val="6600FF"/>
                </a:solidFill>
              </a:rPr>
              <a:t> </a:t>
            </a:r>
            <a:r>
              <a:rPr lang="en-IN" sz="2000" dirty="0">
                <a:solidFill>
                  <a:srgbClr val="6600FF"/>
                </a:solidFill>
              </a:rPr>
              <a:t>S</a:t>
            </a:r>
            <a:r>
              <a:rPr lang="en-IN" sz="2000" spc="-5" dirty="0">
                <a:solidFill>
                  <a:srgbClr val="6600FF"/>
                </a:solidFill>
              </a:rPr>
              <a:t>y</a:t>
            </a:r>
            <a:r>
              <a:rPr lang="en-IN" sz="2000" spc="15" dirty="0">
                <a:solidFill>
                  <a:srgbClr val="6600FF"/>
                </a:solidFill>
              </a:rPr>
              <a:t>m</a:t>
            </a:r>
            <a:r>
              <a:rPr lang="en-IN" sz="2000" spc="10" dirty="0">
                <a:solidFill>
                  <a:srgbClr val="6600FF"/>
                </a:solidFill>
              </a:rPr>
              <a:t>pt</a:t>
            </a:r>
            <a:r>
              <a:rPr lang="en-IN" sz="2000" spc="-5" dirty="0">
                <a:solidFill>
                  <a:srgbClr val="6600FF"/>
                </a:solidFill>
              </a:rPr>
              <a:t>o</a:t>
            </a:r>
            <a:r>
              <a:rPr lang="en-IN" sz="2000" spc="25" dirty="0">
                <a:solidFill>
                  <a:srgbClr val="6600FF"/>
                </a:solidFill>
              </a:rPr>
              <a:t>m</a:t>
            </a:r>
            <a:r>
              <a:rPr lang="en-IN" sz="2000" spc="-5" dirty="0">
                <a:solidFill>
                  <a:srgbClr val="6600FF"/>
                </a:solidFill>
              </a:rPr>
              <a:t>s</a:t>
            </a:r>
            <a:r>
              <a:rPr lang="en-IN" sz="2000" spc="5" dirty="0">
                <a:solidFill>
                  <a:srgbClr val="6600FF"/>
                </a:solidFill>
              </a:rPr>
              <a:t>)</a:t>
            </a:r>
            <a:r>
              <a:rPr lang="en-IN" sz="2000" spc="10" dirty="0">
                <a:solidFill>
                  <a:srgbClr val="6600FF"/>
                </a:solidFill>
              </a:rPr>
              <a:t> </a:t>
            </a:r>
            <a:endParaRPr lang="en-IN" sz="2000" spc="5" dirty="0">
              <a:solidFill>
                <a:srgbClr val="6600FF"/>
              </a:solidFill>
            </a:endParaRPr>
          </a:p>
          <a:p>
            <a:pPr marL="252095">
              <a:lnSpc>
                <a:spcPct val="100000"/>
              </a:lnSpc>
              <a:spcBef>
                <a:spcPts val="35"/>
              </a:spcBef>
              <a:tabLst>
                <a:tab pos="2387600" algn="r"/>
              </a:tabLst>
            </a:pPr>
            <a:r>
              <a:rPr lang="en-IN" sz="2000" spc="-85" dirty="0">
                <a:solidFill>
                  <a:srgbClr val="6600FF"/>
                </a:solidFill>
              </a:rPr>
              <a:t>P</a:t>
            </a:r>
            <a:r>
              <a:rPr lang="en-IN" sz="2000" spc="5" dirty="0">
                <a:solidFill>
                  <a:srgbClr val="6600FF"/>
                </a:solidFill>
              </a:rPr>
              <a:t>r</a:t>
            </a:r>
            <a:r>
              <a:rPr lang="en-IN" sz="2000" spc="10" dirty="0">
                <a:solidFill>
                  <a:srgbClr val="6600FF"/>
                </a:solidFill>
              </a:rPr>
              <a:t>oj</a:t>
            </a:r>
            <a:r>
              <a:rPr lang="en-IN" sz="2000" dirty="0">
                <a:solidFill>
                  <a:srgbClr val="6600FF"/>
                </a:solidFill>
              </a:rPr>
              <a:t>e</a:t>
            </a:r>
            <a:r>
              <a:rPr lang="en-IN" sz="2000" spc="15" dirty="0">
                <a:solidFill>
                  <a:srgbClr val="6600FF"/>
                </a:solidFill>
              </a:rPr>
              <a:t>c</a:t>
            </a:r>
            <a:r>
              <a:rPr lang="en-IN" sz="2000" spc="5" dirty="0">
                <a:solidFill>
                  <a:srgbClr val="6600FF"/>
                </a:solidFill>
              </a:rPr>
              <a:t>t</a:t>
            </a:r>
            <a:r>
              <a:rPr lang="en-IN" sz="2000" spc="-5" dirty="0">
                <a:solidFill>
                  <a:srgbClr val="6600FF"/>
                </a:solidFill>
              </a:rPr>
              <a:t> </a:t>
            </a:r>
            <a:r>
              <a:rPr lang="en-IN" sz="2000" spc="5" dirty="0">
                <a:solidFill>
                  <a:srgbClr val="6600FF"/>
                </a:solidFill>
              </a:rPr>
              <a:t>ID  </a:t>
            </a:r>
            <a:r>
              <a:rPr lang="en-IN" sz="2000" dirty="0">
                <a:solidFill>
                  <a:srgbClr val="6600FF"/>
                </a:solidFill>
              </a:rPr>
              <a:t>	:1</a:t>
            </a:r>
            <a:r>
              <a:rPr lang="en-IN" sz="2000" spc="20" dirty="0">
                <a:solidFill>
                  <a:srgbClr val="6600FF"/>
                </a:solidFill>
              </a:rPr>
              <a:t>9</a:t>
            </a:r>
            <a:r>
              <a:rPr lang="en-IN" sz="2000" spc="10" dirty="0">
                <a:solidFill>
                  <a:srgbClr val="6600FF"/>
                </a:solidFill>
              </a:rPr>
              <a:t>3</a:t>
            </a:r>
          </a:p>
          <a:p>
            <a:pPr marL="252095">
              <a:lnSpc>
                <a:spcPct val="100000"/>
              </a:lnSpc>
              <a:spcBef>
                <a:spcPts val="35"/>
              </a:spcBef>
            </a:pPr>
            <a:r>
              <a:rPr lang="en-IN" sz="2000" spc="-85" dirty="0">
                <a:solidFill>
                  <a:srgbClr val="6600FF"/>
                </a:solidFill>
              </a:rPr>
              <a:t>P</a:t>
            </a:r>
            <a:r>
              <a:rPr lang="en-IN" sz="2000" spc="5" dirty="0">
                <a:solidFill>
                  <a:srgbClr val="6600FF"/>
                </a:solidFill>
              </a:rPr>
              <a:t>r</a:t>
            </a:r>
            <a:r>
              <a:rPr lang="en-IN" sz="2000" spc="10" dirty="0">
                <a:solidFill>
                  <a:srgbClr val="6600FF"/>
                </a:solidFill>
              </a:rPr>
              <a:t>oj</a:t>
            </a:r>
            <a:r>
              <a:rPr lang="en-IN" sz="2000" dirty="0">
                <a:solidFill>
                  <a:srgbClr val="6600FF"/>
                </a:solidFill>
              </a:rPr>
              <a:t>e</a:t>
            </a:r>
            <a:r>
              <a:rPr lang="en-IN" sz="2000" spc="15" dirty="0">
                <a:solidFill>
                  <a:srgbClr val="6600FF"/>
                </a:solidFill>
              </a:rPr>
              <a:t>c</a:t>
            </a:r>
            <a:r>
              <a:rPr lang="en-IN" sz="2000" spc="5" dirty="0">
                <a:solidFill>
                  <a:srgbClr val="6600FF"/>
                </a:solidFill>
              </a:rPr>
              <a:t>t</a:t>
            </a:r>
            <a:r>
              <a:rPr lang="en-IN" sz="2000" spc="-5" dirty="0">
                <a:solidFill>
                  <a:srgbClr val="6600FF"/>
                </a:solidFill>
              </a:rPr>
              <a:t> </a:t>
            </a:r>
            <a:r>
              <a:rPr lang="en-IN" sz="2000" spc="15" dirty="0">
                <a:solidFill>
                  <a:srgbClr val="6600FF"/>
                </a:solidFill>
              </a:rPr>
              <a:t>G</a:t>
            </a:r>
            <a:r>
              <a:rPr lang="en-IN" sz="2000" spc="-5" dirty="0">
                <a:solidFill>
                  <a:srgbClr val="6600FF"/>
                </a:solidFill>
              </a:rPr>
              <a:t>u</a:t>
            </a:r>
            <a:r>
              <a:rPr lang="en-IN" sz="2000" spc="10" dirty="0">
                <a:solidFill>
                  <a:srgbClr val="6600FF"/>
                </a:solidFill>
              </a:rPr>
              <a:t>ide</a:t>
            </a:r>
            <a:r>
              <a:rPr lang="en-IN" sz="2000" spc="15" dirty="0">
                <a:solidFill>
                  <a:srgbClr val="6600FF"/>
                </a:solidFill>
              </a:rPr>
              <a:t> </a:t>
            </a:r>
            <a:r>
              <a:rPr lang="en-IN" sz="2000" spc="5" dirty="0">
                <a:solidFill>
                  <a:srgbClr val="6600FF"/>
                </a:solidFill>
              </a:rPr>
              <a:t>:</a:t>
            </a:r>
            <a:r>
              <a:rPr lang="en-IN" sz="2000" spc="10" dirty="0">
                <a:solidFill>
                  <a:srgbClr val="6600FF"/>
                </a:solidFill>
              </a:rPr>
              <a:t> </a:t>
            </a:r>
            <a:r>
              <a:rPr lang="en-IN" sz="2000" spc="-85" dirty="0">
                <a:solidFill>
                  <a:srgbClr val="6600FF"/>
                </a:solidFill>
              </a:rPr>
              <a:t>P</a:t>
            </a:r>
            <a:r>
              <a:rPr lang="en-IN" sz="2000" spc="-15" dirty="0">
                <a:solidFill>
                  <a:srgbClr val="6600FF"/>
                </a:solidFill>
              </a:rPr>
              <a:t>r</a:t>
            </a:r>
            <a:r>
              <a:rPr lang="en-IN" sz="2000" spc="15" dirty="0">
                <a:solidFill>
                  <a:srgbClr val="6600FF"/>
                </a:solidFill>
              </a:rPr>
              <a:t>o</a:t>
            </a:r>
            <a:r>
              <a:rPr lang="en-IN" sz="2000" spc="5" dirty="0">
                <a:solidFill>
                  <a:srgbClr val="6600FF"/>
                </a:solidFill>
              </a:rPr>
              <a:t>f</a:t>
            </a:r>
            <a:r>
              <a:rPr lang="en-IN" sz="2000" spc="10" dirty="0">
                <a:solidFill>
                  <a:srgbClr val="6600FF"/>
                </a:solidFill>
              </a:rPr>
              <a:t>. Umme</a:t>
            </a:r>
            <a:r>
              <a:rPr lang="en-IN" sz="2000" spc="15" dirty="0">
                <a:solidFill>
                  <a:srgbClr val="6600FF"/>
                </a:solidFill>
              </a:rPr>
              <a:t> H</a:t>
            </a:r>
            <a:r>
              <a:rPr lang="en-IN" sz="2000" dirty="0">
                <a:solidFill>
                  <a:srgbClr val="6600FF"/>
                </a:solidFill>
              </a:rPr>
              <a:t>a</a:t>
            </a:r>
            <a:r>
              <a:rPr lang="en-IN" sz="2000" spc="20" dirty="0">
                <a:solidFill>
                  <a:srgbClr val="6600FF"/>
                </a:solidFill>
              </a:rPr>
              <a:t>a</a:t>
            </a:r>
            <a:r>
              <a:rPr lang="en-IN" sz="2000" spc="15" dirty="0">
                <a:solidFill>
                  <a:srgbClr val="6600FF"/>
                </a:solidFill>
              </a:rPr>
              <a:t>n</a:t>
            </a:r>
            <a:r>
              <a:rPr lang="en-IN" sz="2000" spc="5" dirty="0">
                <a:solidFill>
                  <a:srgbClr val="6600FF"/>
                </a:solidFill>
              </a:rPr>
              <a:t>i</a:t>
            </a:r>
          </a:p>
          <a:p>
            <a:pPr marL="252095">
              <a:lnSpc>
                <a:spcPct val="100000"/>
              </a:lnSpc>
              <a:spcBef>
                <a:spcPts val="35"/>
              </a:spcBef>
              <a:tabLst>
                <a:tab pos="1880870" algn="l"/>
                <a:tab pos="3825240" algn="l"/>
              </a:tabLst>
            </a:pPr>
            <a:r>
              <a:rPr lang="en-IN" sz="2000" spc="-85" dirty="0">
                <a:solidFill>
                  <a:srgbClr val="6600FF"/>
                </a:solidFill>
              </a:rPr>
              <a:t>P</a:t>
            </a:r>
            <a:r>
              <a:rPr lang="en-IN" sz="2000" spc="5" dirty="0">
                <a:solidFill>
                  <a:srgbClr val="6600FF"/>
                </a:solidFill>
              </a:rPr>
              <a:t>r</a:t>
            </a:r>
            <a:r>
              <a:rPr lang="en-IN" sz="2000" spc="10" dirty="0">
                <a:solidFill>
                  <a:srgbClr val="6600FF"/>
                </a:solidFill>
              </a:rPr>
              <a:t>oj</a:t>
            </a:r>
            <a:r>
              <a:rPr lang="en-IN" sz="2000" dirty="0">
                <a:solidFill>
                  <a:srgbClr val="6600FF"/>
                </a:solidFill>
              </a:rPr>
              <a:t>e</a:t>
            </a:r>
            <a:r>
              <a:rPr lang="en-IN" sz="2000" spc="15" dirty="0">
                <a:solidFill>
                  <a:srgbClr val="6600FF"/>
                </a:solidFill>
              </a:rPr>
              <a:t>c</a:t>
            </a:r>
            <a:r>
              <a:rPr lang="en-IN" sz="2000" spc="5" dirty="0">
                <a:solidFill>
                  <a:srgbClr val="6600FF"/>
                </a:solidFill>
              </a:rPr>
              <a:t>t</a:t>
            </a:r>
            <a:r>
              <a:rPr lang="en-IN" sz="2000" spc="-45" dirty="0">
                <a:solidFill>
                  <a:srgbClr val="6600FF"/>
                </a:solidFill>
              </a:rPr>
              <a:t> </a:t>
            </a:r>
            <a:r>
              <a:rPr lang="en-IN" sz="2000" spc="-229" dirty="0">
                <a:solidFill>
                  <a:srgbClr val="6600FF"/>
                </a:solidFill>
              </a:rPr>
              <a:t>T</a:t>
            </a:r>
            <a:r>
              <a:rPr lang="en-IN" sz="2000" dirty="0">
                <a:solidFill>
                  <a:srgbClr val="6600FF"/>
                </a:solidFill>
              </a:rPr>
              <a:t>e</a:t>
            </a:r>
            <a:r>
              <a:rPr lang="en-IN" sz="2000" spc="20" dirty="0">
                <a:solidFill>
                  <a:srgbClr val="6600FF"/>
                </a:solidFill>
              </a:rPr>
              <a:t>a</a:t>
            </a:r>
            <a:r>
              <a:rPr lang="en-IN" sz="2000" spc="15" dirty="0">
                <a:solidFill>
                  <a:srgbClr val="6600FF"/>
                </a:solidFill>
              </a:rPr>
              <a:t>m</a:t>
            </a:r>
            <a:r>
              <a:rPr lang="en-IN" sz="2000" dirty="0">
                <a:solidFill>
                  <a:srgbClr val="6600FF"/>
                </a:solidFill>
              </a:rPr>
              <a:t>	</a:t>
            </a:r>
            <a:r>
              <a:rPr lang="en-IN" sz="2000" spc="5" dirty="0">
                <a:solidFill>
                  <a:srgbClr val="6600FF"/>
                </a:solidFill>
              </a:rPr>
              <a:t>:</a:t>
            </a:r>
            <a:r>
              <a:rPr lang="en-IN" sz="2000" spc="-90" dirty="0">
                <a:solidFill>
                  <a:srgbClr val="6600FF"/>
                </a:solidFill>
              </a:rPr>
              <a:t> </a:t>
            </a:r>
            <a:r>
              <a:rPr lang="en-IN" sz="2000" spc="10" dirty="0">
                <a:solidFill>
                  <a:srgbClr val="6600FF"/>
                </a:solidFill>
              </a:rPr>
              <a:t>A</a:t>
            </a:r>
            <a:r>
              <a:rPr lang="en-IN" sz="2000" spc="-5" dirty="0">
                <a:solidFill>
                  <a:srgbClr val="6600FF"/>
                </a:solidFill>
              </a:rPr>
              <a:t>i</a:t>
            </a:r>
            <a:r>
              <a:rPr lang="en-IN" sz="2000" spc="10" dirty="0">
                <a:solidFill>
                  <a:srgbClr val="6600FF"/>
                </a:solidFill>
              </a:rPr>
              <a:t>s</a:t>
            </a:r>
            <a:r>
              <a:rPr lang="en-IN" sz="2000" spc="-5" dirty="0">
                <a:solidFill>
                  <a:srgbClr val="6600FF"/>
                </a:solidFill>
              </a:rPr>
              <a:t>h</a:t>
            </a:r>
            <a:r>
              <a:rPr lang="en-IN" sz="2000" spc="20" dirty="0">
                <a:solidFill>
                  <a:srgbClr val="6600FF"/>
                </a:solidFill>
              </a:rPr>
              <a:t>w</a:t>
            </a:r>
            <a:r>
              <a:rPr lang="en-IN" sz="2000" dirty="0">
                <a:solidFill>
                  <a:srgbClr val="6600FF"/>
                </a:solidFill>
              </a:rPr>
              <a:t>a</a:t>
            </a:r>
            <a:r>
              <a:rPr lang="en-IN" sz="2000" spc="5" dirty="0">
                <a:solidFill>
                  <a:srgbClr val="6600FF"/>
                </a:solidFill>
              </a:rPr>
              <a:t>r</a:t>
            </a:r>
            <a:r>
              <a:rPr lang="en-IN" sz="2000" spc="-5" dirty="0">
                <a:solidFill>
                  <a:srgbClr val="6600FF"/>
                </a:solidFill>
              </a:rPr>
              <a:t>y</a:t>
            </a:r>
            <a:r>
              <a:rPr lang="en-IN" sz="2000" spc="10" dirty="0">
                <a:solidFill>
                  <a:srgbClr val="6600FF"/>
                </a:solidFill>
              </a:rPr>
              <a:t>a</a:t>
            </a:r>
            <a:r>
              <a:rPr lang="en-IN" sz="2000" spc="35" dirty="0">
                <a:solidFill>
                  <a:srgbClr val="6600FF"/>
                </a:solidFill>
              </a:rPr>
              <a:t> </a:t>
            </a:r>
            <a:r>
              <a:rPr lang="en-IN" sz="2000" spc="5" dirty="0">
                <a:solidFill>
                  <a:srgbClr val="6600FF"/>
                </a:solidFill>
              </a:rPr>
              <a:t>R</a:t>
            </a:r>
            <a:r>
              <a:rPr lang="en-IN" sz="2000" dirty="0">
                <a:solidFill>
                  <a:srgbClr val="6600FF"/>
                </a:solidFill>
              </a:rPr>
              <a:t>a</a:t>
            </a:r>
            <a:r>
              <a:rPr lang="en-IN" sz="2000" spc="20" dirty="0">
                <a:solidFill>
                  <a:srgbClr val="6600FF"/>
                </a:solidFill>
              </a:rPr>
              <a:t>v</a:t>
            </a:r>
            <a:r>
              <a:rPr lang="en-IN" sz="2000" spc="5" dirty="0">
                <a:solidFill>
                  <a:srgbClr val="6600FF"/>
                </a:solidFill>
              </a:rPr>
              <a:t>i</a:t>
            </a:r>
            <a:r>
              <a:rPr lang="en-IN" sz="2000" dirty="0">
                <a:solidFill>
                  <a:srgbClr val="6600FF"/>
                </a:solidFill>
              </a:rPr>
              <a:t>	</a:t>
            </a:r>
            <a:r>
              <a:rPr lang="en-IN" sz="2000" spc="5" dirty="0">
                <a:solidFill>
                  <a:srgbClr val="6600FF"/>
                </a:solidFill>
              </a:rPr>
              <a:t>–</a:t>
            </a:r>
            <a:r>
              <a:rPr lang="en-IN" sz="2000" spc="10" dirty="0">
                <a:solidFill>
                  <a:srgbClr val="6600FF"/>
                </a:solidFill>
              </a:rPr>
              <a:t> P</a:t>
            </a:r>
            <a:r>
              <a:rPr lang="en-IN" sz="2000" spc="-5" dirty="0">
                <a:solidFill>
                  <a:srgbClr val="6600FF"/>
                </a:solidFill>
              </a:rPr>
              <a:t>E</a:t>
            </a:r>
            <a:r>
              <a:rPr lang="en-IN" sz="2000" dirty="0">
                <a:solidFill>
                  <a:srgbClr val="6600FF"/>
                </a:solidFill>
              </a:rPr>
              <a:t>S</a:t>
            </a:r>
            <a:r>
              <a:rPr lang="en-IN" sz="2000" spc="20" dirty="0">
                <a:solidFill>
                  <a:srgbClr val="6600FF"/>
                </a:solidFill>
              </a:rPr>
              <a:t>2</a:t>
            </a:r>
            <a:r>
              <a:rPr lang="en-IN" sz="2000" spc="-10" dirty="0">
                <a:solidFill>
                  <a:srgbClr val="6600FF"/>
                </a:solidFill>
              </a:rPr>
              <a:t>U</a:t>
            </a:r>
            <a:r>
              <a:rPr lang="en-IN" sz="2000" spc="15" dirty="0">
                <a:solidFill>
                  <a:srgbClr val="6600FF"/>
                </a:solidFill>
              </a:rPr>
              <a:t>G</a:t>
            </a:r>
            <a:r>
              <a:rPr lang="en-IN" sz="2000" spc="20" dirty="0">
                <a:solidFill>
                  <a:srgbClr val="6600FF"/>
                </a:solidFill>
              </a:rPr>
              <a:t>23</a:t>
            </a:r>
            <a:r>
              <a:rPr lang="en-IN" sz="2000" spc="10" dirty="0">
                <a:solidFill>
                  <a:srgbClr val="6600FF"/>
                </a:solidFill>
              </a:rPr>
              <a:t>A</a:t>
            </a:r>
            <a:r>
              <a:rPr lang="en-IN" sz="2000" spc="-10" dirty="0">
                <a:solidFill>
                  <a:srgbClr val="6600FF"/>
                </a:solidFill>
              </a:rPr>
              <a:t>M</a:t>
            </a:r>
            <a:r>
              <a:rPr lang="en-IN" sz="2000" spc="20" dirty="0">
                <a:solidFill>
                  <a:srgbClr val="6600FF"/>
                </a:solidFill>
              </a:rPr>
              <a:t>00</a:t>
            </a:r>
            <a:r>
              <a:rPr lang="en-IN" sz="2000" spc="10" dirty="0">
                <a:solidFill>
                  <a:srgbClr val="6600FF"/>
                </a:solidFill>
              </a:rPr>
              <a:t>8</a:t>
            </a:r>
          </a:p>
          <a:p>
            <a:pPr marL="1998345">
              <a:lnSpc>
                <a:spcPct val="100000"/>
              </a:lnSpc>
              <a:spcBef>
                <a:spcPts val="35"/>
              </a:spcBef>
            </a:pPr>
            <a:r>
              <a:rPr lang="en-IN" sz="2000" dirty="0">
                <a:solidFill>
                  <a:srgbClr val="6600FF"/>
                </a:solidFill>
              </a:rPr>
              <a:t>D</a:t>
            </a:r>
            <a:r>
              <a:rPr lang="en-IN" sz="2000" spc="15" dirty="0">
                <a:solidFill>
                  <a:srgbClr val="6600FF"/>
                </a:solidFill>
              </a:rPr>
              <a:t>e</a:t>
            </a:r>
            <a:r>
              <a:rPr lang="en-IN" sz="2000" dirty="0">
                <a:solidFill>
                  <a:srgbClr val="6600FF"/>
                </a:solidFill>
              </a:rPr>
              <a:t>e</a:t>
            </a:r>
            <a:r>
              <a:rPr lang="en-IN" sz="2000" spc="10" dirty="0">
                <a:solidFill>
                  <a:srgbClr val="6600FF"/>
                </a:solidFill>
              </a:rPr>
              <a:t>pi</a:t>
            </a:r>
            <a:r>
              <a:rPr lang="en-IN" sz="2000" spc="-5" dirty="0">
                <a:solidFill>
                  <a:srgbClr val="6600FF"/>
                </a:solidFill>
              </a:rPr>
              <a:t>k</a:t>
            </a:r>
            <a:r>
              <a:rPr lang="en-IN" sz="2000" spc="10" dirty="0">
                <a:solidFill>
                  <a:srgbClr val="6600FF"/>
                </a:solidFill>
              </a:rPr>
              <a:t>a</a:t>
            </a:r>
            <a:r>
              <a:rPr lang="en-IN" sz="2000" spc="35" dirty="0">
                <a:solidFill>
                  <a:srgbClr val="6600FF"/>
                </a:solidFill>
              </a:rPr>
              <a:t> </a:t>
            </a:r>
            <a:r>
              <a:rPr lang="en-IN" sz="2000" spc="10" dirty="0">
                <a:solidFill>
                  <a:srgbClr val="6600FF"/>
                </a:solidFill>
              </a:rPr>
              <a:t>N </a:t>
            </a:r>
            <a:r>
              <a:rPr lang="en-IN" sz="2000" spc="5" dirty="0">
                <a:solidFill>
                  <a:srgbClr val="6600FF"/>
                </a:solidFill>
              </a:rPr>
              <a:t>–</a:t>
            </a:r>
            <a:r>
              <a:rPr lang="en-IN" sz="2000" spc="10" dirty="0">
                <a:solidFill>
                  <a:srgbClr val="6600FF"/>
                </a:solidFill>
              </a:rPr>
              <a:t> P</a:t>
            </a:r>
            <a:r>
              <a:rPr lang="en-IN" sz="2000" spc="-5" dirty="0">
                <a:solidFill>
                  <a:srgbClr val="6600FF"/>
                </a:solidFill>
              </a:rPr>
              <a:t>E</a:t>
            </a:r>
            <a:r>
              <a:rPr lang="en-IN" sz="2000" dirty="0">
                <a:solidFill>
                  <a:srgbClr val="6600FF"/>
                </a:solidFill>
              </a:rPr>
              <a:t>S</a:t>
            </a:r>
            <a:r>
              <a:rPr lang="en-IN" sz="2000" spc="20" dirty="0">
                <a:solidFill>
                  <a:srgbClr val="6600FF"/>
                </a:solidFill>
              </a:rPr>
              <a:t>2</a:t>
            </a:r>
            <a:r>
              <a:rPr lang="en-IN" sz="2000" spc="10" dirty="0">
                <a:solidFill>
                  <a:srgbClr val="6600FF"/>
                </a:solidFill>
              </a:rPr>
              <a:t>U</a:t>
            </a:r>
            <a:r>
              <a:rPr lang="en-IN" sz="2000" spc="15" dirty="0">
                <a:solidFill>
                  <a:srgbClr val="6600FF"/>
                </a:solidFill>
              </a:rPr>
              <a:t>G</a:t>
            </a:r>
            <a:r>
              <a:rPr lang="en-IN" sz="2000" dirty="0">
                <a:solidFill>
                  <a:srgbClr val="6600FF"/>
                </a:solidFill>
              </a:rPr>
              <a:t>2</a:t>
            </a:r>
            <a:r>
              <a:rPr lang="en-IN" sz="2000" spc="20" dirty="0">
                <a:solidFill>
                  <a:srgbClr val="6600FF"/>
                </a:solidFill>
              </a:rPr>
              <a:t>3</a:t>
            </a:r>
            <a:r>
              <a:rPr lang="en-IN" sz="2000" spc="10" dirty="0">
                <a:solidFill>
                  <a:srgbClr val="6600FF"/>
                </a:solidFill>
              </a:rPr>
              <a:t>AM</a:t>
            </a:r>
            <a:r>
              <a:rPr lang="en-IN" sz="2000" spc="20" dirty="0">
                <a:solidFill>
                  <a:srgbClr val="6600FF"/>
                </a:solidFill>
              </a:rPr>
              <a:t>0</a:t>
            </a:r>
            <a:r>
              <a:rPr lang="en-IN" sz="2000" dirty="0">
                <a:solidFill>
                  <a:srgbClr val="6600FF"/>
                </a:solidFill>
              </a:rPr>
              <a:t>2</a:t>
            </a:r>
            <a:r>
              <a:rPr lang="en-IN" sz="2000" spc="10" dirty="0">
                <a:solidFill>
                  <a:srgbClr val="6600FF"/>
                </a:solidFill>
              </a:rPr>
              <a:t>8</a:t>
            </a:r>
          </a:p>
          <a:p>
            <a:pPr marL="1998345" marR="1005840">
              <a:lnSpc>
                <a:spcPct val="101600"/>
              </a:lnSpc>
            </a:pPr>
            <a:r>
              <a:rPr lang="en-IN" sz="2000" spc="5" dirty="0">
                <a:solidFill>
                  <a:srgbClr val="6600FF"/>
                </a:solidFill>
              </a:rPr>
              <a:t>R</a:t>
            </a:r>
            <a:r>
              <a:rPr lang="en-IN" sz="2000" spc="20" dirty="0">
                <a:solidFill>
                  <a:srgbClr val="6600FF"/>
                </a:solidFill>
              </a:rPr>
              <a:t>a</a:t>
            </a:r>
            <a:r>
              <a:rPr lang="en-IN" sz="2000" spc="-5" dirty="0">
                <a:solidFill>
                  <a:srgbClr val="6600FF"/>
                </a:solidFill>
              </a:rPr>
              <a:t>h</a:t>
            </a:r>
            <a:r>
              <a:rPr lang="en-IN" sz="2000" spc="15" dirty="0">
                <a:solidFill>
                  <a:srgbClr val="6600FF"/>
                </a:solidFill>
              </a:rPr>
              <a:t>u</a:t>
            </a:r>
            <a:r>
              <a:rPr lang="en-IN" sz="2000" spc="5" dirty="0">
                <a:solidFill>
                  <a:srgbClr val="6600FF"/>
                </a:solidFill>
              </a:rPr>
              <a:t>l</a:t>
            </a:r>
            <a:r>
              <a:rPr lang="en-IN" sz="2000" spc="35" dirty="0">
                <a:solidFill>
                  <a:srgbClr val="6600FF"/>
                </a:solidFill>
              </a:rPr>
              <a:t> </a:t>
            </a:r>
            <a:r>
              <a:rPr lang="en-IN" sz="2000" spc="-15" dirty="0">
                <a:solidFill>
                  <a:srgbClr val="6600FF"/>
                </a:solidFill>
              </a:rPr>
              <a:t>R</a:t>
            </a:r>
            <a:r>
              <a:rPr lang="en-IN" sz="2000" spc="20" dirty="0">
                <a:solidFill>
                  <a:srgbClr val="6600FF"/>
                </a:solidFill>
              </a:rPr>
              <a:t>a</a:t>
            </a:r>
            <a:r>
              <a:rPr lang="en-IN" sz="2000" spc="10" dirty="0">
                <a:solidFill>
                  <a:srgbClr val="6600FF"/>
                </a:solidFill>
              </a:rPr>
              <a:t>t</a:t>
            </a:r>
            <a:r>
              <a:rPr lang="en-IN" sz="2000" spc="-5" dirty="0">
                <a:solidFill>
                  <a:srgbClr val="6600FF"/>
                </a:solidFill>
              </a:rPr>
              <a:t>h</a:t>
            </a:r>
            <a:r>
              <a:rPr lang="en-IN" sz="2000" spc="15" dirty="0">
                <a:solidFill>
                  <a:srgbClr val="6600FF"/>
                </a:solidFill>
              </a:rPr>
              <a:t>o</a:t>
            </a:r>
            <a:r>
              <a:rPr lang="en-IN" sz="2000" spc="10" dirty="0">
                <a:solidFill>
                  <a:srgbClr val="6600FF"/>
                </a:solidFill>
              </a:rPr>
              <a:t>d </a:t>
            </a:r>
            <a:r>
              <a:rPr lang="en-IN" sz="2000" spc="5" dirty="0">
                <a:solidFill>
                  <a:srgbClr val="6600FF"/>
                </a:solidFill>
              </a:rPr>
              <a:t>–</a:t>
            </a:r>
            <a:r>
              <a:rPr lang="en-IN" sz="2000" spc="10" dirty="0">
                <a:solidFill>
                  <a:srgbClr val="6600FF"/>
                </a:solidFill>
              </a:rPr>
              <a:t> P</a:t>
            </a:r>
            <a:r>
              <a:rPr lang="en-IN" sz="2000" spc="-5" dirty="0">
                <a:solidFill>
                  <a:srgbClr val="6600FF"/>
                </a:solidFill>
              </a:rPr>
              <a:t>E</a:t>
            </a:r>
            <a:r>
              <a:rPr lang="en-IN" sz="2000" dirty="0">
                <a:solidFill>
                  <a:srgbClr val="6600FF"/>
                </a:solidFill>
              </a:rPr>
              <a:t>S</a:t>
            </a:r>
            <a:r>
              <a:rPr lang="en-IN" sz="2000" spc="20" dirty="0">
                <a:solidFill>
                  <a:srgbClr val="6600FF"/>
                </a:solidFill>
              </a:rPr>
              <a:t>2</a:t>
            </a:r>
            <a:r>
              <a:rPr lang="en-IN" sz="2000" spc="10" dirty="0">
                <a:solidFill>
                  <a:srgbClr val="6600FF"/>
                </a:solidFill>
              </a:rPr>
              <a:t>U</a:t>
            </a:r>
            <a:r>
              <a:rPr lang="en-IN" sz="2000" spc="15" dirty="0">
                <a:solidFill>
                  <a:srgbClr val="6600FF"/>
                </a:solidFill>
              </a:rPr>
              <a:t>G</a:t>
            </a:r>
            <a:r>
              <a:rPr lang="en-IN" sz="2000" dirty="0">
                <a:solidFill>
                  <a:srgbClr val="6600FF"/>
                </a:solidFill>
              </a:rPr>
              <a:t>2</a:t>
            </a:r>
            <a:r>
              <a:rPr lang="en-IN" sz="2000" spc="20" dirty="0">
                <a:solidFill>
                  <a:srgbClr val="6600FF"/>
                </a:solidFill>
              </a:rPr>
              <a:t>3</a:t>
            </a:r>
            <a:r>
              <a:rPr lang="en-IN" sz="2000" spc="10" dirty="0">
                <a:solidFill>
                  <a:srgbClr val="6600FF"/>
                </a:solidFill>
              </a:rPr>
              <a:t>C</a:t>
            </a:r>
            <a:r>
              <a:rPr lang="en-IN" sz="2000" dirty="0">
                <a:solidFill>
                  <a:srgbClr val="6600FF"/>
                </a:solidFill>
              </a:rPr>
              <a:t>S</a:t>
            </a:r>
            <a:r>
              <a:rPr lang="en-IN" sz="2000" spc="20" dirty="0">
                <a:solidFill>
                  <a:srgbClr val="6600FF"/>
                </a:solidFill>
              </a:rPr>
              <a:t>46</a:t>
            </a:r>
            <a:r>
              <a:rPr lang="en-IN" sz="2000" spc="10" dirty="0">
                <a:solidFill>
                  <a:srgbClr val="6600FF"/>
                </a:solidFill>
              </a:rPr>
              <a:t>2</a:t>
            </a:r>
          </a:p>
          <a:p>
            <a:pPr marL="1998345" marR="1005840">
              <a:lnSpc>
                <a:spcPct val="101600"/>
              </a:lnSpc>
            </a:pPr>
            <a:r>
              <a:rPr lang="en-IN" sz="2000" spc="-75" dirty="0">
                <a:solidFill>
                  <a:srgbClr val="6600FF"/>
                </a:solidFill>
              </a:rPr>
              <a:t>R</a:t>
            </a:r>
            <a:r>
              <a:rPr lang="en-IN" sz="2000" dirty="0">
                <a:solidFill>
                  <a:srgbClr val="6600FF"/>
                </a:solidFill>
              </a:rPr>
              <a:t>e</a:t>
            </a:r>
            <a:r>
              <a:rPr lang="en-IN" sz="2000" spc="15" dirty="0">
                <a:solidFill>
                  <a:srgbClr val="6600FF"/>
                </a:solidFill>
              </a:rPr>
              <a:t>nu</a:t>
            </a:r>
            <a:r>
              <a:rPr lang="en-IN" sz="2000" spc="-5" dirty="0">
                <a:solidFill>
                  <a:srgbClr val="6600FF"/>
                </a:solidFill>
              </a:rPr>
              <a:t>k</a:t>
            </a:r>
            <a:r>
              <a:rPr lang="en-IN" sz="2000" spc="10" dirty="0">
                <a:solidFill>
                  <a:srgbClr val="6600FF"/>
                </a:solidFill>
              </a:rPr>
              <a:t>a</a:t>
            </a:r>
            <a:r>
              <a:rPr lang="en-IN" sz="2000" spc="35" dirty="0">
                <a:solidFill>
                  <a:srgbClr val="6600FF"/>
                </a:solidFill>
              </a:rPr>
              <a:t> </a:t>
            </a:r>
            <a:r>
              <a:rPr lang="en-IN" sz="2000" spc="15" dirty="0">
                <a:solidFill>
                  <a:srgbClr val="6600FF"/>
                </a:solidFill>
              </a:rPr>
              <a:t>G</a:t>
            </a:r>
            <a:r>
              <a:rPr lang="en-IN" sz="2000" spc="20" dirty="0">
                <a:solidFill>
                  <a:srgbClr val="6600FF"/>
                </a:solidFill>
              </a:rPr>
              <a:t>a</a:t>
            </a:r>
            <a:r>
              <a:rPr lang="en-IN" sz="2000" spc="-5" dirty="0">
                <a:solidFill>
                  <a:srgbClr val="6600FF"/>
                </a:solidFill>
              </a:rPr>
              <a:t>n</a:t>
            </a:r>
            <a:r>
              <a:rPr lang="en-IN" sz="2000" spc="20" dirty="0">
                <a:solidFill>
                  <a:srgbClr val="6600FF"/>
                </a:solidFill>
              </a:rPr>
              <a:t>g</a:t>
            </a:r>
            <a:r>
              <a:rPr lang="en-IN" sz="2000" dirty="0">
                <a:solidFill>
                  <a:srgbClr val="6600FF"/>
                </a:solidFill>
              </a:rPr>
              <a:t>a</a:t>
            </a:r>
            <a:r>
              <a:rPr lang="en-IN" sz="2000" spc="15" dirty="0">
                <a:solidFill>
                  <a:srgbClr val="6600FF"/>
                </a:solidFill>
              </a:rPr>
              <a:t>dh</a:t>
            </a:r>
            <a:r>
              <a:rPr lang="en-IN" sz="2000" dirty="0">
                <a:solidFill>
                  <a:srgbClr val="6600FF"/>
                </a:solidFill>
              </a:rPr>
              <a:t>a</a:t>
            </a:r>
            <a:r>
              <a:rPr lang="en-IN" sz="2000" spc="5" dirty="0">
                <a:solidFill>
                  <a:srgbClr val="6600FF"/>
                </a:solidFill>
              </a:rPr>
              <a:t>r Hosamani  -</a:t>
            </a:r>
            <a:r>
              <a:rPr lang="en-IN" sz="2000" spc="10" dirty="0">
                <a:solidFill>
                  <a:srgbClr val="6600FF"/>
                </a:solidFill>
              </a:rPr>
              <a:t> P</a:t>
            </a:r>
            <a:r>
              <a:rPr lang="en-IN" sz="2000" spc="-5" dirty="0">
                <a:solidFill>
                  <a:srgbClr val="6600FF"/>
                </a:solidFill>
              </a:rPr>
              <a:t>E</a:t>
            </a:r>
            <a:r>
              <a:rPr lang="en-IN" sz="2000" dirty="0">
                <a:solidFill>
                  <a:srgbClr val="6600FF"/>
                </a:solidFill>
              </a:rPr>
              <a:t>S</a:t>
            </a:r>
            <a:r>
              <a:rPr lang="en-IN" sz="2000" spc="20" dirty="0">
                <a:solidFill>
                  <a:srgbClr val="6600FF"/>
                </a:solidFill>
              </a:rPr>
              <a:t>2</a:t>
            </a:r>
            <a:r>
              <a:rPr lang="en-IN" sz="2000" spc="10" dirty="0">
                <a:solidFill>
                  <a:srgbClr val="6600FF"/>
                </a:solidFill>
              </a:rPr>
              <a:t>U</a:t>
            </a:r>
            <a:r>
              <a:rPr lang="en-IN" sz="2000" spc="-5" dirty="0">
                <a:solidFill>
                  <a:srgbClr val="6600FF"/>
                </a:solidFill>
              </a:rPr>
              <a:t>G</a:t>
            </a:r>
            <a:r>
              <a:rPr lang="en-IN" sz="2000" spc="20" dirty="0">
                <a:solidFill>
                  <a:srgbClr val="6600FF"/>
                </a:solidFill>
              </a:rPr>
              <a:t>23</a:t>
            </a:r>
            <a:r>
              <a:rPr lang="en-IN" sz="2000" spc="10" dirty="0">
                <a:solidFill>
                  <a:srgbClr val="6600FF"/>
                </a:solidFill>
              </a:rPr>
              <a:t>C</a:t>
            </a:r>
            <a:r>
              <a:rPr lang="en-IN" sz="2000" dirty="0">
                <a:solidFill>
                  <a:srgbClr val="6600FF"/>
                </a:solidFill>
              </a:rPr>
              <a:t>S</a:t>
            </a:r>
            <a:r>
              <a:rPr lang="en-IN" sz="2000" spc="20" dirty="0">
                <a:solidFill>
                  <a:srgbClr val="6600FF"/>
                </a:solidFill>
              </a:rPr>
              <a:t>4</a:t>
            </a:r>
            <a:r>
              <a:rPr lang="en-IN" sz="2000" dirty="0">
                <a:solidFill>
                  <a:srgbClr val="6600FF"/>
                </a:solidFill>
              </a:rPr>
              <a:t>7</a:t>
            </a:r>
            <a:r>
              <a:rPr lang="en-IN" sz="2000" spc="10" dirty="0">
                <a:solidFill>
                  <a:srgbClr val="6600FF"/>
                </a:solidFill>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057400" y="1676400"/>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Problem Statement</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Abstract and Scope</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Suggestions from Phase-1</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Requirements Specification</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Data set and requirements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Design Approach </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Design Constraints, Assumptions &amp; Dependencies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Proposed System / Approach</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Architecture</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Design Description</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Project Progress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References</a:t>
            </a:r>
            <a:endParaRPr lang="en-US" sz="20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197918" y="1844824"/>
            <a:ext cx="9796164" cy="4162419"/>
          </a:xfrm>
          <a:prstGeom prst="rect">
            <a:avLst/>
          </a:prstGeom>
        </p:spPr>
        <p:txBody>
          <a:bodyPr/>
          <a:lstStyle/>
          <a:p>
            <a:pPr marL="342891" indent="12700" algn="just" eaLnBrk="0" hangingPunct="0">
              <a:spcBef>
                <a:spcPct val="20000"/>
              </a:spcBef>
              <a:defRPr/>
            </a:pPr>
            <a:r>
              <a:rPr lang="en-US" sz="2400" kern="0" dirty="0">
                <a:solidFill>
                  <a:srgbClr val="6600FF"/>
                </a:solidFill>
                <a:latin typeface="Trebuchet MS" pitchFamily="34" charset="0"/>
              </a:rPr>
              <a:t>Pet owners often struggle to identify whether their pets are suffering from common or serious illnesses. Visiting a veterinarian for every minor concern can be costly and inconvenient. Many diseases show early signs in the form of symptoms (loss of appetite, vomiting, fatigue) and visible indicators (abnormal stool, urine color, skin conditions, or vomit appearance). There is currently no widely available system that integrates both symptom descriptions and visual evidence to support early health assessments. We aim to develop a hybrid, multi-modal AI system that analyzes both symptom descriptions and pet images to predict possible diseases, highlight key evidence, and guide owners on whether they should seek veterinary care.</a:t>
            </a:r>
            <a:endParaRPr lang="en-IN" sz="2400" kern="0" dirty="0">
              <a:solidFill>
                <a:srgbClr val="66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Problem Statement</a:t>
            </a:r>
          </a:p>
        </p:txBody>
      </p:sp>
    </p:spTree>
    <p:extLst>
      <p:ext uri="{BB962C8B-B14F-4D97-AF65-F5344CB8AC3E}">
        <p14:creationId xmlns:p14="http://schemas.microsoft.com/office/powerpoint/2010/main" val="82208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196380" y="1844824"/>
            <a:ext cx="9799240" cy="4191000"/>
          </a:xfrm>
          <a:prstGeom prst="rect">
            <a:avLst/>
          </a:prstGeom>
        </p:spPr>
        <p:txBody>
          <a:bodyPr/>
          <a:lstStyle/>
          <a:p>
            <a:pPr marL="342891" algn="just" eaLnBrk="0" hangingPunct="0">
              <a:spcBef>
                <a:spcPct val="20000"/>
              </a:spcBef>
              <a:defRPr/>
            </a:pPr>
            <a:r>
              <a:rPr lang="en-US" sz="2400" kern="0" dirty="0">
                <a:solidFill>
                  <a:srgbClr val="0000FF"/>
                </a:solidFill>
                <a:latin typeface="Trebuchet MS" pitchFamily="34" charset="0"/>
              </a:rPr>
              <a:t>This project addresses the problem of inaccurate or delayed disease detection in dogs caused by single-input health monitoring systems. It introduces an AI-Based Dog Health Monitoring System that uses dual inputs — images and symptoms for better accuracy. The system applies deep learning for image-based disease detection and machine learning for symptom analysis. By integrating both data types, it ensures early and more reliable diagnosis among breeds. The project aims to assist veterinarians and pet owners in improving preventive healthcare and timely treatment.</a:t>
            </a: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Abstract </a:t>
            </a:r>
          </a:p>
        </p:txBody>
      </p:sp>
    </p:spTree>
    <p:extLst>
      <p:ext uri="{BB962C8B-B14F-4D97-AF65-F5344CB8AC3E}">
        <p14:creationId xmlns:p14="http://schemas.microsoft.com/office/powerpoint/2010/main" val="381103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120BC-D3DE-8A58-62E7-494C26BB33F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109F5F6-86A4-168B-80C8-743841EB3317}"/>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5275EF7A-1853-F4B2-9048-3B4E2277386B}"/>
              </a:ext>
            </a:extLst>
          </p:cNvPr>
          <p:cNvSpPr txBox="1">
            <a:spLocks/>
          </p:cNvSpPr>
          <p:nvPr/>
        </p:nvSpPr>
        <p:spPr>
          <a:xfrm>
            <a:off x="1343472" y="1916832"/>
            <a:ext cx="9793088" cy="4191000"/>
          </a:xfrm>
          <a:prstGeom prst="rect">
            <a:avLst/>
          </a:prstGeom>
        </p:spPr>
        <p:txBody>
          <a:bodyPr/>
          <a:lstStyle/>
          <a:p>
            <a:pPr marL="342891" algn="just" eaLnBrk="0" hangingPunct="0">
              <a:spcBef>
                <a:spcPct val="20000"/>
              </a:spcBef>
              <a:defRPr/>
            </a:pPr>
            <a:r>
              <a:rPr lang="en-US" sz="2400" kern="0" dirty="0">
                <a:solidFill>
                  <a:srgbClr val="0000FF"/>
                </a:solidFill>
                <a:latin typeface="Trebuchet MS" pitchFamily="34" charset="0"/>
              </a:rPr>
              <a:t>The scope includes data collection, preprocessing, model training, and multimodal fusion of images and symptoms. It covers health monitoring and disease prediction for different dog breed sizes with scalable AI models. The system provides a user-friendly interface for owners to upload images and report symptoms for instant analysis. Future extensions can integrate IoT sensors for real-time health tracking. Overall, the project establishes a foundation for AI-driven, breed-aware, and multimodal veterinary health monitoring systems.</a:t>
            </a:r>
            <a:endParaRPr lang="en-IN" sz="2400" kern="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7CE0745E-98F9-D83D-B5C2-2E13929755EA}"/>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Scope</a:t>
            </a:r>
          </a:p>
        </p:txBody>
      </p:sp>
    </p:spTree>
    <p:extLst>
      <p:ext uri="{BB962C8B-B14F-4D97-AF65-F5344CB8AC3E}">
        <p14:creationId xmlns:p14="http://schemas.microsoft.com/office/powerpoint/2010/main" val="4027153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775520" y="1617668"/>
            <a:ext cx="9361040" cy="4384667"/>
          </a:xfrm>
          <a:prstGeom prst="rect">
            <a:avLst/>
          </a:prstGeom>
        </p:spPr>
        <p:txBody>
          <a:bodyPr/>
          <a:lstStyle/>
          <a:p>
            <a:pPr marL="342891" indent="12700" algn="just" eaLnBrk="0" hangingPunct="0">
              <a:spcBef>
                <a:spcPct val="20000"/>
              </a:spcBef>
              <a:buFont typeface="Wingdings" pitchFamily="2" charset="2"/>
              <a:buChar char="§"/>
              <a:defRPr/>
            </a:pPr>
            <a:endParaRPr lang="en-IN" sz="2400" kern="0" dirty="0">
              <a:solidFill>
                <a:srgbClr val="0000FF"/>
              </a:solidFill>
              <a:latin typeface="Trebuchet MS" pitchFamily="34" charset="0"/>
            </a:endParaRPr>
          </a:p>
          <a:p>
            <a:pPr marL="342891" algn="just" eaLnBrk="0" hangingPunct="0">
              <a:spcBef>
                <a:spcPct val="20000"/>
              </a:spcBef>
              <a:defRPr/>
            </a:pPr>
            <a:r>
              <a:rPr lang="en-US" sz="2400" dirty="0">
                <a:solidFill>
                  <a:srgbClr val="6600FF"/>
                </a:solidFill>
              </a:rPr>
              <a:t>During Phase–1 review, the panel suggested integrating IOT sensors for continuous health monitoring. After evaluation, it was found that IOT sensors increase cost and hardware dependency, reducing accessibility for users. Hence, the current system focuses on a user-friendly, software-based approach using images and symptom descriptions. Optional inputs such as age and temperature are included to add contextual health information. The system remains scalable, allowing IOT sensor integration as a future enhancement.</a:t>
            </a:r>
          </a:p>
          <a:p>
            <a:pPr marL="342891" algn="just" eaLnBrk="0" hangingPunct="0">
              <a:spcBef>
                <a:spcPct val="20000"/>
              </a:spcBef>
              <a:defRPr/>
            </a:pP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Suggestions from Phase-1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487488" y="1772816"/>
            <a:ext cx="8077200" cy="4384667"/>
          </a:xfrm>
          <a:prstGeom prst="rect">
            <a:avLst/>
          </a:prstGeom>
        </p:spPr>
        <p:txBody>
          <a:bodyPr/>
          <a:lstStyle/>
          <a:p>
            <a:pPr marL="342891" algn="just" eaLnBrk="0" hangingPunct="0">
              <a:spcBef>
                <a:spcPct val="20000"/>
              </a:spcBef>
              <a:defRPr/>
            </a:pPr>
            <a:r>
              <a:rPr lang="en-US" sz="2400" b="1" kern="0" dirty="0">
                <a:solidFill>
                  <a:srgbClr val="0000FF"/>
                </a:solidFill>
                <a:latin typeface="Trebuchet MS" pitchFamily="34" charset="0"/>
                <a:sym typeface="Trebuchet MS"/>
              </a:rPr>
              <a:t>Functional Requirements</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Upload pet image</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Enter symptoms</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Select breed category</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Generate disease prediction</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Classify severity</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Display home care suggestion</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Show nearby veterinary clinics</a:t>
            </a:r>
          </a:p>
          <a:p>
            <a:pPr marL="685791" indent="-342900" algn="just" eaLnBrk="0" hangingPunct="0">
              <a:spcBef>
                <a:spcPct val="20000"/>
              </a:spcBef>
              <a:buFont typeface="Arial" panose="020B0604020202020204" pitchFamily="34" charset="0"/>
              <a:buChar char="•"/>
              <a:defRPr/>
            </a:pPr>
            <a:r>
              <a:rPr lang="en-US" sz="2400" kern="0" dirty="0">
                <a:solidFill>
                  <a:srgbClr val="0000FF"/>
                </a:solidFill>
                <a:latin typeface="Trebuchet MS" pitchFamily="34" charset="0"/>
                <a:sym typeface="Trebuchet MS"/>
              </a:rPr>
              <a:t>Allow appointment booking request</a:t>
            </a: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Requirements Specification</a:t>
            </a:r>
          </a:p>
        </p:txBody>
      </p:sp>
    </p:spTree>
    <p:extLst>
      <p:ext uri="{BB962C8B-B14F-4D97-AF65-F5344CB8AC3E}">
        <p14:creationId xmlns:p14="http://schemas.microsoft.com/office/powerpoint/2010/main" val="1668997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89800-4D97-07DD-419A-D4DCE3AC6E8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CE93FD8-8663-4FAB-2299-7F622E60D299}"/>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E5E475CE-214D-E231-11A8-CF380C4DF4F2}"/>
              </a:ext>
            </a:extLst>
          </p:cNvPr>
          <p:cNvSpPr txBox="1">
            <a:spLocks/>
          </p:cNvSpPr>
          <p:nvPr/>
        </p:nvSpPr>
        <p:spPr>
          <a:xfrm>
            <a:off x="1487488" y="1772816"/>
            <a:ext cx="8077200" cy="4384667"/>
          </a:xfrm>
          <a:prstGeom prst="rect">
            <a:avLst/>
          </a:prstGeom>
        </p:spPr>
        <p:txBody>
          <a:bodyPr/>
          <a:lstStyle/>
          <a:p>
            <a:pPr marL="342891" algn="just" eaLnBrk="0" hangingPunct="0">
              <a:spcBef>
                <a:spcPct val="20000"/>
              </a:spcBef>
              <a:defRPr/>
            </a:pPr>
            <a:endParaRPr lang="en-US" sz="2400" kern="0" dirty="0">
              <a:solidFill>
                <a:srgbClr val="0000FF"/>
              </a:solidFill>
              <a:latin typeface="Trebuchet MS" pitchFamily="34" charset="0"/>
              <a:sym typeface="Trebuchet MS"/>
            </a:endParaRPr>
          </a:p>
        </p:txBody>
      </p:sp>
      <p:sp>
        <p:nvSpPr>
          <p:cNvPr id="14" name="Text Box 34">
            <a:extLst>
              <a:ext uri="{FF2B5EF4-FFF2-40B4-BE49-F238E27FC236}">
                <a16:creationId xmlns:a16="http://schemas.microsoft.com/office/drawing/2014/main" id="{016BA457-8094-8E68-2206-68A0239CA71B}"/>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Requirements Specification</a:t>
            </a:r>
          </a:p>
        </p:txBody>
      </p:sp>
      <p:sp>
        <p:nvSpPr>
          <p:cNvPr id="3" name="TextBox 2">
            <a:extLst>
              <a:ext uri="{FF2B5EF4-FFF2-40B4-BE49-F238E27FC236}">
                <a16:creationId xmlns:a16="http://schemas.microsoft.com/office/drawing/2014/main" id="{D368C44C-BBA8-7D43-5518-0130AF7CBDEF}"/>
              </a:ext>
            </a:extLst>
          </p:cNvPr>
          <p:cNvSpPr txBox="1"/>
          <p:nvPr/>
        </p:nvSpPr>
        <p:spPr>
          <a:xfrm>
            <a:off x="2063552" y="1759815"/>
            <a:ext cx="7056784" cy="3347840"/>
          </a:xfrm>
          <a:prstGeom prst="rect">
            <a:avLst/>
          </a:prstGeom>
          <a:noFill/>
        </p:spPr>
        <p:txBody>
          <a:bodyPr wrap="square">
            <a:spAutoFit/>
          </a:bodyPr>
          <a:lstStyle/>
          <a:p>
            <a:pPr>
              <a:lnSpc>
                <a:spcPct val="150000"/>
              </a:lnSpc>
            </a:pPr>
            <a:r>
              <a:rPr lang="en-IN" sz="2400" b="1" dirty="0">
                <a:solidFill>
                  <a:srgbClr val="6600FF"/>
                </a:solidFill>
              </a:rPr>
              <a:t>Non-Functional Requirements</a:t>
            </a:r>
          </a:p>
          <a:p>
            <a:pPr marL="342900" indent="-342900">
              <a:lnSpc>
                <a:spcPct val="150000"/>
              </a:lnSpc>
              <a:buFont typeface="Arial" panose="020B0604020202020204" pitchFamily="34" charset="0"/>
              <a:buChar char="•"/>
            </a:pPr>
            <a:r>
              <a:rPr lang="en-IN" sz="2400" dirty="0">
                <a:solidFill>
                  <a:srgbClr val="6600FF"/>
                </a:solidFill>
              </a:rPr>
              <a:t>Response time &lt; 5 seconds</a:t>
            </a:r>
          </a:p>
          <a:p>
            <a:pPr marL="342900" indent="-342900">
              <a:lnSpc>
                <a:spcPct val="150000"/>
              </a:lnSpc>
              <a:buFont typeface="Arial" panose="020B0604020202020204" pitchFamily="34" charset="0"/>
              <a:buChar char="•"/>
            </a:pPr>
            <a:r>
              <a:rPr lang="en-IN" sz="2400" dirty="0">
                <a:solidFill>
                  <a:srgbClr val="6600FF"/>
                </a:solidFill>
              </a:rPr>
              <a:t>Prediction accuracy &gt; 80% (prototype goal) </a:t>
            </a:r>
          </a:p>
          <a:p>
            <a:pPr marL="342900" indent="-342900">
              <a:lnSpc>
                <a:spcPct val="150000"/>
              </a:lnSpc>
              <a:buFont typeface="Arial" panose="020B0604020202020204" pitchFamily="34" charset="0"/>
              <a:buChar char="•"/>
            </a:pPr>
            <a:r>
              <a:rPr lang="en-IN" sz="2400" dirty="0">
                <a:solidFill>
                  <a:srgbClr val="6600FF"/>
                </a:solidFill>
              </a:rPr>
              <a:t>Secure user data handling </a:t>
            </a:r>
          </a:p>
          <a:p>
            <a:pPr marL="342900" indent="-342900">
              <a:lnSpc>
                <a:spcPct val="150000"/>
              </a:lnSpc>
              <a:buFont typeface="Arial" panose="020B0604020202020204" pitchFamily="34" charset="0"/>
              <a:buChar char="•"/>
            </a:pPr>
            <a:r>
              <a:rPr lang="en-IN" sz="2400" dirty="0">
                <a:solidFill>
                  <a:srgbClr val="6600FF"/>
                </a:solidFill>
              </a:rPr>
              <a:t>Scalable architecture</a:t>
            </a:r>
          </a:p>
          <a:p>
            <a:pPr marL="342900" indent="-342900">
              <a:lnSpc>
                <a:spcPct val="150000"/>
              </a:lnSpc>
              <a:buFont typeface="Arial" panose="020B0604020202020204" pitchFamily="34" charset="0"/>
              <a:buChar char="•"/>
            </a:pPr>
            <a:r>
              <a:rPr lang="en-IN" sz="2400" dirty="0">
                <a:solidFill>
                  <a:srgbClr val="6600FF"/>
                </a:solidFill>
              </a:rPr>
              <a:t>User-friendly interface</a:t>
            </a:r>
          </a:p>
        </p:txBody>
      </p:sp>
    </p:spTree>
    <p:extLst>
      <p:ext uri="{BB962C8B-B14F-4D97-AF65-F5344CB8AC3E}">
        <p14:creationId xmlns:p14="http://schemas.microsoft.com/office/powerpoint/2010/main" val="579333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B5273-5AB8-5C61-E7F7-4E28A255FA3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33AD082-932C-C04D-499E-E60DC73AFF0F}"/>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67FC4C9B-347B-3641-0F51-C4BA3EA3E1F4}"/>
              </a:ext>
            </a:extLst>
          </p:cNvPr>
          <p:cNvSpPr txBox="1">
            <a:spLocks/>
          </p:cNvSpPr>
          <p:nvPr/>
        </p:nvSpPr>
        <p:spPr>
          <a:xfrm>
            <a:off x="1487488" y="1772816"/>
            <a:ext cx="8077200" cy="4384667"/>
          </a:xfrm>
          <a:prstGeom prst="rect">
            <a:avLst/>
          </a:prstGeom>
        </p:spPr>
        <p:txBody>
          <a:bodyPr/>
          <a:lstStyle/>
          <a:p>
            <a:pPr marL="342891" algn="just" eaLnBrk="0" hangingPunct="0">
              <a:spcBef>
                <a:spcPct val="20000"/>
              </a:spcBef>
              <a:defRPr/>
            </a:pPr>
            <a:endParaRPr lang="en-US" sz="2400" kern="0" dirty="0">
              <a:solidFill>
                <a:srgbClr val="0000FF"/>
              </a:solidFill>
              <a:latin typeface="Trebuchet MS" pitchFamily="34" charset="0"/>
              <a:sym typeface="Trebuchet MS"/>
            </a:endParaRPr>
          </a:p>
        </p:txBody>
      </p:sp>
      <p:sp>
        <p:nvSpPr>
          <p:cNvPr id="14" name="Text Box 34">
            <a:extLst>
              <a:ext uri="{FF2B5EF4-FFF2-40B4-BE49-F238E27FC236}">
                <a16:creationId xmlns:a16="http://schemas.microsoft.com/office/drawing/2014/main" id="{003AC49D-6A7C-5665-DC73-38E67CE2B98F}"/>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Requirements Specification</a:t>
            </a:r>
          </a:p>
        </p:txBody>
      </p:sp>
      <p:sp>
        <p:nvSpPr>
          <p:cNvPr id="3" name="TextBox 2">
            <a:extLst>
              <a:ext uri="{FF2B5EF4-FFF2-40B4-BE49-F238E27FC236}">
                <a16:creationId xmlns:a16="http://schemas.microsoft.com/office/drawing/2014/main" id="{0BA80821-243A-044F-27CE-42C77D0E3275}"/>
              </a:ext>
            </a:extLst>
          </p:cNvPr>
          <p:cNvSpPr txBox="1"/>
          <p:nvPr/>
        </p:nvSpPr>
        <p:spPr>
          <a:xfrm>
            <a:off x="2063552" y="1759815"/>
            <a:ext cx="7704856" cy="3901837"/>
          </a:xfrm>
          <a:prstGeom prst="rect">
            <a:avLst/>
          </a:prstGeom>
          <a:noFill/>
        </p:spPr>
        <p:txBody>
          <a:bodyPr wrap="square">
            <a:spAutoFit/>
          </a:bodyPr>
          <a:lstStyle/>
          <a:p>
            <a:pPr>
              <a:lnSpc>
                <a:spcPct val="150000"/>
              </a:lnSpc>
            </a:pPr>
            <a:r>
              <a:rPr lang="en-IN" sz="2400" b="1" dirty="0">
                <a:solidFill>
                  <a:srgbClr val="6600FF"/>
                </a:solidFill>
              </a:rPr>
              <a:t>Technologies Used</a:t>
            </a:r>
          </a:p>
          <a:p>
            <a:pPr marL="342900" indent="-342900">
              <a:lnSpc>
                <a:spcPct val="150000"/>
              </a:lnSpc>
              <a:buFont typeface="Arial" panose="020B0604020202020204" pitchFamily="34" charset="0"/>
              <a:buChar char="•"/>
            </a:pPr>
            <a:r>
              <a:rPr lang="en-IN" sz="2400" dirty="0">
                <a:solidFill>
                  <a:srgbClr val="6600FF"/>
                </a:solidFill>
              </a:rPr>
              <a:t>Python</a:t>
            </a:r>
          </a:p>
          <a:p>
            <a:pPr marL="342900" indent="-342900">
              <a:lnSpc>
                <a:spcPct val="150000"/>
              </a:lnSpc>
              <a:buFont typeface="Arial" panose="020B0604020202020204" pitchFamily="34" charset="0"/>
              <a:buChar char="•"/>
            </a:pPr>
            <a:r>
              <a:rPr lang="en-IN" sz="2400" dirty="0">
                <a:solidFill>
                  <a:srgbClr val="6600FF"/>
                </a:solidFill>
              </a:rPr>
              <a:t>TensorFlow / </a:t>
            </a:r>
            <a:r>
              <a:rPr lang="en-IN" sz="2400" dirty="0" err="1">
                <a:solidFill>
                  <a:srgbClr val="6600FF"/>
                </a:solidFill>
              </a:rPr>
              <a:t>PyTorch</a:t>
            </a:r>
            <a:r>
              <a:rPr lang="en-IN" sz="2400" dirty="0">
                <a:solidFill>
                  <a:srgbClr val="6600FF"/>
                </a:solidFill>
              </a:rPr>
              <a:t> (CNN)</a:t>
            </a:r>
          </a:p>
          <a:p>
            <a:pPr marL="342900" indent="-342900">
              <a:lnSpc>
                <a:spcPct val="150000"/>
              </a:lnSpc>
              <a:buFont typeface="Arial" panose="020B0604020202020204" pitchFamily="34" charset="0"/>
              <a:buChar char="•"/>
            </a:pPr>
            <a:r>
              <a:rPr lang="en-IN" sz="2400" dirty="0">
                <a:solidFill>
                  <a:srgbClr val="6600FF"/>
                </a:solidFill>
              </a:rPr>
              <a:t>Scikit-Learn (Random Forest / XGBoost)</a:t>
            </a:r>
          </a:p>
          <a:p>
            <a:pPr marL="342900" indent="-342900">
              <a:lnSpc>
                <a:spcPct val="150000"/>
              </a:lnSpc>
              <a:buFont typeface="Arial" panose="020B0604020202020204" pitchFamily="34" charset="0"/>
              <a:buChar char="•"/>
            </a:pPr>
            <a:r>
              <a:rPr lang="en-IN" sz="2400" dirty="0">
                <a:solidFill>
                  <a:srgbClr val="6600FF"/>
                </a:solidFill>
              </a:rPr>
              <a:t>Flask (Backend)</a:t>
            </a:r>
          </a:p>
          <a:p>
            <a:pPr marL="342900" indent="-342900">
              <a:lnSpc>
                <a:spcPct val="150000"/>
              </a:lnSpc>
              <a:buFont typeface="Arial" panose="020B0604020202020204" pitchFamily="34" charset="0"/>
              <a:buChar char="•"/>
            </a:pPr>
            <a:r>
              <a:rPr lang="en-IN" sz="2400" dirty="0">
                <a:solidFill>
                  <a:srgbClr val="6600FF"/>
                </a:solidFill>
              </a:rPr>
              <a:t>MySQL (Database)</a:t>
            </a:r>
          </a:p>
          <a:p>
            <a:pPr marL="342900" indent="-342900">
              <a:lnSpc>
                <a:spcPct val="150000"/>
              </a:lnSpc>
              <a:buFont typeface="Arial" panose="020B0604020202020204" pitchFamily="34" charset="0"/>
              <a:buChar char="•"/>
            </a:pPr>
            <a:r>
              <a:rPr lang="en-IN" sz="2400" dirty="0">
                <a:solidFill>
                  <a:srgbClr val="6600FF"/>
                </a:solidFill>
              </a:rPr>
              <a:t>HTML/CSS/Bootstrap (Frontend)</a:t>
            </a:r>
          </a:p>
        </p:txBody>
      </p:sp>
    </p:spTree>
    <p:extLst>
      <p:ext uri="{BB962C8B-B14F-4D97-AF65-F5344CB8AC3E}">
        <p14:creationId xmlns:p14="http://schemas.microsoft.com/office/powerpoint/2010/main" val="444563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5E465-1C9C-615D-D8B2-6BD7FD5FF40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2B2E6A7-557D-A993-ED2E-5D6609477BB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481EFFDC-2826-2D08-06DD-67E6EDFE1872}"/>
              </a:ext>
            </a:extLst>
          </p:cNvPr>
          <p:cNvSpPr txBox="1">
            <a:spLocks/>
          </p:cNvSpPr>
          <p:nvPr/>
        </p:nvSpPr>
        <p:spPr>
          <a:xfrm>
            <a:off x="1905000" y="2092332"/>
            <a:ext cx="8077200" cy="4384667"/>
          </a:xfrm>
          <a:prstGeom prst="rect">
            <a:avLst/>
          </a:prstGeom>
        </p:spPr>
        <p:txBody>
          <a:bodyPr/>
          <a:lstStyle/>
          <a:p>
            <a:pPr marL="342891" algn="just" eaLnBrk="0" hangingPunct="0">
              <a:spcBef>
                <a:spcPct val="20000"/>
              </a:spcBef>
              <a:defRPr/>
            </a:pPr>
            <a:endParaRPr lang="en-US" sz="2400" kern="0" dirty="0">
              <a:solidFill>
                <a:srgbClr val="0000FF"/>
              </a:solidFill>
              <a:latin typeface="Trebuchet MS" pitchFamily="34" charset="0"/>
              <a:sym typeface="Trebuchet MS"/>
            </a:endParaRPr>
          </a:p>
        </p:txBody>
      </p:sp>
      <p:sp>
        <p:nvSpPr>
          <p:cNvPr id="14" name="Text Box 34">
            <a:extLst>
              <a:ext uri="{FF2B5EF4-FFF2-40B4-BE49-F238E27FC236}">
                <a16:creationId xmlns:a16="http://schemas.microsoft.com/office/drawing/2014/main" id="{68821C58-7138-7937-D52E-94E24F9A8417}"/>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Data set and requirements</a:t>
            </a:r>
          </a:p>
        </p:txBody>
      </p:sp>
      <p:sp>
        <p:nvSpPr>
          <p:cNvPr id="3" name="TextBox 2">
            <a:extLst>
              <a:ext uri="{FF2B5EF4-FFF2-40B4-BE49-F238E27FC236}">
                <a16:creationId xmlns:a16="http://schemas.microsoft.com/office/drawing/2014/main" id="{E4CD5130-C2F5-12E8-93A9-683643A402EC}"/>
              </a:ext>
            </a:extLst>
          </p:cNvPr>
          <p:cNvSpPr txBox="1"/>
          <p:nvPr/>
        </p:nvSpPr>
        <p:spPr>
          <a:xfrm>
            <a:off x="1060715" y="2042820"/>
            <a:ext cx="4255434" cy="3693319"/>
          </a:xfrm>
          <a:prstGeom prst="rect">
            <a:avLst/>
          </a:prstGeom>
          <a:noFill/>
        </p:spPr>
        <p:txBody>
          <a:bodyPr wrap="square">
            <a:spAutoFit/>
          </a:bodyPr>
          <a:lstStyle/>
          <a:p>
            <a:pPr marL="342900" indent="-342900">
              <a:buAutoNum type="alphaUcPeriod"/>
            </a:pPr>
            <a:r>
              <a:rPr lang="en-IN" b="1" dirty="0">
                <a:solidFill>
                  <a:srgbClr val="6600FF"/>
                </a:solidFill>
              </a:rPr>
              <a:t>Image Dataset</a:t>
            </a:r>
          </a:p>
          <a:p>
            <a:r>
              <a:rPr lang="en-IN" dirty="0">
                <a:solidFill>
                  <a:srgbClr val="6600FF"/>
                </a:solidFill>
              </a:rPr>
              <a:t>Type:</a:t>
            </a:r>
          </a:p>
          <a:p>
            <a:pPr marL="285750" indent="-285750">
              <a:buFont typeface="Arial" panose="020B0604020202020204" pitchFamily="34" charset="0"/>
              <a:buChar char="•"/>
            </a:pPr>
            <a:r>
              <a:rPr lang="en-IN" dirty="0">
                <a:solidFill>
                  <a:srgbClr val="6600FF"/>
                </a:solidFill>
              </a:rPr>
              <a:t>Dog skin diseases</a:t>
            </a:r>
          </a:p>
          <a:p>
            <a:pPr marL="285750" indent="-285750">
              <a:buFont typeface="Arial" panose="020B0604020202020204" pitchFamily="34" charset="0"/>
              <a:buChar char="•"/>
            </a:pPr>
            <a:r>
              <a:rPr lang="en-IN" dirty="0">
                <a:solidFill>
                  <a:srgbClr val="6600FF"/>
                </a:solidFill>
              </a:rPr>
              <a:t>Eye infections</a:t>
            </a:r>
          </a:p>
          <a:p>
            <a:pPr marL="285750" indent="-285750">
              <a:buFont typeface="Arial" panose="020B0604020202020204" pitchFamily="34" charset="0"/>
              <a:buChar char="•"/>
            </a:pPr>
            <a:r>
              <a:rPr lang="en-IN" dirty="0">
                <a:solidFill>
                  <a:srgbClr val="6600FF"/>
                </a:solidFill>
              </a:rPr>
              <a:t>Wounds</a:t>
            </a:r>
          </a:p>
          <a:p>
            <a:pPr marL="285750" indent="-285750">
              <a:buFont typeface="Arial" panose="020B0604020202020204" pitchFamily="34" charset="0"/>
              <a:buChar char="•"/>
            </a:pPr>
            <a:r>
              <a:rPr lang="en-IN" dirty="0">
                <a:solidFill>
                  <a:srgbClr val="6600FF"/>
                </a:solidFill>
              </a:rPr>
              <a:t>Healthy samples</a:t>
            </a:r>
          </a:p>
          <a:p>
            <a:r>
              <a:rPr lang="en-IN" dirty="0">
                <a:solidFill>
                  <a:srgbClr val="6600FF"/>
                </a:solidFill>
              </a:rPr>
              <a:t>Features Extracted:</a:t>
            </a:r>
          </a:p>
          <a:p>
            <a:pPr marL="285750" indent="-285750">
              <a:buFont typeface="Arial" panose="020B0604020202020204" pitchFamily="34" charset="0"/>
              <a:buChar char="•"/>
            </a:pPr>
            <a:r>
              <a:rPr lang="en-IN" dirty="0">
                <a:solidFill>
                  <a:srgbClr val="6600FF"/>
                </a:solidFill>
              </a:rPr>
              <a:t>Redness detection</a:t>
            </a:r>
          </a:p>
          <a:p>
            <a:pPr marL="285750" indent="-285750">
              <a:buFont typeface="Arial" panose="020B0604020202020204" pitchFamily="34" charset="0"/>
              <a:buChar char="•"/>
            </a:pPr>
            <a:r>
              <a:rPr lang="en-IN" dirty="0">
                <a:solidFill>
                  <a:srgbClr val="6600FF"/>
                </a:solidFill>
              </a:rPr>
              <a:t>Fur loss patches</a:t>
            </a:r>
          </a:p>
          <a:p>
            <a:pPr marL="285750" indent="-285750">
              <a:buFont typeface="Arial" panose="020B0604020202020204" pitchFamily="34" charset="0"/>
              <a:buChar char="•"/>
            </a:pPr>
            <a:r>
              <a:rPr lang="en-IN" dirty="0">
                <a:solidFill>
                  <a:srgbClr val="6600FF"/>
                </a:solidFill>
              </a:rPr>
              <a:t>Lesion shape</a:t>
            </a:r>
          </a:p>
          <a:p>
            <a:pPr marL="285750" indent="-285750">
              <a:buFont typeface="Arial" panose="020B0604020202020204" pitchFamily="34" charset="0"/>
              <a:buChar char="•"/>
            </a:pPr>
            <a:r>
              <a:rPr lang="en-IN" dirty="0">
                <a:solidFill>
                  <a:srgbClr val="6600FF"/>
                </a:solidFill>
              </a:rPr>
              <a:t>Texture variation</a:t>
            </a:r>
          </a:p>
          <a:p>
            <a:r>
              <a:rPr lang="en-IN" dirty="0">
                <a:solidFill>
                  <a:srgbClr val="6600FF"/>
                </a:solidFill>
              </a:rPr>
              <a:t>Model Used : CNN-based image classifier</a:t>
            </a:r>
          </a:p>
        </p:txBody>
      </p:sp>
      <p:sp>
        <p:nvSpPr>
          <p:cNvPr id="6" name="TextBox 5">
            <a:extLst>
              <a:ext uri="{FF2B5EF4-FFF2-40B4-BE49-F238E27FC236}">
                <a16:creationId xmlns:a16="http://schemas.microsoft.com/office/drawing/2014/main" id="{3AFEB5FC-2BCA-6B52-99C4-4B945C8E2EF0}"/>
              </a:ext>
            </a:extLst>
          </p:cNvPr>
          <p:cNvSpPr txBox="1"/>
          <p:nvPr/>
        </p:nvSpPr>
        <p:spPr>
          <a:xfrm>
            <a:off x="5519936" y="2042820"/>
            <a:ext cx="6385586" cy="3416320"/>
          </a:xfrm>
          <a:prstGeom prst="rect">
            <a:avLst/>
          </a:prstGeom>
          <a:noFill/>
        </p:spPr>
        <p:txBody>
          <a:bodyPr wrap="square">
            <a:spAutoFit/>
          </a:bodyPr>
          <a:lstStyle/>
          <a:p>
            <a:r>
              <a:rPr lang="en-IN" b="1" dirty="0">
                <a:solidFill>
                  <a:srgbClr val="6600FF"/>
                </a:solidFill>
              </a:rPr>
              <a:t>B. Symptom Dataset</a:t>
            </a:r>
          </a:p>
          <a:p>
            <a:r>
              <a:rPr lang="en-IN" dirty="0">
                <a:solidFill>
                  <a:srgbClr val="6600FF"/>
                </a:solidFill>
              </a:rPr>
              <a:t>Structured dataset format:</a:t>
            </a:r>
          </a:p>
          <a:p>
            <a:r>
              <a:rPr lang="en-IN" dirty="0">
                <a:solidFill>
                  <a:srgbClr val="6600FF"/>
                </a:solidFill>
              </a:rPr>
              <a:t>| Vomiting | Fever | Itching | Duration | Disease Label |</a:t>
            </a:r>
          </a:p>
          <a:p>
            <a:r>
              <a:rPr lang="en-IN" dirty="0">
                <a:solidFill>
                  <a:srgbClr val="6600FF"/>
                </a:solidFill>
              </a:rPr>
              <a:t>Features Considered:</a:t>
            </a:r>
          </a:p>
          <a:p>
            <a:pPr marL="285750" indent="-285750">
              <a:buFont typeface="Arial" panose="020B0604020202020204" pitchFamily="34" charset="0"/>
              <a:buChar char="•"/>
            </a:pPr>
            <a:r>
              <a:rPr lang="en-IN" dirty="0">
                <a:solidFill>
                  <a:srgbClr val="6600FF"/>
                </a:solidFill>
              </a:rPr>
              <a:t>Vomiting</a:t>
            </a:r>
          </a:p>
          <a:p>
            <a:pPr marL="285750" indent="-285750">
              <a:buFont typeface="Arial" panose="020B0604020202020204" pitchFamily="34" charset="0"/>
              <a:buChar char="•"/>
            </a:pPr>
            <a:r>
              <a:rPr lang="en-IN" dirty="0">
                <a:solidFill>
                  <a:srgbClr val="6600FF"/>
                </a:solidFill>
              </a:rPr>
              <a:t>Diarrhea</a:t>
            </a:r>
          </a:p>
          <a:p>
            <a:pPr marL="285750" indent="-285750">
              <a:buFont typeface="Arial" panose="020B0604020202020204" pitchFamily="34" charset="0"/>
              <a:buChar char="•"/>
            </a:pPr>
            <a:r>
              <a:rPr lang="en-IN" dirty="0">
                <a:solidFill>
                  <a:srgbClr val="6600FF"/>
                </a:solidFill>
              </a:rPr>
              <a:t>Lethargy</a:t>
            </a:r>
          </a:p>
          <a:p>
            <a:pPr marL="285750" indent="-285750">
              <a:buFont typeface="Arial" panose="020B0604020202020204" pitchFamily="34" charset="0"/>
              <a:buChar char="•"/>
            </a:pPr>
            <a:r>
              <a:rPr lang="en-IN" dirty="0">
                <a:solidFill>
                  <a:srgbClr val="6600FF"/>
                </a:solidFill>
              </a:rPr>
              <a:t>Loss of appetite</a:t>
            </a:r>
          </a:p>
          <a:p>
            <a:pPr marL="285750" indent="-285750">
              <a:buFont typeface="Arial" panose="020B0604020202020204" pitchFamily="34" charset="0"/>
              <a:buChar char="•"/>
            </a:pPr>
            <a:r>
              <a:rPr lang="en-IN" dirty="0">
                <a:solidFill>
                  <a:srgbClr val="6600FF"/>
                </a:solidFill>
              </a:rPr>
              <a:t>Fever</a:t>
            </a:r>
          </a:p>
          <a:p>
            <a:pPr marL="285750" indent="-285750">
              <a:buFont typeface="Arial" panose="020B0604020202020204" pitchFamily="34" charset="0"/>
              <a:buChar char="•"/>
            </a:pPr>
            <a:r>
              <a:rPr lang="en-IN" dirty="0">
                <a:solidFill>
                  <a:srgbClr val="6600FF"/>
                </a:solidFill>
              </a:rPr>
              <a:t>Itching</a:t>
            </a:r>
          </a:p>
          <a:p>
            <a:endParaRPr lang="en-IN" dirty="0">
              <a:solidFill>
                <a:srgbClr val="6600FF"/>
              </a:solidFill>
            </a:endParaRPr>
          </a:p>
          <a:p>
            <a:r>
              <a:rPr lang="en-IN" dirty="0">
                <a:solidFill>
                  <a:srgbClr val="6600FF"/>
                </a:solidFill>
              </a:rPr>
              <a:t>Model Used: Random Forest / XGBoost</a:t>
            </a:r>
          </a:p>
        </p:txBody>
      </p:sp>
    </p:spTree>
    <p:extLst>
      <p:ext uri="{BB962C8B-B14F-4D97-AF65-F5344CB8AC3E}">
        <p14:creationId xmlns:p14="http://schemas.microsoft.com/office/powerpoint/2010/main" val="3473402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565C5-5D9A-0105-67C9-FA73468CB99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1D48AD-73BB-71BA-F70F-3D2702F08F37}"/>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C17A8239-6183-2A33-0F0C-5F82254D5E76}"/>
              </a:ext>
            </a:extLst>
          </p:cNvPr>
          <p:cNvSpPr txBox="1">
            <a:spLocks/>
          </p:cNvSpPr>
          <p:nvPr/>
        </p:nvSpPr>
        <p:spPr>
          <a:xfrm>
            <a:off x="1905000" y="2092332"/>
            <a:ext cx="8077200" cy="4384667"/>
          </a:xfrm>
          <a:prstGeom prst="rect">
            <a:avLst/>
          </a:prstGeom>
        </p:spPr>
        <p:txBody>
          <a:bodyPr/>
          <a:lstStyle/>
          <a:p>
            <a:pPr marL="342891" algn="just" eaLnBrk="0" hangingPunct="0">
              <a:spcBef>
                <a:spcPct val="20000"/>
              </a:spcBef>
              <a:defRPr/>
            </a:pPr>
            <a:endParaRPr lang="en-US" sz="2400" kern="0" dirty="0">
              <a:solidFill>
                <a:srgbClr val="0000FF"/>
              </a:solidFill>
              <a:latin typeface="Trebuchet MS" pitchFamily="34" charset="0"/>
              <a:sym typeface="Trebuchet MS"/>
            </a:endParaRPr>
          </a:p>
        </p:txBody>
      </p:sp>
      <p:sp>
        <p:nvSpPr>
          <p:cNvPr id="14" name="Text Box 34">
            <a:extLst>
              <a:ext uri="{FF2B5EF4-FFF2-40B4-BE49-F238E27FC236}">
                <a16:creationId xmlns:a16="http://schemas.microsoft.com/office/drawing/2014/main" id="{A2A47006-87F4-F9DF-022D-41199923B29B}"/>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Data set and requirements</a:t>
            </a:r>
          </a:p>
        </p:txBody>
      </p:sp>
      <p:sp>
        <p:nvSpPr>
          <p:cNvPr id="3" name="TextBox 2">
            <a:extLst>
              <a:ext uri="{FF2B5EF4-FFF2-40B4-BE49-F238E27FC236}">
                <a16:creationId xmlns:a16="http://schemas.microsoft.com/office/drawing/2014/main" id="{4EF73557-AE46-9C87-DE81-1A8907277FDF}"/>
              </a:ext>
            </a:extLst>
          </p:cNvPr>
          <p:cNvSpPr txBox="1"/>
          <p:nvPr/>
        </p:nvSpPr>
        <p:spPr>
          <a:xfrm>
            <a:off x="2239887" y="1772816"/>
            <a:ext cx="6097554" cy="3780522"/>
          </a:xfrm>
          <a:prstGeom prst="rect">
            <a:avLst/>
          </a:prstGeom>
          <a:noFill/>
        </p:spPr>
        <p:txBody>
          <a:bodyPr wrap="square">
            <a:spAutoFit/>
          </a:bodyPr>
          <a:lstStyle/>
          <a:p>
            <a:pPr>
              <a:lnSpc>
                <a:spcPct val="150000"/>
              </a:lnSpc>
            </a:pPr>
            <a:r>
              <a:rPr lang="en-IN" b="1" dirty="0">
                <a:solidFill>
                  <a:srgbClr val="6600FF"/>
                </a:solidFill>
              </a:rPr>
              <a:t>C. Severity Features</a:t>
            </a:r>
          </a:p>
          <a:p>
            <a:pPr>
              <a:lnSpc>
                <a:spcPct val="150000"/>
              </a:lnSpc>
            </a:pPr>
            <a:r>
              <a:rPr lang="en-IN" b="1" dirty="0">
                <a:solidFill>
                  <a:srgbClr val="6600FF"/>
                </a:solidFill>
              </a:rPr>
              <a:t>Derived using:</a:t>
            </a:r>
          </a:p>
          <a:p>
            <a:pPr marL="285750" indent="-285750">
              <a:lnSpc>
                <a:spcPct val="150000"/>
              </a:lnSpc>
              <a:buFont typeface="Arial" panose="020B0604020202020204" pitchFamily="34" charset="0"/>
              <a:buChar char="•"/>
            </a:pPr>
            <a:r>
              <a:rPr lang="en-IN" dirty="0">
                <a:solidFill>
                  <a:srgbClr val="6600FF"/>
                </a:solidFill>
              </a:rPr>
              <a:t>Symptom frequency</a:t>
            </a:r>
          </a:p>
          <a:p>
            <a:pPr marL="285750" indent="-285750">
              <a:lnSpc>
                <a:spcPct val="150000"/>
              </a:lnSpc>
              <a:buFont typeface="Arial" panose="020B0604020202020204" pitchFamily="34" charset="0"/>
              <a:buChar char="•"/>
            </a:pPr>
            <a:r>
              <a:rPr lang="en-IN" dirty="0">
                <a:solidFill>
                  <a:srgbClr val="6600FF"/>
                </a:solidFill>
              </a:rPr>
              <a:t>Duration</a:t>
            </a:r>
          </a:p>
          <a:p>
            <a:pPr marL="285750" indent="-285750">
              <a:lnSpc>
                <a:spcPct val="150000"/>
              </a:lnSpc>
              <a:buFont typeface="Arial" panose="020B0604020202020204" pitchFamily="34" charset="0"/>
              <a:buChar char="•"/>
            </a:pPr>
            <a:r>
              <a:rPr lang="en-IN" dirty="0">
                <a:solidFill>
                  <a:srgbClr val="6600FF"/>
                </a:solidFill>
              </a:rPr>
              <a:t>Image confidence score</a:t>
            </a:r>
          </a:p>
          <a:p>
            <a:pPr>
              <a:lnSpc>
                <a:spcPct val="150000"/>
              </a:lnSpc>
            </a:pPr>
            <a:r>
              <a:rPr lang="en-IN" b="1" dirty="0">
                <a:solidFill>
                  <a:srgbClr val="6600FF"/>
                </a:solidFill>
              </a:rPr>
              <a:t>Severity Output:</a:t>
            </a:r>
          </a:p>
          <a:p>
            <a:pPr marL="285750" indent="-285750">
              <a:lnSpc>
                <a:spcPct val="150000"/>
              </a:lnSpc>
              <a:buFont typeface="Arial" panose="020B0604020202020204" pitchFamily="34" charset="0"/>
              <a:buChar char="•"/>
            </a:pPr>
            <a:r>
              <a:rPr lang="en-IN" dirty="0">
                <a:solidFill>
                  <a:srgbClr val="6600FF"/>
                </a:solidFill>
              </a:rPr>
              <a:t>Mild</a:t>
            </a:r>
          </a:p>
          <a:p>
            <a:pPr marL="285750" indent="-285750">
              <a:lnSpc>
                <a:spcPct val="150000"/>
              </a:lnSpc>
              <a:buFont typeface="Arial" panose="020B0604020202020204" pitchFamily="34" charset="0"/>
              <a:buChar char="•"/>
            </a:pPr>
            <a:r>
              <a:rPr lang="en-IN" dirty="0">
                <a:solidFill>
                  <a:srgbClr val="6600FF"/>
                </a:solidFill>
              </a:rPr>
              <a:t>Moderate</a:t>
            </a:r>
          </a:p>
          <a:p>
            <a:pPr marL="285750" indent="-285750">
              <a:lnSpc>
                <a:spcPct val="150000"/>
              </a:lnSpc>
              <a:buFont typeface="Arial" panose="020B0604020202020204" pitchFamily="34" charset="0"/>
              <a:buChar char="•"/>
            </a:pPr>
            <a:r>
              <a:rPr lang="en-IN" dirty="0">
                <a:solidFill>
                  <a:srgbClr val="6600FF"/>
                </a:solidFill>
              </a:rPr>
              <a:t>Severe</a:t>
            </a:r>
          </a:p>
        </p:txBody>
      </p:sp>
    </p:spTree>
    <p:extLst>
      <p:ext uri="{BB962C8B-B14F-4D97-AF65-F5344CB8AC3E}">
        <p14:creationId xmlns:p14="http://schemas.microsoft.com/office/powerpoint/2010/main" val="1895071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dirty="0">
                <a:solidFill>
                  <a:srgbClr val="FF0000"/>
                </a:solidFill>
                <a:latin typeface="Trebuchet MS"/>
                <a:ea typeface="Trebuchet MS"/>
                <a:cs typeface="Trebuchet MS"/>
                <a:sym typeface="Trebuchet MS"/>
              </a:rPr>
              <a:t>Design Approach </a:t>
            </a:r>
            <a:endParaRPr sz="1400"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2BCF35D1-A322-90E2-20DB-BAC5DBE9D914}"/>
              </a:ext>
            </a:extLst>
          </p:cNvPr>
          <p:cNvSpPr txBox="1"/>
          <p:nvPr/>
        </p:nvSpPr>
        <p:spPr>
          <a:xfrm>
            <a:off x="983432" y="1916832"/>
            <a:ext cx="10081120" cy="3901837"/>
          </a:xfrm>
          <a:prstGeom prst="rect">
            <a:avLst/>
          </a:prstGeom>
          <a:noFill/>
        </p:spPr>
        <p:txBody>
          <a:bodyPr wrap="square">
            <a:spAutoFit/>
          </a:bodyPr>
          <a:lstStyle/>
          <a:p>
            <a:pPr>
              <a:lnSpc>
                <a:spcPct val="150000"/>
              </a:lnSpc>
              <a:buNone/>
            </a:pPr>
            <a:r>
              <a:rPr lang="en-US" sz="2400" dirty="0">
                <a:solidFill>
                  <a:srgbClr val="6600FF"/>
                </a:solidFill>
              </a:rPr>
              <a:t>We followed a </a:t>
            </a:r>
            <a:r>
              <a:rPr lang="en-US" sz="2400" b="1" dirty="0">
                <a:solidFill>
                  <a:srgbClr val="6600FF"/>
                </a:solidFill>
              </a:rPr>
              <a:t>Modular Multimodal Architecture with Late Fusion Approach</a:t>
            </a:r>
            <a:r>
              <a:rPr lang="en-US" sz="2400" dirty="0">
                <a:solidFill>
                  <a:srgbClr val="6600FF"/>
                </a:solidFill>
              </a:rPr>
              <a:t>.</a:t>
            </a:r>
          </a:p>
          <a:p>
            <a:pPr>
              <a:lnSpc>
                <a:spcPct val="150000"/>
              </a:lnSpc>
              <a:buFont typeface="Arial" panose="020B0604020202020204" pitchFamily="34" charset="0"/>
              <a:buChar char="•"/>
            </a:pPr>
            <a:r>
              <a:rPr lang="en-US" sz="2400" dirty="0">
                <a:solidFill>
                  <a:srgbClr val="6600FF"/>
                </a:solidFill>
              </a:rPr>
              <a:t>The system is divided into two independent modules:</a:t>
            </a:r>
          </a:p>
          <a:p>
            <a:pPr marL="742950" lvl="1" indent="-285750">
              <a:lnSpc>
                <a:spcPct val="150000"/>
              </a:lnSpc>
              <a:buFont typeface="Arial" panose="020B0604020202020204" pitchFamily="34" charset="0"/>
              <a:buChar char="•"/>
            </a:pPr>
            <a:r>
              <a:rPr lang="en-US" sz="2400" dirty="0">
                <a:solidFill>
                  <a:srgbClr val="6600FF"/>
                </a:solidFill>
              </a:rPr>
              <a:t>Image Processing Module (CNN)</a:t>
            </a:r>
          </a:p>
          <a:p>
            <a:pPr marL="742950" lvl="1" indent="-285750">
              <a:lnSpc>
                <a:spcPct val="150000"/>
              </a:lnSpc>
              <a:buFont typeface="Arial" panose="020B0604020202020204" pitchFamily="34" charset="0"/>
              <a:buChar char="•"/>
            </a:pPr>
            <a:r>
              <a:rPr lang="en-US" sz="2400" dirty="0">
                <a:solidFill>
                  <a:srgbClr val="6600FF"/>
                </a:solidFill>
              </a:rPr>
              <a:t>Symptom Analysis Module (ML Model)</a:t>
            </a:r>
          </a:p>
          <a:p>
            <a:pPr>
              <a:lnSpc>
                <a:spcPct val="150000"/>
              </a:lnSpc>
              <a:buFont typeface="Arial" panose="020B0604020202020204" pitchFamily="34" charset="0"/>
              <a:buChar char="•"/>
            </a:pPr>
            <a:r>
              <a:rPr lang="en-US" sz="2400" dirty="0">
                <a:solidFill>
                  <a:srgbClr val="6600FF"/>
                </a:solidFill>
              </a:rPr>
              <a:t>The outputs of both modules are combined using a fusion layer to generate the final health prediction.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BC54CE4B-C935-D6CD-B821-529E602BA8BD}"/>
            </a:ext>
          </a:extLst>
        </p:cNvPr>
        <p:cNvGrpSpPr/>
        <p:nvPr/>
      </p:nvGrpSpPr>
      <p:grpSpPr>
        <a:xfrm>
          <a:off x="0" y="0"/>
          <a:ext cx="0" cy="0"/>
          <a:chOff x="0" y="0"/>
          <a:chExt cx="0" cy="0"/>
        </a:xfrm>
      </p:grpSpPr>
      <p:sp>
        <p:nvSpPr>
          <p:cNvPr id="45" name="Google Shape;45;p6">
            <a:extLst>
              <a:ext uri="{FF2B5EF4-FFF2-40B4-BE49-F238E27FC236}">
                <a16:creationId xmlns:a16="http://schemas.microsoft.com/office/drawing/2014/main" id="{BD686796-8FEC-7E2D-26FE-75145C591EE9}"/>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a:extLst>
              <a:ext uri="{FF2B5EF4-FFF2-40B4-BE49-F238E27FC236}">
                <a16:creationId xmlns:a16="http://schemas.microsoft.com/office/drawing/2014/main" id="{9C6572F8-E098-7310-2D83-FED90015F212}"/>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dirty="0">
                <a:solidFill>
                  <a:srgbClr val="FF0000"/>
                </a:solidFill>
                <a:latin typeface="Trebuchet MS"/>
                <a:ea typeface="Trebuchet MS"/>
                <a:cs typeface="Trebuchet MS"/>
                <a:sym typeface="Trebuchet MS"/>
              </a:rPr>
              <a:t>Design Approach </a:t>
            </a:r>
            <a:endParaRPr sz="1400"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10D36167-9197-218D-48D1-B29D1143818C}"/>
              </a:ext>
            </a:extLst>
          </p:cNvPr>
          <p:cNvSpPr txBox="1"/>
          <p:nvPr/>
        </p:nvSpPr>
        <p:spPr>
          <a:xfrm>
            <a:off x="1932146" y="1844824"/>
            <a:ext cx="8735854" cy="3347840"/>
          </a:xfrm>
          <a:prstGeom prst="rect">
            <a:avLst/>
          </a:prstGeom>
          <a:noFill/>
        </p:spPr>
        <p:txBody>
          <a:bodyPr wrap="square">
            <a:spAutoFit/>
          </a:bodyPr>
          <a:lstStyle/>
          <a:p>
            <a:pPr>
              <a:lnSpc>
                <a:spcPct val="150000"/>
              </a:lnSpc>
              <a:buNone/>
            </a:pPr>
            <a:r>
              <a:rPr lang="en-US" sz="2400" b="1" dirty="0">
                <a:solidFill>
                  <a:srgbClr val="6600FF"/>
                </a:solidFill>
              </a:rPr>
              <a:t>Why this approach?</a:t>
            </a:r>
            <a:endParaRPr lang="en-US" sz="2400" dirty="0">
              <a:solidFill>
                <a:srgbClr val="6600FF"/>
              </a:solidFill>
            </a:endParaRPr>
          </a:p>
          <a:p>
            <a:pPr>
              <a:lnSpc>
                <a:spcPct val="150000"/>
              </a:lnSpc>
              <a:buFont typeface="Arial" panose="020B0604020202020204" pitchFamily="34" charset="0"/>
              <a:buChar char="•"/>
            </a:pPr>
            <a:r>
              <a:rPr lang="en-US" sz="2400" dirty="0">
                <a:solidFill>
                  <a:srgbClr val="6600FF"/>
                </a:solidFill>
              </a:rPr>
              <a:t>Allows independent development and testing of each module.</a:t>
            </a:r>
          </a:p>
          <a:p>
            <a:pPr>
              <a:lnSpc>
                <a:spcPct val="150000"/>
              </a:lnSpc>
              <a:buFont typeface="Arial" panose="020B0604020202020204" pitchFamily="34" charset="0"/>
              <a:buChar char="•"/>
            </a:pPr>
            <a:r>
              <a:rPr lang="en-US" sz="2400" dirty="0">
                <a:solidFill>
                  <a:srgbClr val="6600FF"/>
                </a:solidFill>
              </a:rPr>
              <a:t>Improves accuracy by combining visual and symptom-based features.</a:t>
            </a:r>
          </a:p>
          <a:p>
            <a:pPr>
              <a:lnSpc>
                <a:spcPct val="150000"/>
              </a:lnSpc>
              <a:buFont typeface="Arial" panose="020B0604020202020204" pitchFamily="34" charset="0"/>
              <a:buChar char="•"/>
            </a:pPr>
            <a:r>
              <a:rPr lang="en-US" sz="2400" dirty="0">
                <a:solidFill>
                  <a:srgbClr val="6600FF"/>
                </a:solidFill>
              </a:rPr>
              <a:t>Suitable for prototype development within limited time.</a:t>
            </a:r>
          </a:p>
          <a:p>
            <a:pPr>
              <a:lnSpc>
                <a:spcPct val="150000"/>
              </a:lnSpc>
              <a:buFont typeface="Arial" panose="020B0604020202020204" pitchFamily="34" charset="0"/>
              <a:buChar char="•"/>
            </a:pPr>
            <a:r>
              <a:rPr lang="en-US" sz="2400" dirty="0">
                <a:solidFill>
                  <a:srgbClr val="6600FF"/>
                </a:solidFill>
              </a:rPr>
              <a:t>Easy to scale and extend in future</a:t>
            </a:r>
          </a:p>
        </p:txBody>
      </p:sp>
    </p:spTree>
    <p:extLst>
      <p:ext uri="{BB962C8B-B14F-4D97-AF65-F5344CB8AC3E}">
        <p14:creationId xmlns:p14="http://schemas.microsoft.com/office/powerpoint/2010/main" val="2565709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370B281C-A531-651D-FDF1-2440F5CCD258}"/>
            </a:ext>
          </a:extLst>
        </p:cNvPr>
        <p:cNvGrpSpPr/>
        <p:nvPr/>
      </p:nvGrpSpPr>
      <p:grpSpPr>
        <a:xfrm>
          <a:off x="0" y="0"/>
          <a:ext cx="0" cy="0"/>
          <a:chOff x="0" y="0"/>
          <a:chExt cx="0" cy="0"/>
        </a:xfrm>
      </p:grpSpPr>
      <p:sp>
        <p:nvSpPr>
          <p:cNvPr id="45" name="Google Shape;45;p6">
            <a:extLst>
              <a:ext uri="{FF2B5EF4-FFF2-40B4-BE49-F238E27FC236}">
                <a16:creationId xmlns:a16="http://schemas.microsoft.com/office/drawing/2014/main" id="{22EE6456-AC84-55DF-B015-7FFDB0131F46}"/>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a:extLst>
              <a:ext uri="{FF2B5EF4-FFF2-40B4-BE49-F238E27FC236}">
                <a16:creationId xmlns:a16="http://schemas.microsoft.com/office/drawing/2014/main" id="{499D7B0C-3488-5952-A486-37C8B7CA655F}"/>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dirty="0">
                <a:solidFill>
                  <a:srgbClr val="FF0000"/>
                </a:solidFill>
                <a:latin typeface="Trebuchet MS"/>
                <a:ea typeface="Trebuchet MS"/>
                <a:cs typeface="Trebuchet MS"/>
                <a:sym typeface="Trebuchet MS"/>
              </a:rPr>
              <a:t>Design Approach </a:t>
            </a:r>
            <a:endParaRPr sz="1400"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879ABC0F-CE15-B6B7-61E5-491270452921}"/>
              </a:ext>
            </a:extLst>
          </p:cNvPr>
          <p:cNvSpPr txBox="1"/>
          <p:nvPr/>
        </p:nvSpPr>
        <p:spPr>
          <a:xfrm>
            <a:off x="1932146" y="1844824"/>
            <a:ext cx="9348430" cy="4455835"/>
          </a:xfrm>
          <a:prstGeom prst="rect">
            <a:avLst/>
          </a:prstGeom>
          <a:noFill/>
        </p:spPr>
        <p:txBody>
          <a:bodyPr wrap="square">
            <a:spAutoFit/>
          </a:bodyPr>
          <a:lstStyle/>
          <a:p>
            <a:pPr>
              <a:lnSpc>
                <a:spcPct val="150000"/>
              </a:lnSpc>
            </a:pPr>
            <a:r>
              <a:rPr lang="en-US" sz="2400" b="1" dirty="0">
                <a:solidFill>
                  <a:srgbClr val="6600FF"/>
                </a:solidFill>
              </a:rPr>
              <a:t>Benefits of this Approach</a:t>
            </a:r>
          </a:p>
          <a:p>
            <a:pPr marL="342900" indent="-342900">
              <a:lnSpc>
                <a:spcPct val="150000"/>
              </a:lnSpc>
              <a:buFont typeface="Arial" panose="020B0604020202020204" pitchFamily="34" charset="0"/>
              <a:buChar char="•"/>
            </a:pPr>
            <a:r>
              <a:rPr lang="en-US" sz="2400" dirty="0">
                <a:solidFill>
                  <a:srgbClr val="6600FF"/>
                </a:solidFill>
              </a:rPr>
              <a:t>Better accuracy compared to single-input systems.</a:t>
            </a:r>
          </a:p>
          <a:p>
            <a:pPr marL="342900" indent="-342900">
              <a:lnSpc>
                <a:spcPct val="150000"/>
              </a:lnSpc>
              <a:buFont typeface="Arial" panose="020B0604020202020204" pitchFamily="34" charset="0"/>
              <a:buChar char="•"/>
            </a:pPr>
            <a:r>
              <a:rPr lang="en-US" sz="2400" dirty="0">
                <a:solidFill>
                  <a:srgbClr val="6600FF"/>
                </a:solidFill>
              </a:rPr>
              <a:t>Clear separation of components (modular design).</a:t>
            </a:r>
          </a:p>
          <a:p>
            <a:pPr marL="342900" indent="-342900">
              <a:lnSpc>
                <a:spcPct val="150000"/>
              </a:lnSpc>
              <a:buFont typeface="Arial" panose="020B0604020202020204" pitchFamily="34" charset="0"/>
              <a:buChar char="•"/>
            </a:pPr>
            <a:r>
              <a:rPr lang="en-US" sz="2400" dirty="0">
                <a:solidFill>
                  <a:srgbClr val="6600FF"/>
                </a:solidFill>
              </a:rPr>
              <a:t>Easier debugging and model improvement.</a:t>
            </a:r>
          </a:p>
          <a:p>
            <a:pPr marL="342900" indent="-342900">
              <a:lnSpc>
                <a:spcPct val="150000"/>
              </a:lnSpc>
              <a:buFont typeface="Arial" panose="020B0604020202020204" pitchFamily="34" charset="0"/>
              <a:buChar char="•"/>
            </a:pPr>
            <a:r>
              <a:rPr lang="en-US" sz="2400" dirty="0">
                <a:solidFill>
                  <a:srgbClr val="6600FF"/>
                </a:solidFill>
              </a:rPr>
              <a:t>Scalable for adding more breeds or diseases.</a:t>
            </a:r>
          </a:p>
          <a:p>
            <a:pPr marL="342900" indent="-342900">
              <a:lnSpc>
                <a:spcPct val="150000"/>
              </a:lnSpc>
              <a:buFont typeface="Arial" panose="020B0604020202020204" pitchFamily="34" charset="0"/>
              <a:buChar char="•"/>
            </a:pPr>
            <a:r>
              <a:rPr lang="en-US" sz="2400" dirty="0">
                <a:solidFill>
                  <a:srgbClr val="6600FF"/>
                </a:solidFill>
              </a:rPr>
              <a:t>Flexible — one module can work even if the other input is missing.</a:t>
            </a:r>
          </a:p>
          <a:p>
            <a:pPr>
              <a:lnSpc>
                <a:spcPct val="150000"/>
              </a:lnSpc>
              <a:buNone/>
            </a:pPr>
            <a:endParaRPr lang="en-US" sz="2400" dirty="0">
              <a:solidFill>
                <a:srgbClr val="6600FF"/>
              </a:solidFill>
            </a:endParaRPr>
          </a:p>
        </p:txBody>
      </p:sp>
    </p:spTree>
    <p:extLst>
      <p:ext uri="{BB962C8B-B14F-4D97-AF65-F5344CB8AC3E}">
        <p14:creationId xmlns:p14="http://schemas.microsoft.com/office/powerpoint/2010/main" val="1539574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B0A06CF-01A9-BDA7-E1D6-7410158249C8}"/>
            </a:ext>
          </a:extLst>
        </p:cNvPr>
        <p:cNvGrpSpPr/>
        <p:nvPr/>
      </p:nvGrpSpPr>
      <p:grpSpPr>
        <a:xfrm>
          <a:off x="0" y="0"/>
          <a:ext cx="0" cy="0"/>
          <a:chOff x="0" y="0"/>
          <a:chExt cx="0" cy="0"/>
        </a:xfrm>
      </p:grpSpPr>
      <p:sp>
        <p:nvSpPr>
          <p:cNvPr id="45" name="Google Shape;45;p6">
            <a:extLst>
              <a:ext uri="{FF2B5EF4-FFF2-40B4-BE49-F238E27FC236}">
                <a16:creationId xmlns:a16="http://schemas.microsoft.com/office/drawing/2014/main" id="{064194F1-AEA5-5233-5C46-7A2843CEEDB9}"/>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a:extLst>
              <a:ext uri="{FF2B5EF4-FFF2-40B4-BE49-F238E27FC236}">
                <a16:creationId xmlns:a16="http://schemas.microsoft.com/office/drawing/2014/main" id="{7A7E573B-684B-C4C2-6DB1-E6A72034EB48}"/>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dirty="0">
                <a:solidFill>
                  <a:srgbClr val="FF0000"/>
                </a:solidFill>
                <a:latin typeface="Trebuchet MS"/>
                <a:ea typeface="Trebuchet MS"/>
                <a:cs typeface="Trebuchet MS"/>
                <a:sym typeface="Trebuchet MS"/>
              </a:rPr>
              <a:t>Design Approach </a:t>
            </a:r>
            <a:endParaRPr sz="1400"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2B9D5F45-57BA-ED22-EF33-B522F528AAFC}"/>
              </a:ext>
            </a:extLst>
          </p:cNvPr>
          <p:cNvSpPr txBox="1"/>
          <p:nvPr/>
        </p:nvSpPr>
        <p:spPr>
          <a:xfrm>
            <a:off x="1932146" y="1844824"/>
            <a:ext cx="9708470" cy="3901837"/>
          </a:xfrm>
          <a:prstGeom prst="rect">
            <a:avLst/>
          </a:prstGeom>
          <a:noFill/>
        </p:spPr>
        <p:txBody>
          <a:bodyPr wrap="square">
            <a:spAutoFit/>
          </a:bodyPr>
          <a:lstStyle/>
          <a:p>
            <a:pPr>
              <a:lnSpc>
                <a:spcPct val="150000"/>
              </a:lnSpc>
            </a:pPr>
            <a:r>
              <a:rPr lang="en-US" sz="2400" b="1" dirty="0">
                <a:solidFill>
                  <a:srgbClr val="6600FF"/>
                </a:solidFill>
              </a:rPr>
              <a:t>Drawbacks (Limitations)</a:t>
            </a:r>
          </a:p>
          <a:p>
            <a:pPr marL="342900" indent="-342900">
              <a:lnSpc>
                <a:spcPct val="150000"/>
              </a:lnSpc>
              <a:buFont typeface="Arial" panose="020B0604020202020204" pitchFamily="34" charset="0"/>
              <a:buChar char="•"/>
            </a:pPr>
            <a:r>
              <a:rPr lang="en-US" sz="2400" dirty="0">
                <a:solidFill>
                  <a:srgbClr val="6600FF"/>
                </a:solidFill>
              </a:rPr>
              <a:t>Requires separate dataset preparation for images and symptoms.</a:t>
            </a:r>
          </a:p>
          <a:p>
            <a:pPr marL="342900" indent="-342900">
              <a:lnSpc>
                <a:spcPct val="150000"/>
              </a:lnSpc>
              <a:buFont typeface="Arial" panose="020B0604020202020204" pitchFamily="34" charset="0"/>
              <a:buChar char="•"/>
            </a:pPr>
            <a:r>
              <a:rPr lang="en-US" sz="2400" dirty="0">
                <a:solidFill>
                  <a:srgbClr val="6600FF"/>
                </a:solidFill>
              </a:rPr>
              <a:t>Fusion logic increases system complexity.</a:t>
            </a:r>
          </a:p>
          <a:p>
            <a:pPr marL="342900" indent="-342900">
              <a:lnSpc>
                <a:spcPct val="150000"/>
              </a:lnSpc>
              <a:buFont typeface="Arial" panose="020B0604020202020204" pitchFamily="34" charset="0"/>
              <a:buChar char="•"/>
            </a:pPr>
            <a:r>
              <a:rPr lang="en-US" sz="2400" dirty="0">
                <a:solidFill>
                  <a:srgbClr val="6600FF"/>
                </a:solidFill>
              </a:rPr>
              <a:t>Performance depends heavily on dataset quality.</a:t>
            </a:r>
          </a:p>
          <a:p>
            <a:pPr marL="342900" indent="-342900">
              <a:lnSpc>
                <a:spcPct val="150000"/>
              </a:lnSpc>
              <a:buFont typeface="Arial" panose="020B0604020202020204" pitchFamily="34" charset="0"/>
              <a:buChar char="•"/>
            </a:pPr>
            <a:r>
              <a:rPr lang="en-US" sz="2400" dirty="0">
                <a:solidFill>
                  <a:srgbClr val="6600FF"/>
                </a:solidFill>
              </a:rPr>
              <a:t>May require more training time.</a:t>
            </a:r>
          </a:p>
          <a:p>
            <a:pPr>
              <a:lnSpc>
                <a:spcPct val="150000"/>
              </a:lnSpc>
            </a:pPr>
            <a:endParaRPr lang="en-US" sz="2400" dirty="0">
              <a:solidFill>
                <a:srgbClr val="6600FF"/>
              </a:solidFill>
            </a:endParaRPr>
          </a:p>
          <a:p>
            <a:pPr>
              <a:lnSpc>
                <a:spcPct val="150000"/>
              </a:lnSpc>
              <a:buNone/>
            </a:pPr>
            <a:endParaRPr lang="en-US" sz="2400" dirty="0">
              <a:solidFill>
                <a:srgbClr val="6600FF"/>
              </a:solidFill>
            </a:endParaRPr>
          </a:p>
        </p:txBody>
      </p:sp>
    </p:spTree>
    <p:extLst>
      <p:ext uri="{BB962C8B-B14F-4D97-AF65-F5344CB8AC3E}">
        <p14:creationId xmlns:p14="http://schemas.microsoft.com/office/powerpoint/2010/main" val="2905186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7D0CAC0B-7C2D-C726-C12B-F19778099DEB}"/>
            </a:ext>
          </a:extLst>
        </p:cNvPr>
        <p:cNvGrpSpPr/>
        <p:nvPr/>
      </p:nvGrpSpPr>
      <p:grpSpPr>
        <a:xfrm>
          <a:off x="0" y="0"/>
          <a:ext cx="0" cy="0"/>
          <a:chOff x="0" y="0"/>
          <a:chExt cx="0" cy="0"/>
        </a:xfrm>
      </p:grpSpPr>
      <p:sp>
        <p:nvSpPr>
          <p:cNvPr id="45" name="Google Shape;45;p6">
            <a:extLst>
              <a:ext uri="{FF2B5EF4-FFF2-40B4-BE49-F238E27FC236}">
                <a16:creationId xmlns:a16="http://schemas.microsoft.com/office/drawing/2014/main" id="{A44200AF-9A57-4568-DA77-9D78ABF6DF9A}"/>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a:extLst>
              <a:ext uri="{FF2B5EF4-FFF2-40B4-BE49-F238E27FC236}">
                <a16:creationId xmlns:a16="http://schemas.microsoft.com/office/drawing/2014/main" id="{B58E450C-7DE5-76D9-79FE-B01771605CAD}"/>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dirty="0">
                <a:solidFill>
                  <a:srgbClr val="FF0000"/>
                </a:solidFill>
                <a:latin typeface="Trebuchet MS"/>
                <a:ea typeface="Trebuchet MS"/>
                <a:cs typeface="Trebuchet MS"/>
                <a:sym typeface="Trebuchet MS"/>
              </a:rPr>
              <a:t>Design Approach </a:t>
            </a:r>
            <a:endParaRPr sz="1400"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1A19ED73-94C1-26F5-4035-E97E3EABD646}"/>
              </a:ext>
            </a:extLst>
          </p:cNvPr>
          <p:cNvSpPr txBox="1"/>
          <p:nvPr/>
        </p:nvSpPr>
        <p:spPr>
          <a:xfrm>
            <a:off x="1932146" y="1844824"/>
            <a:ext cx="10140518" cy="5194499"/>
          </a:xfrm>
          <a:prstGeom prst="rect">
            <a:avLst/>
          </a:prstGeom>
          <a:noFill/>
        </p:spPr>
        <p:txBody>
          <a:bodyPr wrap="square">
            <a:spAutoFit/>
          </a:bodyPr>
          <a:lstStyle/>
          <a:p>
            <a:pPr>
              <a:lnSpc>
                <a:spcPct val="150000"/>
              </a:lnSpc>
            </a:pPr>
            <a:r>
              <a:rPr lang="en-US" sz="2000" b="1" dirty="0">
                <a:solidFill>
                  <a:srgbClr val="6600FF"/>
                </a:solidFill>
              </a:rPr>
              <a:t>Alternate Design Approaches</a:t>
            </a:r>
          </a:p>
          <a:p>
            <a:pPr marL="342900" indent="-342900">
              <a:lnSpc>
                <a:spcPct val="150000"/>
              </a:lnSpc>
              <a:buFont typeface="+mj-lt"/>
              <a:buAutoNum type="arabicPeriod"/>
            </a:pPr>
            <a:r>
              <a:rPr lang="en-US" sz="2000" b="1" dirty="0">
                <a:solidFill>
                  <a:srgbClr val="6600FF"/>
                </a:solidFill>
              </a:rPr>
              <a:t>Single Input System</a:t>
            </a:r>
            <a:endParaRPr lang="en-US" sz="2000" dirty="0">
              <a:solidFill>
                <a:srgbClr val="6600FF"/>
              </a:solidFill>
            </a:endParaRPr>
          </a:p>
          <a:p>
            <a:pPr marL="800100" lvl="1" indent="-342900">
              <a:lnSpc>
                <a:spcPct val="150000"/>
              </a:lnSpc>
              <a:buFont typeface="Arial" panose="020B0604020202020204" pitchFamily="34" charset="0"/>
              <a:buChar char="•"/>
            </a:pPr>
            <a:r>
              <a:rPr lang="en-US" sz="2000" dirty="0">
                <a:solidFill>
                  <a:srgbClr val="6600FF"/>
                </a:solidFill>
              </a:rPr>
              <a:t>Only image-based or only symptom-based.</a:t>
            </a:r>
          </a:p>
          <a:p>
            <a:pPr marL="800100" lvl="1" indent="-342900">
              <a:lnSpc>
                <a:spcPct val="150000"/>
              </a:lnSpc>
              <a:buFont typeface="Arial" panose="020B0604020202020204" pitchFamily="34" charset="0"/>
              <a:buChar char="•"/>
            </a:pPr>
            <a:r>
              <a:rPr lang="en-US" sz="2000" dirty="0">
                <a:solidFill>
                  <a:srgbClr val="6600FF"/>
                </a:solidFill>
              </a:rPr>
              <a:t>Simpler but less accurate.</a:t>
            </a:r>
          </a:p>
          <a:p>
            <a:pPr marL="342900" indent="-342900">
              <a:lnSpc>
                <a:spcPct val="150000"/>
              </a:lnSpc>
              <a:buFont typeface="+mj-lt"/>
              <a:buAutoNum type="arabicPeriod"/>
            </a:pPr>
            <a:r>
              <a:rPr lang="en-US" sz="2000" b="1" dirty="0">
                <a:solidFill>
                  <a:srgbClr val="6600FF"/>
                </a:solidFill>
              </a:rPr>
              <a:t>Early Fusion Approach</a:t>
            </a:r>
            <a:endParaRPr lang="en-US" sz="2000" dirty="0">
              <a:solidFill>
                <a:srgbClr val="6600FF"/>
              </a:solidFill>
            </a:endParaRPr>
          </a:p>
          <a:p>
            <a:pPr marL="800100" lvl="1" indent="-342900">
              <a:lnSpc>
                <a:spcPct val="150000"/>
              </a:lnSpc>
              <a:buFont typeface="Arial" panose="020B0604020202020204" pitchFamily="34" charset="0"/>
              <a:buChar char="•"/>
            </a:pPr>
            <a:r>
              <a:rPr lang="en-US" sz="2000" dirty="0">
                <a:solidFill>
                  <a:srgbClr val="6600FF"/>
                </a:solidFill>
              </a:rPr>
              <a:t>Combine image and symptom features before classification.</a:t>
            </a:r>
          </a:p>
          <a:p>
            <a:pPr marL="800100" lvl="1" indent="-342900">
              <a:lnSpc>
                <a:spcPct val="150000"/>
              </a:lnSpc>
              <a:buFont typeface="Arial" panose="020B0604020202020204" pitchFamily="34" charset="0"/>
              <a:buChar char="•"/>
            </a:pPr>
            <a:r>
              <a:rPr lang="en-US" sz="2000" dirty="0">
                <a:solidFill>
                  <a:srgbClr val="6600FF"/>
                </a:solidFill>
              </a:rPr>
              <a:t>More complex and requires aligned multimodal datasets.</a:t>
            </a:r>
          </a:p>
          <a:p>
            <a:pPr marL="342900" indent="-342900">
              <a:lnSpc>
                <a:spcPct val="150000"/>
              </a:lnSpc>
              <a:buFont typeface="+mj-lt"/>
              <a:buAutoNum type="arabicPeriod"/>
            </a:pPr>
            <a:r>
              <a:rPr lang="en-US" sz="2000" b="1" dirty="0">
                <a:solidFill>
                  <a:srgbClr val="6600FF"/>
                </a:solidFill>
              </a:rPr>
              <a:t>Rule-Based Expert System</a:t>
            </a:r>
            <a:endParaRPr lang="en-US" sz="2000" dirty="0">
              <a:solidFill>
                <a:srgbClr val="6600FF"/>
              </a:solidFill>
            </a:endParaRPr>
          </a:p>
          <a:p>
            <a:pPr marL="800100" lvl="1" indent="-342900">
              <a:lnSpc>
                <a:spcPct val="150000"/>
              </a:lnSpc>
              <a:buFont typeface="Arial" panose="020B0604020202020204" pitchFamily="34" charset="0"/>
              <a:buChar char="•"/>
            </a:pPr>
            <a:r>
              <a:rPr lang="en-US" sz="2000" dirty="0">
                <a:solidFill>
                  <a:srgbClr val="6600FF"/>
                </a:solidFill>
              </a:rPr>
              <a:t>Predefined symptom rules.</a:t>
            </a:r>
          </a:p>
          <a:p>
            <a:pPr marL="800100" lvl="1" indent="-342900">
              <a:lnSpc>
                <a:spcPct val="150000"/>
              </a:lnSpc>
              <a:buFont typeface="Arial" panose="020B0604020202020204" pitchFamily="34" charset="0"/>
              <a:buChar char="•"/>
            </a:pPr>
            <a:r>
              <a:rPr lang="en-US" sz="2000" dirty="0">
                <a:solidFill>
                  <a:srgbClr val="6600FF"/>
                </a:solidFill>
              </a:rPr>
              <a:t>Less flexible and not scalable.</a:t>
            </a:r>
          </a:p>
          <a:p>
            <a:pPr>
              <a:lnSpc>
                <a:spcPct val="150000"/>
              </a:lnSpc>
              <a:buNone/>
            </a:pPr>
            <a:endParaRPr lang="en-US" sz="2400" dirty="0">
              <a:solidFill>
                <a:srgbClr val="6600FF"/>
              </a:solidFill>
            </a:endParaRPr>
          </a:p>
        </p:txBody>
      </p:sp>
    </p:spTree>
    <p:extLst>
      <p:ext uri="{BB962C8B-B14F-4D97-AF65-F5344CB8AC3E}">
        <p14:creationId xmlns:p14="http://schemas.microsoft.com/office/powerpoint/2010/main" val="1837213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Design Constraints, Assumptions &amp; Dependencies</a:t>
            </a:r>
            <a:endParaRPr lang="en-US" sz="2400" dirty="0"/>
          </a:p>
        </p:txBody>
      </p:sp>
      <p:sp>
        <p:nvSpPr>
          <p:cNvPr id="54" name="Google Shape;54;p7"/>
          <p:cNvSpPr txBox="1"/>
          <p:nvPr/>
        </p:nvSpPr>
        <p:spPr>
          <a:xfrm>
            <a:off x="1271464" y="2204864"/>
            <a:ext cx="10441160" cy="4014192"/>
          </a:xfrm>
          <a:prstGeom prst="rect">
            <a:avLst/>
          </a:prstGeom>
          <a:noFill/>
          <a:ln>
            <a:noFill/>
          </a:ln>
        </p:spPr>
        <p:txBody>
          <a:bodyPr spcFirstLastPara="1" wrap="square" lIns="91425" tIns="45700" rIns="91425" bIns="45700" anchor="ctr" anchorCtr="0">
            <a:noAutofit/>
          </a:bodyPr>
          <a:lstStyle/>
          <a:p>
            <a:pPr>
              <a:lnSpc>
                <a:spcPct val="150000"/>
              </a:lnSpc>
            </a:pPr>
            <a:r>
              <a:rPr lang="en-US" sz="2400" b="1" dirty="0">
                <a:solidFill>
                  <a:srgbClr val="6600FF"/>
                </a:solidFill>
              </a:rPr>
              <a:t>Design Constraints </a:t>
            </a:r>
          </a:p>
          <a:p>
            <a:pPr marL="342900" indent="-342900">
              <a:lnSpc>
                <a:spcPct val="150000"/>
              </a:lnSpc>
              <a:buFont typeface="Arial" panose="020B0604020202020204" pitchFamily="34" charset="0"/>
              <a:buChar char="•"/>
            </a:pPr>
            <a:r>
              <a:rPr lang="en-US" sz="2400" dirty="0">
                <a:solidFill>
                  <a:srgbClr val="6600FF"/>
                </a:solidFill>
              </a:rPr>
              <a:t>Limited availability of multimodal datasets containing both image and symptom data together.</a:t>
            </a:r>
          </a:p>
          <a:p>
            <a:pPr marL="342900" indent="-342900">
              <a:lnSpc>
                <a:spcPct val="150000"/>
              </a:lnSpc>
              <a:buFont typeface="Arial" panose="020B0604020202020204" pitchFamily="34" charset="0"/>
              <a:buChar char="•"/>
            </a:pPr>
            <a:r>
              <a:rPr lang="en-US" sz="2400" dirty="0">
                <a:solidFill>
                  <a:srgbClr val="6600FF"/>
                </a:solidFill>
              </a:rPr>
              <a:t>Variations across different dog breeds (size, coat type, disease patterns) increase model complexity.</a:t>
            </a:r>
          </a:p>
          <a:p>
            <a:pPr marL="342900" indent="-342900">
              <a:lnSpc>
                <a:spcPct val="150000"/>
              </a:lnSpc>
              <a:buFont typeface="Arial" panose="020B0604020202020204" pitchFamily="34" charset="0"/>
              <a:buChar char="•"/>
            </a:pPr>
            <a:r>
              <a:rPr lang="en-US" sz="2400" dirty="0">
                <a:solidFill>
                  <a:srgbClr val="6600FF"/>
                </a:solidFill>
              </a:rPr>
              <a:t>Limited computational resources and absence of high-end GPUs for large-scale training.</a:t>
            </a:r>
          </a:p>
          <a:p>
            <a:pPr marL="342900" indent="-342900">
              <a:lnSpc>
                <a:spcPct val="150000"/>
              </a:lnSpc>
              <a:buFont typeface="Arial" panose="020B0604020202020204" pitchFamily="34" charset="0"/>
              <a:buChar char="•"/>
            </a:pPr>
            <a:r>
              <a:rPr lang="en-US" sz="2400" dirty="0">
                <a:solidFill>
                  <a:srgbClr val="6600FF"/>
                </a:solidFill>
              </a:rPr>
              <a:t>Prototype-level implementation without full clinical validation.</a:t>
            </a:r>
          </a:p>
          <a:p>
            <a:pPr marL="457200" algn="just">
              <a:spcBef>
                <a:spcPts val="480"/>
              </a:spcBef>
              <a:spcAft>
                <a:spcPts val="0"/>
              </a:spcAft>
            </a:pPr>
            <a:endParaRPr lang="en-US" sz="2400" dirty="0">
              <a:solidFill>
                <a:srgbClr val="0033CC"/>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1">
          <a:extLst>
            <a:ext uri="{FF2B5EF4-FFF2-40B4-BE49-F238E27FC236}">
              <a16:creationId xmlns:a16="http://schemas.microsoft.com/office/drawing/2014/main" id="{E3586168-FF19-8404-C0D8-44889F4C4ADD}"/>
            </a:ext>
          </a:extLst>
        </p:cNvPr>
        <p:cNvGrpSpPr/>
        <p:nvPr/>
      </p:nvGrpSpPr>
      <p:grpSpPr>
        <a:xfrm>
          <a:off x="0" y="0"/>
          <a:ext cx="0" cy="0"/>
          <a:chOff x="0" y="0"/>
          <a:chExt cx="0" cy="0"/>
        </a:xfrm>
      </p:grpSpPr>
      <p:sp>
        <p:nvSpPr>
          <p:cNvPr id="52" name="Google Shape;52;p7">
            <a:extLst>
              <a:ext uri="{FF2B5EF4-FFF2-40B4-BE49-F238E27FC236}">
                <a16:creationId xmlns:a16="http://schemas.microsoft.com/office/drawing/2014/main" id="{FD396491-731A-D7E6-0694-BD59D90FF8AF}"/>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a:extLst>
              <a:ext uri="{FF2B5EF4-FFF2-40B4-BE49-F238E27FC236}">
                <a16:creationId xmlns:a16="http://schemas.microsoft.com/office/drawing/2014/main" id="{9EB8712E-2158-7E67-6334-0A32C7E8F2E8}"/>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Design Constraints, Assumptions &amp; Dependencies</a:t>
            </a:r>
            <a:endParaRPr lang="en-US" sz="2400" dirty="0"/>
          </a:p>
        </p:txBody>
      </p:sp>
      <p:sp>
        <p:nvSpPr>
          <p:cNvPr id="54" name="Google Shape;54;p7">
            <a:extLst>
              <a:ext uri="{FF2B5EF4-FFF2-40B4-BE49-F238E27FC236}">
                <a16:creationId xmlns:a16="http://schemas.microsoft.com/office/drawing/2014/main" id="{92BADBF1-44EF-20A9-0B5F-F344130550F3}"/>
              </a:ext>
            </a:extLst>
          </p:cNvPr>
          <p:cNvSpPr txBox="1"/>
          <p:nvPr/>
        </p:nvSpPr>
        <p:spPr>
          <a:xfrm>
            <a:off x="1703512" y="2420888"/>
            <a:ext cx="9619900" cy="3091275"/>
          </a:xfrm>
          <a:prstGeom prst="rect">
            <a:avLst/>
          </a:prstGeom>
          <a:noFill/>
          <a:ln>
            <a:noFill/>
          </a:ln>
        </p:spPr>
        <p:txBody>
          <a:bodyPr spcFirstLastPara="1" wrap="square" lIns="91425" tIns="45700" rIns="91425" bIns="45700" anchor="ctr" anchorCtr="0">
            <a:noAutofit/>
          </a:bodyPr>
          <a:lstStyle/>
          <a:p>
            <a:pPr>
              <a:lnSpc>
                <a:spcPct val="150000"/>
              </a:lnSpc>
            </a:pPr>
            <a:r>
              <a:rPr lang="en-US" sz="2400" b="1" dirty="0">
                <a:solidFill>
                  <a:srgbClr val="6600FF"/>
                </a:solidFill>
              </a:rPr>
              <a:t>Assumptions</a:t>
            </a:r>
          </a:p>
          <a:p>
            <a:pPr marL="342900" indent="-342900">
              <a:lnSpc>
                <a:spcPct val="150000"/>
              </a:lnSpc>
              <a:buFont typeface="Arial" panose="020B0604020202020204" pitchFamily="34" charset="0"/>
              <a:buChar char="•"/>
            </a:pPr>
            <a:r>
              <a:rPr lang="en-US" sz="2400" dirty="0">
                <a:solidFill>
                  <a:srgbClr val="6600FF"/>
                </a:solidFill>
              </a:rPr>
              <a:t>Uploaded dog images are clear and properly visible.</a:t>
            </a:r>
          </a:p>
          <a:p>
            <a:pPr marL="342900" indent="-342900">
              <a:lnSpc>
                <a:spcPct val="150000"/>
              </a:lnSpc>
              <a:buFont typeface="Arial" panose="020B0604020202020204" pitchFamily="34" charset="0"/>
              <a:buChar char="•"/>
            </a:pPr>
            <a:r>
              <a:rPr lang="en-US" sz="2400" dirty="0">
                <a:solidFill>
                  <a:srgbClr val="6600FF"/>
                </a:solidFill>
              </a:rPr>
              <a:t>Users provide basic and correct symptom information.</a:t>
            </a:r>
          </a:p>
          <a:p>
            <a:pPr marL="342900" indent="-342900">
              <a:lnSpc>
                <a:spcPct val="150000"/>
              </a:lnSpc>
              <a:buFont typeface="Arial" panose="020B0604020202020204" pitchFamily="34" charset="0"/>
              <a:buChar char="•"/>
            </a:pPr>
            <a:r>
              <a:rPr lang="en-US" sz="2400" dirty="0">
                <a:solidFill>
                  <a:srgbClr val="6600FF"/>
                </a:solidFill>
              </a:rPr>
              <a:t>Selected breeds effectively represent small, medium, and large categories.</a:t>
            </a:r>
          </a:p>
          <a:p>
            <a:pPr marL="342900" indent="-342900">
              <a:lnSpc>
                <a:spcPct val="150000"/>
              </a:lnSpc>
              <a:buFont typeface="Arial" panose="020B0604020202020204" pitchFamily="34" charset="0"/>
              <a:buChar char="•"/>
            </a:pPr>
            <a:r>
              <a:rPr lang="en-US" sz="2400" dirty="0">
                <a:solidFill>
                  <a:srgbClr val="6600FF"/>
                </a:solidFill>
              </a:rPr>
              <a:t>Public datasets are sufficiently labeled and reliable.</a:t>
            </a:r>
          </a:p>
          <a:p>
            <a:pPr marL="342900" indent="-342900">
              <a:lnSpc>
                <a:spcPct val="150000"/>
              </a:lnSpc>
              <a:buFont typeface="Arial" panose="020B0604020202020204" pitchFamily="34" charset="0"/>
              <a:buChar char="•"/>
            </a:pPr>
            <a:r>
              <a:rPr lang="en-US" sz="2400" dirty="0">
                <a:solidFill>
                  <a:srgbClr val="6600FF"/>
                </a:solidFill>
              </a:rPr>
              <a:t>System output is intended only for preliminary health assessment.</a:t>
            </a:r>
          </a:p>
          <a:p>
            <a:pPr marL="457200" algn="just">
              <a:spcBef>
                <a:spcPts val="480"/>
              </a:spcBef>
              <a:spcAft>
                <a:spcPts val="0"/>
              </a:spcAft>
            </a:pPr>
            <a:endParaRPr lang="en-US" sz="2400" dirty="0">
              <a:solidFill>
                <a:srgbClr val="0033CC"/>
              </a:solidFill>
              <a:latin typeface="Trebuchet MS"/>
              <a:ea typeface="Trebuchet MS"/>
              <a:cs typeface="Trebuchet MS"/>
              <a:sym typeface="Trebuchet MS"/>
            </a:endParaRPr>
          </a:p>
        </p:txBody>
      </p:sp>
    </p:spTree>
    <p:extLst>
      <p:ext uri="{BB962C8B-B14F-4D97-AF65-F5344CB8AC3E}">
        <p14:creationId xmlns:p14="http://schemas.microsoft.com/office/powerpoint/2010/main" val="3285780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
          <a:extLst>
            <a:ext uri="{FF2B5EF4-FFF2-40B4-BE49-F238E27FC236}">
              <a16:creationId xmlns:a16="http://schemas.microsoft.com/office/drawing/2014/main" id="{E727BE58-7390-9E7C-6DC0-06ED06A4849C}"/>
            </a:ext>
          </a:extLst>
        </p:cNvPr>
        <p:cNvGrpSpPr/>
        <p:nvPr/>
      </p:nvGrpSpPr>
      <p:grpSpPr>
        <a:xfrm>
          <a:off x="0" y="0"/>
          <a:ext cx="0" cy="0"/>
          <a:chOff x="0" y="0"/>
          <a:chExt cx="0" cy="0"/>
        </a:xfrm>
      </p:grpSpPr>
      <p:sp>
        <p:nvSpPr>
          <p:cNvPr id="52" name="Google Shape;52;p7">
            <a:extLst>
              <a:ext uri="{FF2B5EF4-FFF2-40B4-BE49-F238E27FC236}">
                <a16:creationId xmlns:a16="http://schemas.microsoft.com/office/drawing/2014/main" id="{B83E6AE9-82B7-9372-98B7-C6342B381D3A}"/>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a:extLst>
              <a:ext uri="{FF2B5EF4-FFF2-40B4-BE49-F238E27FC236}">
                <a16:creationId xmlns:a16="http://schemas.microsoft.com/office/drawing/2014/main" id="{3BEDE3CD-25E9-6E11-3E76-37B2FC16957D}"/>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Design Constraints, Assumptions &amp; Dependencies</a:t>
            </a:r>
            <a:endParaRPr lang="en-US" sz="2400" dirty="0"/>
          </a:p>
        </p:txBody>
      </p:sp>
      <p:sp>
        <p:nvSpPr>
          <p:cNvPr id="54" name="Google Shape;54;p7">
            <a:extLst>
              <a:ext uri="{FF2B5EF4-FFF2-40B4-BE49-F238E27FC236}">
                <a16:creationId xmlns:a16="http://schemas.microsoft.com/office/drawing/2014/main" id="{B7E3C978-5E51-DE23-E188-294E64568188}"/>
              </a:ext>
            </a:extLst>
          </p:cNvPr>
          <p:cNvSpPr txBox="1"/>
          <p:nvPr/>
        </p:nvSpPr>
        <p:spPr>
          <a:xfrm>
            <a:off x="1971850" y="2420888"/>
            <a:ext cx="9619900" cy="3091275"/>
          </a:xfrm>
          <a:prstGeom prst="rect">
            <a:avLst/>
          </a:prstGeom>
          <a:noFill/>
          <a:ln>
            <a:noFill/>
          </a:ln>
        </p:spPr>
        <p:txBody>
          <a:bodyPr spcFirstLastPara="1" wrap="square" lIns="91425" tIns="45700" rIns="91425" bIns="45700" anchor="ctr" anchorCtr="0">
            <a:noAutofit/>
          </a:bodyPr>
          <a:lstStyle/>
          <a:p>
            <a:pPr>
              <a:lnSpc>
                <a:spcPct val="150000"/>
              </a:lnSpc>
            </a:pPr>
            <a:r>
              <a:rPr lang="en-US" sz="2400" b="1" dirty="0">
                <a:solidFill>
                  <a:srgbClr val="6600FF"/>
                </a:solidFill>
              </a:rPr>
              <a:t>Dependencies</a:t>
            </a:r>
          </a:p>
          <a:p>
            <a:pPr marL="342900" indent="-342900">
              <a:lnSpc>
                <a:spcPct val="150000"/>
              </a:lnSpc>
              <a:buFont typeface="Arial" panose="020B0604020202020204" pitchFamily="34" charset="0"/>
              <a:buChar char="•"/>
            </a:pPr>
            <a:r>
              <a:rPr lang="en-US" sz="2400" dirty="0">
                <a:solidFill>
                  <a:srgbClr val="6600FF"/>
                </a:solidFill>
              </a:rPr>
              <a:t>Availability and quality of public datasets from Kaggle, </a:t>
            </a:r>
            <a:r>
              <a:rPr lang="en-US" sz="2400" dirty="0" err="1">
                <a:solidFill>
                  <a:srgbClr val="6600FF"/>
                </a:solidFill>
              </a:rPr>
              <a:t>Roboflow</a:t>
            </a:r>
            <a:r>
              <a:rPr lang="en-US" sz="2400" dirty="0">
                <a:solidFill>
                  <a:srgbClr val="6600FF"/>
                </a:solidFill>
              </a:rPr>
              <a:t>, and Stanford Dogs.</a:t>
            </a:r>
          </a:p>
          <a:p>
            <a:pPr marL="342900" indent="-342900">
              <a:lnSpc>
                <a:spcPct val="150000"/>
              </a:lnSpc>
              <a:buFont typeface="Arial" panose="020B0604020202020204" pitchFamily="34" charset="0"/>
              <a:buChar char="•"/>
            </a:pPr>
            <a:r>
              <a:rPr lang="en-US" sz="2400" dirty="0">
                <a:solidFill>
                  <a:srgbClr val="6600FF"/>
                </a:solidFill>
              </a:rPr>
              <a:t>Performance of CNN for image-based analysis.</a:t>
            </a:r>
          </a:p>
          <a:p>
            <a:pPr marL="342900" indent="-342900">
              <a:lnSpc>
                <a:spcPct val="150000"/>
              </a:lnSpc>
              <a:buFont typeface="Arial" panose="020B0604020202020204" pitchFamily="34" charset="0"/>
              <a:buChar char="•"/>
            </a:pPr>
            <a:r>
              <a:rPr lang="en-US" sz="2400" dirty="0">
                <a:solidFill>
                  <a:srgbClr val="6600FF"/>
                </a:solidFill>
              </a:rPr>
              <a:t>Proper preprocessing and encoding of symptom data.</a:t>
            </a:r>
          </a:p>
          <a:p>
            <a:pPr marL="342900" indent="-342900">
              <a:lnSpc>
                <a:spcPct val="150000"/>
              </a:lnSpc>
              <a:buFont typeface="Arial" panose="020B0604020202020204" pitchFamily="34" charset="0"/>
              <a:buChar char="•"/>
            </a:pPr>
            <a:r>
              <a:rPr lang="en-US" sz="2400" dirty="0">
                <a:solidFill>
                  <a:srgbClr val="6600FF"/>
                </a:solidFill>
              </a:rPr>
              <a:t>Successful integration of image and symptom models.</a:t>
            </a:r>
          </a:p>
          <a:p>
            <a:pPr marL="342900" indent="-342900">
              <a:lnSpc>
                <a:spcPct val="150000"/>
              </a:lnSpc>
              <a:buFont typeface="Arial" panose="020B0604020202020204" pitchFamily="34" charset="0"/>
              <a:buChar char="•"/>
            </a:pPr>
            <a:r>
              <a:rPr lang="en-US" sz="2400" dirty="0">
                <a:solidFill>
                  <a:srgbClr val="6600FF"/>
                </a:solidFill>
              </a:rPr>
              <a:t>Regular guidance and feedback from project mentor.</a:t>
            </a:r>
          </a:p>
          <a:p>
            <a:pPr marL="457200" algn="just">
              <a:spcBef>
                <a:spcPts val="480"/>
              </a:spcBef>
              <a:spcAft>
                <a:spcPts val="0"/>
              </a:spcAft>
            </a:pPr>
            <a:endParaRPr lang="en-US" sz="2400" dirty="0">
              <a:solidFill>
                <a:srgbClr val="0033CC"/>
              </a:solidFill>
              <a:latin typeface="Trebuchet MS"/>
              <a:ea typeface="Trebuchet MS"/>
              <a:cs typeface="Trebuchet MS"/>
              <a:sym typeface="Trebuchet MS"/>
            </a:endParaRPr>
          </a:p>
        </p:txBody>
      </p:sp>
    </p:spTree>
    <p:extLst>
      <p:ext uri="{BB962C8B-B14F-4D97-AF65-F5344CB8AC3E}">
        <p14:creationId xmlns:p14="http://schemas.microsoft.com/office/powerpoint/2010/main" val="3993049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dirty="0">
                <a:solidFill>
                  <a:srgbClr val="FF0000"/>
                </a:solidFill>
                <a:latin typeface="Trebuchet MS"/>
                <a:ea typeface="Trebuchet MS"/>
                <a:cs typeface="Trebuchet MS"/>
                <a:sym typeface="Trebuchet MS"/>
              </a:rPr>
              <a:t>Design Details</a:t>
            </a:r>
          </a:p>
        </p:txBody>
      </p:sp>
      <p:sp>
        <p:nvSpPr>
          <p:cNvPr id="47" name="Google Shape;47;p6"/>
          <p:cNvSpPr txBox="1"/>
          <p:nvPr/>
        </p:nvSpPr>
        <p:spPr>
          <a:xfrm>
            <a:off x="1127448" y="2636912"/>
            <a:ext cx="10439400" cy="2777250"/>
          </a:xfrm>
          <a:prstGeom prst="rect">
            <a:avLst/>
          </a:prstGeom>
          <a:noFill/>
          <a:ln>
            <a:noFill/>
          </a:ln>
        </p:spPr>
        <p:txBody>
          <a:bodyPr spcFirstLastPara="1" wrap="square" lIns="91425" tIns="45700" rIns="91425" bIns="45700" anchor="ctr" anchorCtr="0">
            <a:noAutofit/>
          </a:bodyPr>
          <a:lstStyle/>
          <a:p>
            <a:r>
              <a:rPr lang="en-US" sz="2400" b="1" dirty="0">
                <a:solidFill>
                  <a:srgbClr val="6600FF"/>
                </a:solidFill>
              </a:rPr>
              <a:t>Design Details</a:t>
            </a:r>
          </a:p>
          <a:p>
            <a:pPr marL="342900" indent="-342900">
              <a:buFont typeface="Arial" panose="020B0604020202020204" pitchFamily="34" charset="0"/>
              <a:buChar char="•"/>
            </a:pPr>
            <a:r>
              <a:rPr lang="en-US" sz="2400" dirty="0">
                <a:solidFill>
                  <a:srgbClr val="6600FF"/>
                </a:solidFill>
              </a:rPr>
              <a:t>The system is developed using a modular multimodal design, processing dog images and symptoms separately and combining them for final prediction.</a:t>
            </a:r>
          </a:p>
          <a:p>
            <a:pPr marL="342900" indent="-342900">
              <a:buFont typeface="Arial" panose="020B0604020202020204" pitchFamily="34" charset="0"/>
              <a:buChar char="•"/>
            </a:pPr>
            <a:r>
              <a:rPr lang="en-US" sz="2400" dirty="0">
                <a:solidFill>
                  <a:srgbClr val="6600FF"/>
                </a:solidFill>
              </a:rPr>
              <a:t>Publicly available datasets are used, and the system runs on a local development environment.</a:t>
            </a:r>
          </a:p>
          <a:p>
            <a:pPr marL="342900" indent="-342900">
              <a:buFont typeface="Arial" panose="020B0604020202020204" pitchFamily="34" charset="0"/>
              <a:buChar char="•"/>
            </a:pPr>
            <a:r>
              <a:rPr lang="en-US" sz="2400" dirty="0">
                <a:solidFill>
                  <a:srgbClr val="6600FF"/>
                </a:solidFill>
              </a:rPr>
              <a:t>The design is innovative as it integrates visual and symptom-based analysis instead of relying on a single input.</a:t>
            </a:r>
          </a:p>
          <a:p>
            <a:pPr marL="342900" indent="-342900">
              <a:buFont typeface="Arial" panose="020B0604020202020204" pitchFamily="34" charset="0"/>
              <a:buChar char="•"/>
            </a:pPr>
            <a:r>
              <a:rPr lang="en-US" sz="2400" dirty="0">
                <a:solidFill>
                  <a:srgbClr val="6600FF"/>
                </a:solidFill>
              </a:rPr>
              <a:t>A modular structure ensures maintainability, reusability, and easy future extension.</a:t>
            </a:r>
          </a:p>
          <a:p>
            <a:pPr marL="342900" indent="-342900">
              <a:buFont typeface="Arial" panose="020B0604020202020204" pitchFamily="34" charset="0"/>
              <a:buChar char="•"/>
            </a:pPr>
            <a:r>
              <a:rPr lang="en-US" sz="2400" dirty="0">
                <a:solidFill>
                  <a:srgbClr val="6600FF"/>
                </a:solidFill>
              </a:rPr>
              <a:t>The system is portable and compatible with standard platforms and can be extended to web or mobile applications.</a:t>
            </a:r>
          </a:p>
        </p:txBody>
      </p:sp>
    </p:spTree>
    <p:extLst>
      <p:ext uri="{BB962C8B-B14F-4D97-AF65-F5344CB8AC3E}">
        <p14:creationId xmlns:p14="http://schemas.microsoft.com/office/powerpoint/2010/main" val="3167076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Proposed System / Approach</a:t>
            </a:r>
            <a:endParaRPr lang="en-US" sz="2400" dirty="0"/>
          </a:p>
        </p:txBody>
      </p:sp>
      <p:sp>
        <p:nvSpPr>
          <p:cNvPr id="54" name="Google Shape;54;p7"/>
          <p:cNvSpPr txBox="1"/>
          <p:nvPr/>
        </p:nvSpPr>
        <p:spPr>
          <a:xfrm>
            <a:off x="1199456" y="1791525"/>
            <a:ext cx="9468544" cy="4724400"/>
          </a:xfrm>
          <a:prstGeom prst="rect">
            <a:avLst/>
          </a:prstGeom>
          <a:noFill/>
          <a:ln>
            <a:noFill/>
          </a:ln>
        </p:spPr>
        <p:txBody>
          <a:bodyPr spcFirstLastPara="1" wrap="square" lIns="91425" tIns="45700" rIns="91425" bIns="45700" anchor="ctr" anchorCtr="0">
            <a:noAutofit/>
          </a:bodyPr>
          <a:lstStyle/>
          <a:p>
            <a:r>
              <a:rPr lang="en-IN" sz="2400" b="1" dirty="0">
                <a:solidFill>
                  <a:srgbClr val="6600FF"/>
                </a:solidFill>
              </a:rPr>
              <a:t>System Overview</a:t>
            </a:r>
          </a:p>
          <a:p>
            <a:pPr marL="342900" indent="-342900">
              <a:buFont typeface="Arial" panose="020B0604020202020204" pitchFamily="34" charset="0"/>
              <a:buChar char="•"/>
            </a:pPr>
            <a:r>
              <a:rPr lang="en-IN" sz="2400" dirty="0">
                <a:solidFill>
                  <a:srgbClr val="6600FF"/>
                </a:solidFill>
              </a:rPr>
              <a:t>Multimodal AI-based system for dog skin disease classification</a:t>
            </a:r>
          </a:p>
          <a:p>
            <a:pPr marL="342900" indent="-342900">
              <a:buFont typeface="Arial" panose="020B0604020202020204" pitchFamily="34" charset="0"/>
              <a:buChar char="•"/>
            </a:pPr>
            <a:r>
              <a:rPr lang="en-IN" sz="2400" dirty="0">
                <a:solidFill>
                  <a:srgbClr val="6600FF"/>
                </a:solidFill>
              </a:rPr>
              <a:t>Uses </a:t>
            </a:r>
            <a:r>
              <a:rPr lang="en-IN" sz="2400" b="1" dirty="0">
                <a:solidFill>
                  <a:srgbClr val="6600FF"/>
                </a:solidFill>
              </a:rPr>
              <a:t>dual inputs</a:t>
            </a:r>
            <a:r>
              <a:rPr lang="en-IN" sz="2400" dirty="0">
                <a:solidFill>
                  <a:srgbClr val="6600FF"/>
                </a:solidFill>
              </a:rPr>
              <a:t>:</a:t>
            </a:r>
          </a:p>
          <a:p>
            <a:pPr marL="800100" lvl="1" indent="-342900">
              <a:buFont typeface="Arial" panose="020B0604020202020204" pitchFamily="34" charset="0"/>
              <a:buChar char="•"/>
            </a:pPr>
            <a:r>
              <a:rPr lang="en-IN" sz="2400" dirty="0">
                <a:solidFill>
                  <a:srgbClr val="6600FF"/>
                </a:solidFill>
              </a:rPr>
              <a:t>Dog skin image</a:t>
            </a:r>
          </a:p>
          <a:p>
            <a:pPr marL="800100" lvl="1" indent="-342900">
              <a:buFont typeface="Arial" panose="020B0604020202020204" pitchFamily="34" charset="0"/>
              <a:buChar char="•"/>
            </a:pPr>
            <a:r>
              <a:rPr lang="en-IN" sz="2400" dirty="0">
                <a:solidFill>
                  <a:srgbClr val="6600FF"/>
                </a:solidFill>
              </a:rPr>
              <a:t>Symptom text description</a:t>
            </a:r>
          </a:p>
          <a:p>
            <a:pPr marL="342900" indent="-342900">
              <a:buFont typeface="Arial" panose="020B0604020202020204" pitchFamily="34" charset="0"/>
              <a:buChar char="•"/>
            </a:pPr>
            <a:r>
              <a:rPr lang="en-IN" sz="2400" dirty="0">
                <a:solidFill>
                  <a:srgbClr val="6600FF"/>
                </a:solidFill>
              </a:rPr>
              <a:t>Optional contextual inputs:</a:t>
            </a:r>
          </a:p>
          <a:p>
            <a:pPr marL="800100" lvl="1" indent="-342900">
              <a:buFont typeface="Arial" panose="020B0604020202020204" pitchFamily="34" charset="0"/>
              <a:buChar char="•"/>
            </a:pPr>
            <a:r>
              <a:rPr lang="en-IN" sz="2400" dirty="0">
                <a:solidFill>
                  <a:srgbClr val="6600FF"/>
                </a:solidFill>
              </a:rPr>
              <a:t>Age</a:t>
            </a:r>
          </a:p>
          <a:p>
            <a:pPr marL="800100" lvl="1" indent="-342900">
              <a:buFont typeface="Arial" panose="020B0604020202020204" pitchFamily="34" charset="0"/>
              <a:buChar char="•"/>
            </a:pPr>
            <a:r>
              <a:rPr lang="en-IN" sz="2400" dirty="0">
                <a:solidFill>
                  <a:srgbClr val="6600FF"/>
                </a:solidFill>
              </a:rPr>
              <a:t>Temperature</a:t>
            </a:r>
          </a:p>
          <a:p>
            <a:pPr marL="342900" indent="-342900">
              <a:buFont typeface="Arial" panose="020B0604020202020204" pitchFamily="34" charset="0"/>
              <a:buChar char="•"/>
            </a:pPr>
            <a:r>
              <a:rPr lang="en-IN" sz="2400" dirty="0">
                <a:solidFill>
                  <a:srgbClr val="6600FF"/>
                </a:solidFill>
              </a:rPr>
              <a:t>Combines deep learning and machine learning using a late fusion strategy</a:t>
            </a:r>
          </a:p>
          <a:p>
            <a:pPr marL="342900" indent="-342900">
              <a:buFont typeface="Arial" panose="020B0604020202020204" pitchFamily="34" charset="0"/>
              <a:buChar char="•"/>
            </a:pPr>
            <a:r>
              <a:rPr lang="en-IN" sz="2400" dirty="0">
                <a:solidFill>
                  <a:srgbClr val="6600FF"/>
                </a:solidFill>
              </a:rPr>
              <a:t>Designed to improve prediction accuracy and reliability</a:t>
            </a:r>
          </a:p>
          <a:p>
            <a:pPr algn="just">
              <a:spcBef>
                <a:spcPts val="480"/>
              </a:spcBef>
              <a:spcAft>
                <a:spcPts val="0"/>
              </a:spcAft>
              <a:buClr>
                <a:srgbClr val="FF0000"/>
              </a:buClr>
              <a:buSzPct val="80000"/>
            </a:pPr>
            <a:endParaRPr lang="en-US" sz="2400" dirty="0">
              <a:solidFill>
                <a:srgbClr val="0033CC"/>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
          <a:extLst>
            <a:ext uri="{FF2B5EF4-FFF2-40B4-BE49-F238E27FC236}">
              <a16:creationId xmlns:a16="http://schemas.microsoft.com/office/drawing/2014/main" id="{92AD024D-B009-4B48-D337-215635057358}"/>
            </a:ext>
          </a:extLst>
        </p:cNvPr>
        <p:cNvGrpSpPr/>
        <p:nvPr/>
      </p:nvGrpSpPr>
      <p:grpSpPr>
        <a:xfrm>
          <a:off x="0" y="0"/>
          <a:ext cx="0" cy="0"/>
          <a:chOff x="0" y="0"/>
          <a:chExt cx="0" cy="0"/>
        </a:xfrm>
      </p:grpSpPr>
      <p:sp>
        <p:nvSpPr>
          <p:cNvPr id="52" name="Google Shape;52;p7">
            <a:extLst>
              <a:ext uri="{FF2B5EF4-FFF2-40B4-BE49-F238E27FC236}">
                <a16:creationId xmlns:a16="http://schemas.microsoft.com/office/drawing/2014/main" id="{77915116-ABAD-7447-A964-E06A9F0EA15A}"/>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a:extLst>
              <a:ext uri="{FF2B5EF4-FFF2-40B4-BE49-F238E27FC236}">
                <a16:creationId xmlns:a16="http://schemas.microsoft.com/office/drawing/2014/main" id="{8F36EE2C-E1E9-23C5-4D9C-1B33F09DE54E}"/>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Proposed System / Approach</a:t>
            </a:r>
            <a:endParaRPr lang="en-US" sz="2400" dirty="0"/>
          </a:p>
        </p:txBody>
      </p:sp>
      <p:sp>
        <p:nvSpPr>
          <p:cNvPr id="54" name="Google Shape;54;p7">
            <a:extLst>
              <a:ext uri="{FF2B5EF4-FFF2-40B4-BE49-F238E27FC236}">
                <a16:creationId xmlns:a16="http://schemas.microsoft.com/office/drawing/2014/main" id="{6DEC38C9-F4A5-53E5-850A-DE5B5282368F}"/>
              </a:ext>
            </a:extLst>
          </p:cNvPr>
          <p:cNvSpPr txBox="1"/>
          <p:nvPr/>
        </p:nvSpPr>
        <p:spPr>
          <a:xfrm>
            <a:off x="1517171" y="1404681"/>
            <a:ext cx="9468544" cy="4279827"/>
          </a:xfrm>
          <a:prstGeom prst="rect">
            <a:avLst/>
          </a:prstGeom>
          <a:noFill/>
          <a:ln>
            <a:noFill/>
          </a:ln>
        </p:spPr>
        <p:txBody>
          <a:bodyPr spcFirstLastPara="1" wrap="square" lIns="91425" tIns="45700" rIns="91425" bIns="45700" anchor="ctr" anchorCtr="0">
            <a:noAutofit/>
          </a:bodyPr>
          <a:lstStyle/>
          <a:p>
            <a:pPr>
              <a:lnSpc>
                <a:spcPct val="150000"/>
              </a:lnSpc>
            </a:pPr>
            <a:r>
              <a:rPr lang="en-US" sz="2400" b="1" dirty="0">
                <a:solidFill>
                  <a:srgbClr val="6600FF"/>
                </a:solidFill>
              </a:rPr>
              <a:t>Data Acquisition &amp; Inputs</a:t>
            </a:r>
          </a:p>
          <a:p>
            <a:pPr marL="342900" indent="-342900">
              <a:lnSpc>
                <a:spcPct val="150000"/>
              </a:lnSpc>
              <a:buFont typeface="Arial" panose="020B0604020202020204" pitchFamily="34" charset="0"/>
              <a:buChar char="•"/>
            </a:pPr>
            <a:r>
              <a:rPr lang="en-US" sz="2400" dirty="0">
                <a:solidFill>
                  <a:srgbClr val="6600FF"/>
                </a:solidFill>
              </a:rPr>
              <a:t>Collects dog skin images across six disease categories</a:t>
            </a:r>
          </a:p>
          <a:p>
            <a:pPr marL="342900" indent="-342900">
              <a:lnSpc>
                <a:spcPct val="150000"/>
              </a:lnSpc>
              <a:buFont typeface="Arial" panose="020B0604020202020204" pitchFamily="34" charset="0"/>
              <a:buChar char="•"/>
            </a:pPr>
            <a:r>
              <a:rPr lang="en-US" sz="2400" dirty="0">
                <a:solidFill>
                  <a:srgbClr val="6600FF"/>
                </a:solidFill>
              </a:rPr>
              <a:t>Accepts symptom descriptions from pet owners</a:t>
            </a:r>
          </a:p>
          <a:p>
            <a:pPr marL="342900" indent="-342900">
              <a:lnSpc>
                <a:spcPct val="150000"/>
              </a:lnSpc>
              <a:buFont typeface="Arial" panose="020B0604020202020204" pitchFamily="34" charset="0"/>
              <a:buChar char="•"/>
            </a:pPr>
            <a:r>
              <a:rPr lang="en-US" sz="2400" dirty="0">
                <a:solidFill>
                  <a:srgbClr val="6600FF"/>
                </a:solidFill>
              </a:rPr>
              <a:t>Optional metadata: age and body temperature</a:t>
            </a:r>
          </a:p>
          <a:p>
            <a:pPr marL="342900" indent="-342900">
              <a:lnSpc>
                <a:spcPct val="150000"/>
              </a:lnSpc>
              <a:buFont typeface="Arial" panose="020B0604020202020204" pitchFamily="34" charset="0"/>
              <a:buChar char="•"/>
            </a:pPr>
            <a:r>
              <a:rPr lang="en-US" sz="2400" dirty="0">
                <a:solidFill>
                  <a:srgbClr val="6600FF"/>
                </a:solidFill>
              </a:rPr>
              <a:t>Uses publicly available datasets and user-provided inputs</a:t>
            </a:r>
          </a:p>
          <a:p>
            <a:pPr marL="342900" indent="-342900">
              <a:lnSpc>
                <a:spcPct val="150000"/>
              </a:lnSpc>
              <a:buFont typeface="Arial" panose="020B0604020202020204" pitchFamily="34" charset="0"/>
              <a:buChar char="•"/>
            </a:pPr>
            <a:r>
              <a:rPr lang="en-US" sz="2400" dirty="0">
                <a:solidFill>
                  <a:srgbClr val="6600FF"/>
                </a:solidFill>
              </a:rPr>
              <a:t>Acts as the entry layer of the system</a:t>
            </a:r>
          </a:p>
        </p:txBody>
      </p:sp>
    </p:spTree>
    <p:extLst>
      <p:ext uri="{BB962C8B-B14F-4D97-AF65-F5344CB8AC3E}">
        <p14:creationId xmlns:p14="http://schemas.microsoft.com/office/powerpoint/2010/main" val="3050301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
          <a:extLst>
            <a:ext uri="{FF2B5EF4-FFF2-40B4-BE49-F238E27FC236}">
              <a16:creationId xmlns:a16="http://schemas.microsoft.com/office/drawing/2014/main" id="{D759E561-12B6-A2A7-C702-B2BBCA3F9811}"/>
            </a:ext>
          </a:extLst>
        </p:cNvPr>
        <p:cNvGrpSpPr/>
        <p:nvPr/>
      </p:nvGrpSpPr>
      <p:grpSpPr>
        <a:xfrm>
          <a:off x="0" y="0"/>
          <a:ext cx="0" cy="0"/>
          <a:chOff x="0" y="0"/>
          <a:chExt cx="0" cy="0"/>
        </a:xfrm>
      </p:grpSpPr>
      <p:sp>
        <p:nvSpPr>
          <p:cNvPr id="52" name="Google Shape;52;p7">
            <a:extLst>
              <a:ext uri="{FF2B5EF4-FFF2-40B4-BE49-F238E27FC236}">
                <a16:creationId xmlns:a16="http://schemas.microsoft.com/office/drawing/2014/main" id="{7C2C33A2-CEC2-414A-DAB3-661AEACD4D08}"/>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a:extLst>
              <a:ext uri="{FF2B5EF4-FFF2-40B4-BE49-F238E27FC236}">
                <a16:creationId xmlns:a16="http://schemas.microsoft.com/office/drawing/2014/main" id="{4A35F56B-09D8-67EB-CB5C-EEDDFBE22301}"/>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Proposed System / Approach</a:t>
            </a:r>
            <a:endParaRPr lang="en-US" sz="2400" dirty="0"/>
          </a:p>
        </p:txBody>
      </p:sp>
      <p:sp>
        <p:nvSpPr>
          <p:cNvPr id="54" name="Google Shape;54;p7">
            <a:extLst>
              <a:ext uri="{FF2B5EF4-FFF2-40B4-BE49-F238E27FC236}">
                <a16:creationId xmlns:a16="http://schemas.microsoft.com/office/drawing/2014/main" id="{84EF4BFB-56F6-010E-0348-C6FA321C5B14}"/>
              </a:ext>
            </a:extLst>
          </p:cNvPr>
          <p:cNvSpPr txBox="1"/>
          <p:nvPr/>
        </p:nvSpPr>
        <p:spPr>
          <a:xfrm>
            <a:off x="1199456" y="1637831"/>
            <a:ext cx="10666853" cy="4279827"/>
          </a:xfrm>
          <a:prstGeom prst="rect">
            <a:avLst/>
          </a:prstGeom>
          <a:noFill/>
          <a:ln>
            <a:noFill/>
          </a:ln>
        </p:spPr>
        <p:txBody>
          <a:bodyPr spcFirstLastPara="1" wrap="square" lIns="91425" tIns="45700" rIns="91425" bIns="45700" anchor="ctr" anchorCtr="0">
            <a:noAutofit/>
          </a:bodyPr>
          <a:lstStyle/>
          <a:p>
            <a:r>
              <a:rPr lang="en-US" sz="2400" b="1" dirty="0">
                <a:solidFill>
                  <a:srgbClr val="6600FF"/>
                </a:solidFill>
              </a:rPr>
              <a:t>Image &amp; Text Processing Modules</a:t>
            </a:r>
          </a:p>
          <a:p>
            <a:r>
              <a:rPr lang="en-US" sz="2400" dirty="0">
                <a:solidFill>
                  <a:srgbClr val="6600FF"/>
                </a:solidFill>
              </a:rPr>
              <a:t>    </a:t>
            </a:r>
            <a:r>
              <a:rPr lang="en-US" sz="2400" b="1" dirty="0">
                <a:solidFill>
                  <a:srgbClr val="6600FF"/>
                </a:solidFill>
              </a:rPr>
              <a:t>Image Processing Module</a:t>
            </a:r>
          </a:p>
          <a:p>
            <a:pPr marL="342900" indent="-342900">
              <a:buFont typeface="Arial" panose="020B0604020202020204" pitchFamily="34" charset="0"/>
              <a:buChar char="•"/>
            </a:pPr>
            <a:r>
              <a:rPr lang="en-US" sz="2400" dirty="0">
                <a:solidFill>
                  <a:srgbClr val="6600FF"/>
                </a:solidFill>
              </a:rPr>
              <a:t>Images resized to 224 × 224</a:t>
            </a:r>
          </a:p>
          <a:p>
            <a:pPr marL="342900" indent="-342900">
              <a:buFont typeface="Arial" panose="020B0604020202020204" pitchFamily="34" charset="0"/>
              <a:buChar char="•"/>
            </a:pPr>
            <a:r>
              <a:rPr lang="en-US" sz="2400" dirty="0">
                <a:solidFill>
                  <a:srgbClr val="6600FF"/>
                </a:solidFill>
              </a:rPr>
              <a:t>Normalization and data augmentation applied</a:t>
            </a:r>
          </a:p>
          <a:p>
            <a:pPr marL="342900" indent="-342900">
              <a:buFont typeface="Arial" panose="020B0604020202020204" pitchFamily="34" charset="0"/>
              <a:buChar char="•"/>
            </a:pPr>
            <a:r>
              <a:rPr lang="en-US" sz="2400" dirty="0">
                <a:solidFill>
                  <a:srgbClr val="6600FF"/>
                </a:solidFill>
              </a:rPr>
              <a:t>Pretrained ResNet-18 used for feature extraction</a:t>
            </a:r>
          </a:p>
          <a:p>
            <a:pPr marL="342900" indent="-342900">
              <a:buFont typeface="Arial" panose="020B0604020202020204" pitchFamily="34" charset="0"/>
              <a:buChar char="•"/>
            </a:pPr>
            <a:r>
              <a:rPr lang="en-US" sz="2400" dirty="0">
                <a:solidFill>
                  <a:srgbClr val="6600FF"/>
                </a:solidFill>
              </a:rPr>
              <a:t>Outputs disease probability scores</a:t>
            </a:r>
          </a:p>
          <a:p>
            <a:r>
              <a:rPr lang="en-US" sz="2400" dirty="0">
                <a:solidFill>
                  <a:srgbClr val="6600FF"/>
                </a:solidFill>
              </a:rPr>
              <a:t>    </a:t>
            </a:r>
            <a:r>
              <a:rPr lang="en-US" sz="2400" b="1" dirty="0">
                <a:solidFill>
                  <a:srgbClr val="6600FF"/>
                </a:solidFill>
              </a:rPr>
              <a:t>Text Processing Module</a:t>
            </a:r>
          </a:p>
          <a:p>
            <a:pPr marL="342900" indent="-342900">
              <a:buFont typeface="Arial" panose="020B0604020202020204" pitchFamily="34" charset="0"/>
              <a:buChar char="•"/>
            </a:pPr>
            <a:r>
              <a:rPr lang="en-US" sz="2400" dirty="0">
                <a:solidFill>
                  <a:srgbClr val="6600FF"/>
                </a:solidFill>
              </a:rPr>
              <a:t>Symptom text cleaned and tokenized</a:t>
            </a:r>
          </a:p>
          <a:p>
            <a:pPr marL="342900" indent="-342900">
              <a:buFont typeface="Arial" panose="020B0604020202020204" pitchFamily="34" charset="0"/>
              <a:buChar char="•"/>
            </a:pPr>
            <a:r>
              <a:rPr lang="en-US" sz="2400" dirty="0">
                <a:solidFill>
                  <a:srgbClr val="6600FF"/>
                </a:solidFill>
              </a:rPr>
              <a:t>TF-IDF converts text to numerical features</a:t>
            </a:r>
          </a:p>
          <a:p>
            <a:pPr marL="342900" indent="-342900">
              <a:buFont typeface="Arial" panose="020B0604020202020204" pitchFamily="34" charset="0"/>
              <a:buChar char="•"/>
            </a:pPr>
            <a:r>
              <a:rPr lang="en-US" sz="2400" dirty="0">
                <a:solidFill>
                  <a:srgbClr val="6600FF"/>
                </a:solidFill>
              </a:rPr>
              <a:t>Random Forest classifier predicts disease probabilities</a:t>
            </a:r>
          </a:p>
        </p:txBody>
      </p:sp>
    </p:spTree>
    <p:extLst>
      <p:ext uri="{BB962C8B-B14F-4D97-AF65-F5344CB8AC3E}">
        <p14:creationId xmlns:p14="http://schemas.microsoft.com/office/powerpoint/2010/main" val="3087705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
          <a:extLst>
            <a:ext uri="{FF2B5EF4-FFF2-40B4-BE49-F238E27FC236}">
              <a16:creationId xmlns:a16="http://schemas.microsoft.com/office/drawing/2014/main" id="{908DAD98-5799-A20E-AD05-5687306C2AED}"/>
            </a:ext>
          </a:extLst>
        </p:cNvPr>
        <p:cNvGrpSpPr/>
        <p:nvPr/>
      </p:nvGrpSpPr>
      <p:grpSpPr>
        <a:xfrm>
          <a:off x="0" y="0"/>
          <a:ext cx="0" cy="0"/>
          <a:chOff x="0" y="0"/>
          <a:chExt cx="0" cy="0"/>
        </a:xfrm>
      </p:grpSpPr>
      <p:sp>
        <p:nvSpPr>
          <p:cNvPr id="52" name="Google Shape;52;p7">
            <a:extLst>
              <a:ext uri="{FF2B5EF4-FFF2-40B4-BE49-F238E27FC236}">
                <a16:creationId xmlns:a16="http://schemas.microsoft.com/office/drawing/2014/main" id="{8BED6340-FFA0-CA7A-D390-1DD3A77567DD}"/>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a:extLst>
              <a:ext uri="{FF2B5EF4-FFF2-40B4-BE49-F238E27FC236}">
                <a16:creationId xmlns:a16="http://schemas.microsoft.com/office/drawing/2014/main" id="{1F9E0DC1-33BF-4933-FB38-EB10AE0D8238}"/>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Proposed System / Approach</a:t>
            </a:r>
            <a:endParaRPr lang="en-US" sz="2400" dirty="0"/>
          </a:p>
        </p:txBody>
      </p:sp>
      <p:sp>
        <p:nvSpPr>
          <p:cNvPr id="54" name="Google Shape;54;p7">
            <a:extLst>
              <a:ext uri="{FF2B5EF4-FFF2-40B4-BE49-F238E27FC236}">
                <a16:creationId xmlns:a16="http://schemas.microsoft.com/office/drawing/2014/main" id="{DEF62888-5509-E811-1E50-DC4B37289D6E}"/>
              </a:ext>
            </a:extLst>
          </p:cNvPr>
          <p:cNvSpPr txBox="1"/>
          <p:nvPr/>
        </p:nvSpPr>
        <p:spPr>
          <a:xfrm>
            <a:off x="1199456" y="1637831"/>
            <a:ext cx="10666853" cy="4279827"/>
          </a:xfrm>
          <a:prstGeom prst="rect">
            <a:avLst/>
          </a:prstGeom>
          <a:noFill/>
          <a:ln>
            <a:noFill/>
          </a:ln>
        </p:spPr>
        <p:txBody>
          <a:bodyPr spcFirstLastPara="1" wrap="square" lIns="91425" tIns="45700" rIns="91425" bIns="45700" anchor="ctr" anchorCtr="0">
            <a:noAutofit/>
          </a:bodyPr>
          <a:lstStyle/>
          <a:p>
            <a:pPr>
              <a:lnSpc>
                <a:spcPct val="150000"/>
              </a:lnSpc>
            </a:pPr>
            <a:r>
              <a:rPr lang="en-US" sz="2400" b="1" dirty="0">
                <a:solidFill>
                  <a:srgbClr val="6600FF"/>
                </a:solidFill>
              </a:rPr>
              <a:t>Late Fusion Strategy</a:t>
            </a:r>
          </a:p>
          <a:p>
            <a:pPr marL="342900" indent="-342900">
              <a:lnSpc>
                <a:spcPct val="150000"/>
              </a:lnSpc>
              <a:buFont typeface="Arial" panose="020B0604020202020204" pitchFamily="34" charset="0"/>
              <a:buChar char="•"/>
            </a:pPr>
            <a:r>
              <a:rPr lang="en-US" sz="2400" dirty="0">
                <a:solidFill>
                  <a:srgbClr val="6600FF"/>
                </a:solidFill>
              </a:rPr>
              <a:t>Uses decision-level (late) fusion</a:t>
            </a:r>
          </a:p>
          <a:p>
            <a:pPr marL="342900" indent="-342900">
              <a:lnSpc>
                <a:spcPct val="150000"/>
              </a:lnSpc>
              <a:buFont typeface="Arial" panose="020B0604020202020204" pitchFamily="34" charset="0"/>
              <a:buChar char="•"/>
            </a:pPr>
            <a:r>
              <a:rPr lang="en-US" sz="2400" dirty="0">
                <a:solidFill>
                  <a:srgbClr val="6600FF"/>
                </a:solidFill>
              </a:rPr>
              <a:t>Image-based and text-based predictions generated independently</a:t>
            </a:r>
          </a:p>
          <a:p>
            <a:pPr marL="342900" indent="-342900">
              <a:lnSpc>
                <a:spcPct val="150000"/>
              </a:lnSpc>
              <a:buFont typeface="Arial" panose="020B0604020202020204" pitchFamily="34" charset="0"/>
              <a:buChar char="•"/>
            </a:pPr>
            <a:r>
              <a:rPr lang="en-US" sz="2400" dirty="0">
                <a:solidFill>
                  <a:srgbClr val="6600FF"/>
                </a:solidFill>
              </a:rPr>
              <a:t>Optional age and temperature refine predictions</a:t>
            </a:r>
          </a:p>
          <a:p>
            <a:pPr marL="342900" indent="-342900">
              <a:lnSpc>
                <a:spcPct val="150000"/>
              </a:lnSpc>
              <a:buFont typeface="Arial" panose="020B0604020202020204" pitchFamily="34" charset="0"/>
              <a:buChar char="•"/>
            </a:pPr>
            <a:r>
              <a:rPr lang="en-US" sz="2400" dirty="0">
                <a:solidFill>
                  <a:srgbClr val="6600FF"/>
                </a:solidFill>
              </a:rPr>
              <a:t>Weighted fusion combines outputs from both models</a:t>
            </a:r>
          </a:p>
          <a:p>
            <a:pPr marL="342900" indent="-342900">
              <a:lnSpc>
                <a:spcPct val="150000"/>
              </a:lnSpc>
              <a:buFont typeface="Arial" panose="020B0604020202020204" pitchFamily="34" charset="0"/>
              <a:buChar char="•"/>
            </a:pPr>
            <a:r>
              <a:rPr lang="en-US" sz="2400" dirty="0">
                <a:solidFill>
                  <a:srgbClr val="6600FF"/>
                </a:solidFill>
              </a:rPr>
              <a:t>Improves robustness and reduces misclassification</a:t>
            </a:r>
          </a:p>
          <a:p>
            <a:endParaRPr lang="en-US" sz="2400" dirty="0">
              <a:solidFill>
                <a:srgbClr val="6600FF"/>
              </a:solidFill>
            </a:endParaRPr>
          </a:p>
        </p:txBody>
      </p:sp>
    </p:spTree>
    <p:extLst>
      <p:ext uri="{BB962C8B-B14F-4D97-AF65-F5344CB8AC3E}">
        <p14:creationId xmlns:p14="http://schemas.microsoft.com/office/powerpoint/2010/main" val="667658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
          <a:extLst>
            <a:ext uri="{FF2B5EF4-FFF2-40B4-BE49-F238E27FC236}">
              <a16:creationId xmlns:a16="http://schemas.microsoft.com/office/drawing/2014/main" id="{AF6E4BED-24E1-4FAF-7CBA-CFBCFDC5B178}"/>
            </a:ext>
          </a:extLst>
        </p:cNvPr>
        <p:cNvGrpSpPr/>
        <p:nvPr/>
      </p:nvGrpSpPr>
      <p:grpSpPr>
        <a:xfrm>
          <a:off x="0" y="0"/>
          <a:ext cx="0" cy="0"/>
          <a:chOff x="0" y="0"/>
          <a:chExt cx="0" cy="0"/>
        </a:xfrm>
      </p:grpSpPr>
      <p:sp>
        <p:nvSpPr>
          <p:cNvPr id="52" name="Google Shape;52;p7">
            <a:extLst>
              <a:ext uri="{FF2B5EF4-FFF2-40B4-BE49-F238E27FC236}">
                <a16:creationId xmlns:a16="http://schemas.microsoft.com/office/drawing/2014/main" id="{FC426AA6-9F9C-1F2A-BB7D-8ECB72CE0790}"/>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a:extLst>
              <a:ext uri="{FF2B5EF4-FFF2-40B4-BE49-F238E27FC236}">
                <a16:creationId xmlns:a16="http://schemas.microsoft.com/office/drawing/2014/main" id="{9DF9AF39-33F8-6BE3-3922-11A8E24E2D8F}"/>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Proposed System / Approach</a:t>
            </a:r>
            <a:endParaRPr lang="en-US" sz="2400" dirty="0"/>
          </a:p>
        </p:txBody>
      </p:sp>
      <p:sp>
        <p:nvSpPr>
          <p:cNvPr id="54" name="Google Shape;54;p7">
            <a:extLst>
              <a:ext uri="{FF2B5EF4-FFF2-40B4-BE49-F238E27FC236}">
                <a16:creationId xmlns:a16="http://schemas.microsoft.com/office/drawing/2014/main" id="{E716B87B-CE2C-9C89-26AF-BE5F628A42BF}"/>
              </a:ext>
            </a:extLst>
          </p:cNvPr>
          <p:cNvSpPr txBox="1"/>
          <p:nvPr/>
        </p:nvSpPr>
        <p:spPr>
          <a:xfrm>
            <a:off x="1631504" y="1772816"/>
            <a:ext cx="10666853" cy="4279827"/>
          </a:xfrm>
          <a:prstGeom prst="rect">
            <a:avLst/>
          </a:prstGeom>
          <a:noFill/>
          <a:ln>
            <a:noFill/>
          </a:ln>
        </p:spPr>
        <p:txBody>
          <a:bodyPr spcFirstLastPara="1" wrap="square" lIns="91425" tIns="45700" rIns="91425" bIns="45700" anchor="ctr" anchorCtr="0">
            <a:noAutofit/>
          </a:bodyPr>
          <a:lstStyle/>
          <a:p>
            <a:r>
              <a:rPr lang="en-US" sz="2400" b="1" dirty="0">
                <a:solidFill>
                  <a:srgbClr val="6600FF"/>
                </a:solidFill>
              </a:rPr>
              <a:t>Output &amp; Key Features</a:t>
            </a:r>
          </a:p>
          <a:p>
            <a:endParaRPr lang="en-US" sz="2400" b="1" dirty="0">
              <a:solidFill>
                <a:srgbClr val="6600FF"/>
              </a:solidFill>
            </a:endParaRPr>
          </a:p>
          <a:p>
            <a:r>
              <a:rPr lang="en-US" sz="2400" b="1" dirty="0">
                <a:solidFill>
                  <a:srgbClr val="6600FF"/>
                </a:solidFill>
              </a:rPr>
              <a:t>Final output includes:</a:t>
            </a:r>
          </a:p>
          <a:p>
            <a:pPr marL="800100" lvl="1" indent="-342900">
              <a:buFont typeface="Arial" panose="020B0604020202020204" pitchFamily="34" charset="0"/>
              <a:buChar char="•"/>
            </a:pPr>
            <a:r>
              <a:rPr lang="en-US" sz="2400" dirty="0">
                <a:solidFill>
                  <a:srgbClr val="6600FF"/>
                </a:solidFill>
              </a:rPr>
              <a:t>Disease category</a:t>
            </a:r>
          </a:p>
          <a:p>
            <a:pPr marL="800100" lvl="1" indent="-342900">
              <a:buFont typeface="Arial" panose="020B0604020202020204" pitchFamily="34" charset="0"/>
              <a:buChar char="•"/>
            </a:pPr>
            <a:r>
              <a:rPr lang="en-US" sz="2400" dirty="0">
                <a:solidFill>
                  <a:srgbClr val="6600FF"/>
                </a:solidFill>
              </a:rPr>
              <a:t>Confidence score</a:t>
            </a:r>
          </a:p>
          <a:p>
            <a:pPr marL="800100" lvl="1" indent="-342900">
              <a:buFont typeface="Arial" panose="020B0604020202020204" pitchFamily="34" charset="0"/>
              <a:buChar char="•"/>
            </a:pPr>
            <a:r>
              <a:rPr lang="en-US" sz="2400" dirty="0">
                <a:solidFill>
                  <a:srgbClr val="6600FF"/>
                </a:solidFill>
              </a:rPr>
              <a:t>Risk level</a:t>
            </a:r>
          </a:p>
          <a:p>
            <a:pPr marL="800100" lvl="1" indent="-342900">
              <a:buFont typeface="Arial" panose="020B0604020202020204" pitchFamily="34" charset="0"/>
              <a:buChar char="•"/>
            </a:pPr>
            <a:r>
              <a:rPr lang="en-US" sz="2400" dirty="0">
                <a:solidFill>
                  <a:srgbClr val="6600FF"/>
                </a:solidFill>
              </a:rPr>
              <a:t>Suggested action and veterinary advice</a:t>
            </a:r>
          </a:p>
          <a:p>
            <a:r>
              <a:rPr lang="en-US" sz="2400" b="1" dirty="0">
                <a:solidFill>
                  <a:srgbClr val="6600FF"/>
                </a:solidFill>
              </a:rPr>
              <a:t>Key features:</a:t>
            </a:r>
          </a:p>
          <a:p>
            <a:pPr marL="800100" lvl="1" indent="-342900">
              <a:buFont typeface="Arial" panose="020B0604020202020204" pitchFamily="34" charset="0"/>
              <a:buChar char="•"/>
            </a:pPr>
            <a:r>
              <a:rPr lang="en-US" sz="2400" dirty="0">
                <a:solidFill>
                  <a:srgbClr val="6600FF"/>
                </a:solidFill>
              </a:rPr>
              <a:t>Multimodal input (Image + Text)</a:t>
            </a:r>
          </a:p>
          <a:p>
            <a:pPr marL="800100" lvl="1" indent="-342900">
              <a:buFont typeface="Arial" panose="020B0604020202020204" pitchFamily="34" charset="0"/>
              <a:buChar char="•"/>
            </a:pPr>
            <a:r>
              <a:rPr lang="en-US" sz="2400" dirty="0">
                <a:solidFill>
                  <a:srgbClr val="6600FF"/>
                </a:solidFill>
              </a:rPr>
              <a:t>Modular and scalable design</a:t>
            </a:r>
          </a:p>
          <a:p>
            <a:pPr marL="800100" lvl="1" indent="-342900">
              <a:buFont typeface="Arial" panose="020B0604020202020204" pitchFamily="34" charset="0"/>
              <a:buChar char="•"/>
            </a:pPr>
            <a:r>
              <a:rPr lang="en-US" sz="2400" dirty="0">
                <a:solidFill>
                  <a:srgbClr val="6600FF"/>
                </a:solidFill>
              </a:rPr>
              <a:t>Optional contextual refinement</a:t>
            </a:r>
          </a:p>
          <a:p>
            <a:pPr marL="800100" lvl="1" indent="-342900">
              <a:buFont typeface="Arial" panose="020B0604020202020204" pitchFamily="34" charset="0"/>
              <a:buChar char="•"/>
            </a:pPr>
            <a:r>
              <a:rPr lang="en-US" sz="2400" dirty="0">
                <a:solidFill>
                  <a:srgbClr val="6600FF"/>
                </a:solidFill>
              </a:rPr>
              <a:t>Focus on early-stage skin disease detection</a:t>
            </a:r>
          </a:p>
        </p:txBody>
      </p:sp>
    </p:spTree>
    <p:extLst>
      <p:ext uri="{BB962C8B-B14F-4D97-AF65-F5344CB8AC3E}">
        <p14:creationId xmlns:p14="http://schemas.microsoft.com/office/powerpoint/2010/main" val="1068910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Architecture</a:t>
            </a:r>
            <a:endParaRPr lang="en-US" sz="2400" dirty="0"/>
          </a:p>
        </p:txBody>
      </p:sp>
      <p:sp>
        <p:nvSpPr>
          <p:cNvPr id="54" name="Google Shape;54;p7"/>
          <p:cNvSpPr txBox="1"/>
          <p:nvPr/>
        </p:nvSpPr>
        <p:spPr>
          <a:xfrm>
            <a:off x="2114900" y="1791525"/>
            <a:ext cx="8553100" cy="3777075"/>
          </a:xfrm>
          <a:prstGeom prst="rect">
            <a:avLst/>
          </a:prstGeom>
          <a:noFill/>
          <a:ln>
            <a:noFill/>
          </a:ln>
        </p:spPr>
        <p:txBody>
          <a:bodyPr spcFirstLastPara="1" wrap="square" lIns="91425" tIns="45700" rIns="91425" bIns="45700" anchor="ctr" anchorCtr="0">
            <a:noAutofit/>
          </a:bodyPr>
          <a:lstStyle/>
          <a:p>
            <a:pPr algn="just">
              <a:spcBef>
                <a:spcPts val="480"/>
              </a:spcBef>
              <a:spcAft>
                <a:spcPts val="0"/>
              </a:spcAft>
              <a:buClr>
                <a:schemeClr val="dk1"/>
              </a:buClr>
              <a:buSzPts val="1100"/>
            </a:pPr>
            <a:endParaRPr lang="en-US" sz="2400" dirty="0">
              <a:solidFill>
                <a:srgbClr val="0033CC"/>
              </a:solidFill>
              <a:latin typeface="Trebuchet MS"/>
              <a:ea typeface="Trebuchet MS"/>
              <a:cs typeface="Trebuchet MS"/>
              <a:sym typeface="Trebuchet MS"/>
            </a:endParaRPr>
          </a:p>
        </p:txBody>
      </p:sp>
      <p:pic>
        <p:nvPicPr>
          <p:cNvPr id="4" name="Picture 3">
            <a:extLst>
              <a:ext uri="{FF2B5EF4-FFF2-40B4-BE49-F238E27FC236}">
                <a16:creationId xmlns:a16="http://schemas.microsoft.com/office/drawing/2014/main" id="{6DE847B6-9E38-0DD3-E425-3C22F6F36017}"/>
              </a:ext>
            </a:extLst>
          </p:cNvPr>
          <p:cNvPicPr>
            <a:picLocks noChangeAspect="1"/>
          </p:cNvPicPr>
          <p:nvPr/>
        </p:nvPicPr>
        <p:blipFill>
          <a:blip r:embed="rId3"/>
          <a:stretch>
            <a:fillRect/>
          </a:stretch>
        </p:blipFill>
        <p:spPr>
          <a:xfrm>
            <a:off x="2541" y="1805226"/>
            <a:ext cx="12192000" cy="512435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830997"/>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rebuchet MS"/>
              </a:rPr>
              <a:t>Capstone (Phase-I ,Phase-II and phase -III) Project Timeline</a:t>
            </a:r>
            <a:endParaRPr lang="en-US" sz="2400" dirty="0">
              <a:solidFill>
                <a:srgbClr val="FF0000"/>
              </a:solidFill>
              <a:latin typeface="Trebuchet MS"/>
            </a:endParaRPr>
          </a:p>
        </p:txBody>
      </p:sp>
      <p:sp>
        <p:nvSpPr>
          <p:cNvPr id="5" name="TextBox 4">
            <a:extLst>
              <a:ext uri="{FF2B5EF4-FFF2-40B4-BE49-F238E27FC236}">
                <a16:creationId xmlns:a16="http://schemas.microsoft.com/office/drawing/2014/main" id="{EBB10B19-4157-41B3-85CA-452455B519DD}"/>
              </a:ext>
            </a:extLst>
          </p:cNvPr>
          <p:cNvSpPr txBox="1"/>
          <p:nvPr/>
        </p:nvSpPr>
        <p:spPr>
          <a:xfrm>
            <a:off x="1066800" y="2003213"/>
            <a:ext cx="8839199" cy="1274195"/>
          </a:xfrm>
          <a:prstGeom prst="rect">
            <a:avLst/>
          </a:prstGeom>
          <a:noFill/>
        </p:spPr>
        <p:txBody>
          <a:bodyPr wrap="square">
            <a:spAutoFit/>
          </a:bodyPr>
          <a:lstStyle/>
          <a:p>
            <a:pPr marL="1077913" lvl="1" indent="-265113" algn="just" eaLnBrk="0" hangingPunct="0">
              <a:spcBef>
                <a:spcPts val="0"/>
              </a:spcBef>
              <a:spcAft>
                <a:spcPts val="0"/>
              </a:spcAft>
              <a:buFont typeface="Wingdings" pitchFamily="2" charset="2"/>
              <a:buChar char="§"/>
              <a:defRPr/>
            </a:pPr>
            <a:endParaRPr lang="en-IN" sz="2400" dirty="0">
              <a:solidFill>
                <a:srgbClr val="0033CC"/>
              </a:solidFill>
              <a:latin typeface="Trebuchet MS"/>
            </a:endParaRPr>
          </a:p>
          <a:p>
            <a:pPr marL="812800" lvl="1" algn="just" eaLnBrk="0" hangingPunct="0">
              <a:spcBef>
                <a:spcPts val="0"/>
              </a:spcBef>
              <a:spcAft>
                <a:spcPts val="0"/>
              </a:spcAft>
              <a:defRPr/>
            </a:pPr>
            <a:endParaRPr lang="en-IN" sz="2400" dirty="0">
              <a:solidFill>
                <a:srgbClr val="0033CC"/>
              </a:solidFill>
              <a:latin typeface="Trebuchet MS"/>
            </a:endParaRPr>
          </a:p>
          <a:p>
            <a:pPr marL="1077913" lvl="1" indent="-265113" algn="just" eaLnBrk="0" hangingPunct="0">
              <a:spcBef>
                <a:spcPct val="20000"/>
              </a:spcBef>
              <a:defRPr/>
            </a:pPr>
            <a:endParaRPr lang="en-IN" sz="2400" dirty="0">
              <a:solidFill>
                <a:srgbClr val="0000FF"/>
              </a:solidFill>
              <a:latin typeface="Trebuchet MS" pitchFamily="34" charset="0"/>
            </a:endParaRPr>
          </a:p>
        </p:txBody>
      </p:sp>
      <p:pic>
        <p:nvPicPr>
          <p:cNvPr id="8" name="Picture 7">
            <a:extLst>
              <a:ext uri="{FF2B5EF4-FFF2-40B4-BE49-F238E27FC236}">
                <a16:creationId xmlns:a16="http://schemas.microsoft.com/office/drawing/2014/main" id="{461FCA21-3158-5A3A-C15D-36A7B82C1E41}"/>
              </a:ext>
            </a:extLst>
          </p:cNvPr>
          <p:cNvPicPr>
            <a:picLocks noChangeAspect="1"/>
          </p:cNvPicPr>
          <p:nvPr/>
        </p:nvPicPr>
        <p:blipFill>
          <a:blip r:embed="rId2"/>
          <a:stretch>
            <a:fillRect/>
          </a:stretch>
        </p:blipFill>
        <p:spPr>
          <a:xfrm>
            <a:off x="2895600" y="2055821"/>
            <a:ext cx="6782747" cy="4105848"/>
          </a:xfrm>
          <a:prstGeom prst="rect">
            <a:avLst/>
          </a:prstGeom>
        </p:spPr>
      </p:pic>
    </p:spTree>
    <p:extLst>
      <p:ext uri="{BB962C8B-B14F-4D97-AF65-F5344CB8AC3E}">
        <p14:creationId xmlns:p14="http://schemas.microsoft.com/office/powerpoint/2010/main" val="1007940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rebuchet MS"/>
              </a:rPr>
              <a:t>Conclusion</a:t>
            </a:r>
            <a:endParaRPr lang="en-US" sz="2400" dirty="0">
              <a:solidFill>
                <a:srgbClr val="FF0000"/>
              </a:solidFill>
              <a:latin typeface="Trebuchet MS"/>
            </a:endParaRPr>
          </a:p>
        </p:txBody>
      </p:sp>
      <p:sp>
        <p:nvSpPr>
          <p:cNvPr id="5" name="TextBox 4">
            <a:extLst>
              <a:ext uri="{FF2B5EF4-FFF2-40B4-BE49-F238E27FC236}">
                <a16:creationId xmlns:a16="http://schemas.microsoft.com/office/drawing/2014/main" id="{9AF127D8-D683-1A6C-6A13-1B94B31F4B5B}"/>
              </a:ext>
            </a:extLst>
          </p:cNvPr>
          <p:cNvSpPr txBox="1"/>
          <p:nvPr/>
        </p:nvSpPr>
        <p:spPr>
          <a:xfrm>
            <a:off x="1487488" y="1772816"/>
            <a:ext cx="9865096" cy="4455835"/>
          </a:xfrm>
          <a:prstGeom prst="rect">
            <a:avLst/>
          </a:prstGeom>
          <a:noFill/>
        </p:spPr>
        <p:txBody>
          <a:bodyPr wrap="square">
            <a:spAutoFit/>
          </a:bodyPr>
          <a:lstStyle/>
          <a:p>
            <a:pPr>
              <a:lnSpc>
                <a:spcPct val="150000"/>
              </a:lnSpc>
            </a:pPr>
            <a:r>
              <a:rPr lang="en-IN" sz="2400" dirty="0">
                <a:solidFill>
                  <a:srgbClr val="6600FF"/>
                </a:solidFill>
              </a:rPr>
              <a:t>CONCLUSION</a:t>
            </a:r>
          </a:p>
          <a:p>
            <a:pPr marL="285750" indent="-285750">
              <a:lnSpc>
                <a:spcPct val="150000"/>
              </a:lnSpc>
              <a:buFont typeface="Arial" panose="020B0604020202020204" pitchFamily="34" charset="0"/>
              <a:buChar char="•"/>
            </a:pPr>
            <a:r>
              <a:rPr lang="en-IN" sz="2400" dirty="0">
                <a:solidFill>
                  <a:srgbClr val="6600FF"/>
                </a:solidFill>
              </a:rPr>
              <a:t>Designed a multimodal AI-based pet health assistance system.</a:t>
            </a:r>
          </a:p>
          <a:p>
            <a:pPr marL="285750" indent="-285750">
              <a:lnSpc>
                <a:spcPct val="150000"/>
              </a:lnSpc>
              <a:buFont typeface="Arial" panose="020B0604020202020204" pitchFamily="34" charset="0"/>
              <a:buChar char="•"/>
            </a:pPr>
            <a:r>
              <a:rPr lang="en-IN" sz="2400" dirty="0">
                <a:solidFill>
                  <a:srgbClr val="6600FF"/>
                </a:solidFill>
              </a:rPr>
              <a:t>Integrated severity prediction.</a:t>
            </a:r>
          </a:p>
          <a:p>
            <a:pPr marL="285750" indent="-285750">
              <a:lnSpc>
                <a:spcPct val="150000"/>
              </a:lnSpc>
              <a:buFont typeface="Arial" panose="020B0604020202020204" pitchFamily="34" charset="0"/>
              <a:buChar char="•"/>
            </a:pPr>
            <a:r>
              <a:rPr lang="en-IN" sz="2400" dirty="0">
                <a:solidFill>
                  <a:srgbClr val="6600FF"/>
                </a:solidFill>
              </a:rPr>
              <a:t>Added actionable home-care guidance.</a:t>
            </a:r>
          </a:p>
          <a:p>
            <a:pPr marL="285750" indent="-285750">
              <a:lnSpc>
                <a:spcPct val="150000"/>
              </a:lnSpc>
              <a:buFont typeface="Arial" panose="020B0604020202020204" pitchFamily="34" charset="0"/>
              <a:buChar char="•"/>
            </a:pPr>
            <a:r>
              <a:rPr lang="en-IN" sz="2400" dirty="0">
                <a:solidFill>
                  <a:srgbClr val="6600FF"/>
                </a:solidFill>
              </a:rPr>
              <a:t>Implemented vet recommendation module.</a:t>
            </a:r>
          </a:p>
          <a:p>
            <a:pPr marL="285750" indent="-285750">
              <a:lnSpc>
                <a:spcPct val="150000"/>
              </a:lnSpc>
              <a:buFont typeface="Arial" panose="020B0604020202020204" pitchFamily="34" charset="0"/>
              <a:buChar char="•"/>
            </a:pPr>
            <a:r>
              <a:rPr lang="en-IN" sz="2400" dirty="0">
                <a:solidFill>
                  <a:srgbClr val="6600FF"/>
                </a:solidFill>
              </a:rPr>
              <a:t>Built scalable modular architecture.</a:t>
            </a:r>
          </a:p>
          <a:p>
            <a:pPr marL="285750" indent="-285750">
              <a:lnSpc>
                <a:spcPct val="150000"/>
              </a:lnSpc>
              <a:buFont typeface="Arial" panose="020B0604020202020204" pitchFamily="34" charset="0"/>
              <a:buChar char="•"/>
            </a:pPr>
            <a:r>
              <a:rPr lang="en-IN" sz="2400" dirty="0">
                <a:solidFill>
                  <a:srgbClr val="6600FF"/>
                </a:solidFill>
              </a:rPr>
              <a:t>This system bridges the gap between AI prediction and practical veterinary assistance</a:t>
            </a:r>
            <a:r>
              <a:rPr lang="en-IN" dirty="0">
                <a:solidFill>
                  <a:srgbClr val="6600FF"/>
                </a:solidFill>
              </a:rPr>
              <a:t>.</a:t>
            </a:r>
          </a:p>
        </p:txBody>
      </p:sp>
    </p:spTree>
    <p:extLst>
      <p:ext uri="{BB962C8B-B14F-4D97-AF65-F5344CB8AC3E}">
        <p14:creationId xmlns:p14="http://schemas.microsoft.com/office/powerpoint/2010/main" val="2374062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References</a:t>
            </a:r>
          </a:p>
        </p:txBody>
      </p:sp>
      <p:sp>
        <p:nvSpPr>
          <p:cNvPr id="6" name="Content Placeholder 2"/>
          <p:cNvSpPr txBox="1">
            <a:spLocks/>
          </p:cNvSpPr>
          <p:nvPr/>
        </p:nvSpPr>
        <p:spPr>
          <a:xfrm>
            <a:off x="767408" y="1268760"/>
            <a:ext cx="10243864" cy="4724400"/>
          </a:xfrm>
          <a:prstGeom prst="rect">
            <a:avLst/>
          </a:prstGeom>
        </p:spPr>
        <p:txBody>
          <a:bodyPr/>
          <a:lstStyle/>
          <a:p>
            <a:pPr marL="342900" indent="12700" algn="just" eaLnBrk="0" hangingPunct="0">
              <a:spcBef>
                <a:spcPct val="20000"/>
              </a:spcBef>
              <a:defRPr/>
            </a:pPr>
            <a:endParaRPr lang="en-IN" sz="2400" dirty="0">
              <a:solidFill>
                <a:srgbClr val="0000FF"/>
              </a:solidFill>
              <a:latin typeface="Trebuchet MS" pitchFamily="34" charset="0"/>
            </a:endParaRPr>
          </a:p>
          <a:p>
            <a:pPr marL="342900" indent="12700" algn="just" eaLnBrk="0" hangingPunct="0">
              <a:spcBef>
                <a:spcPct val="20000"/>
              </a:spcBef>
              <a:defRPr/>
            </a:pPr>
            <a:endParaRPr lang="en-IN" sz="2400" dirty="0">
              <a:solidFill>
                <a:srgbClr val="0000FF"/>
              </a:solidFill>
              <a:latin typeface="Trebuchet MS" pitchFamily="34" charset="0"/>
            </a:endParaRPr>
          </a:p>
          <a:p>
            <a:pPr marL="1077913" lvl="1" indent="-265113" algn="just" eaLnBrk="0" hangingPunct="0">
              <a:spcBef>
                <a:spcPct val="20000"/>
              </a:spcBef>
              <a:defRPr/>
            </a:pPr>
            <a:r>
              <a:rPr lang="en-IN" sz="2400" dirty="0">
                <a:solidFill>
                  <a:srgbClr val="0000FF"/>
                </a:solidFill>
                <a:latin typeface="Trebuchet MS" pitchFamily="34" charset="0"/>
              </a:rPr>
              <a:t>📚 References (IEEE Format)</a:t>
            </a:r>
          </a:p>
          <a:p>
            <a:pPr marL="1077913" lvl="1" indent="-265113" algn="just" eaLnBrk="0" hangingPunct="0">
              <a:spcBef>
                <a:spcPct val="20000"/>
              </a:spcBef>
              <a:defRPr/>
            </a:pPr>
            <a:r>
              <a:rPr lang="en-IN" sz="2400" dirty="0">
                <a:solidFill>
                  <a:srgbClr val="0000FF"/>
                </a:solidFill>
                <a:latin typeface="Trebuchet MS" pitchFamily="34" charset="0"/>
              </a:rPr>
              <a:t>   1) L. Chen, M. Zhao, and Y. Li, “A Multimodal Fusion Approach for Veterinary Disease Detection,” Computers in Biology and Medicine, vol. 169, pp. 107534, 2024.</a:t>
            </a:r>
          </a:p>
          <a:p>
            <a:pPr marL="1077913" lvl="1" indent="-265113" algn="just" eaLnBrk="0" hangingPunct="0">
              <a:spcBef>
                <a:spcPct val="20000"/>
              </a:spcBef>
              <a:defRPr/>
            </a:pPr>
            <a:r>
              <a:rPr lang="en-IN" sz="2400" dirty="0">
                <a:solidFill>
                  <a:srgbClr val="0000FF"/>
                </a:solidFill>
                <a:latin typeface="Trebuchet MS" pitchFamily="34" charset="0"/>
              </a:rPr>
              <a:t>   2) A. Kumar, R. Sharma, and S. Gupta, “Deep Learning-Based Pet Disease Diagnosis Using Skin and Fur Images,” IEEE Access, vol. 11, pp. 45782–45791, 2023.</a:t>
            </a:r>
          </a:p>
          <a:p>
            <a:pPr marL="342900" indent="-342900" eaLnBrk="0" hangingPunct="0">
              <a:spcBef>
                <a:spcPct val="20000"/>
              </a:spcBef>
              <a:defRPr/>
            </a:pPr>
            <a:endParaRPr lang="en-IN" sz="2000" kern="0" dirty="0">
              <a:latin typeface="Trebuchet MS" pitchFamily="34" charset="0"/>
            </a:endParaRPr>
          </a:p>
        </p:txBody>
      </p:sp>
    </p:spTree>
    <p:extLst>
      <p:ext uri="{BB962C8B-B14F-4D97-AF65-F5344CB8AC3E}">
        <p14:creationId xmlns:p14="http://schemas.microsoft.com/office/powerpoint/2010/main" val="3902358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71485" y="3352800"/>
            <a:ext cx="2506584" cy="707886"/>
          </a:xfrm>
          <a:prstGeom prst="rect">
            <a:avLst/>
          </a:prstGeom>
        </p:spPr>
        <p:txBody>
          <a:bodyPr wrap="none">
            <a:spAutoFit/>
          </a:bodyPr>
          <a:lstStyle/>
          <a:p>
            <a:pPr algn="r"/>
            <a:r>
              <a:rPr lang="en-US" sz="4000" dirty="0">
                <a:solidFill>
                  <a:srgbClr val="FF0000"/>
                </a:solidFill>
                <a:latin typeface="Trebuchet MS" pitchFamily="34"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560</TotalTime>
  <Words>1544</Words>
  <Application>Microsoft Office PowerPoint</Application>
  <PresentationFormat>Widescreen</PresentationFormat>
  <Paragraphs>232</Paragraphs>
  <Slides>30</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Deepika N</dc:creator>
  <cp:lastModifiedBy>Renuka Hosamani</cp:lastModifiedBy>
  <cp:revision>51</cp:revision>
  <dcterms:created xsi:type="dcterms:W3CDTF">2020-11-22T08:14:37Z</dcterms:created>
  <dcterms:modified xsi:type="dcterms:W3CDTF">2026-02-19T07:06:01Z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