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19"/>
  </p:notesMasterIdLst>
  <p:handoutMasterIdLst>
    <p:handoutMasterId r:id="rId20"/>
  </p:handoutMasterIdLst>
  <p:sldIdLst>
    <p:sldId id="538" r:id="rId2"/>
    <p:sldId id="535" r:id="rId3"/>
    <p:sldId id="570" r:id="rId4"/>
    <p:sldId id="572" r:id="rId5"/>
    <p:sldId id="569" r:id="rId6"/>
    <p:sldId id="588" r:id="rId7"/>
    <p:sldId id="557" r:id="rId8"/>
    <p:sldId id="585" r:id="rId9"/>
    <p:sldId id="586" r:id="rId10"/>
    <p:sldId id="589" r:id="rId11"/>
    <p:sldId id="568" r:id="rId12"/>
    <p:sldId id="587" r:id="rId13"/>
    <p:sldId id="583" r:id="rId14"/>
    <p:sldId id="545" r:id="rId15"/>
    <p:sldId id="584" r:id="rId16"/>
    <p:sldId id="552" r:id="rId17"/>
    <p:sldId id="549" r:id="rId18"/>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DEDB696-0069-4698-BDCD-32D7159D9266}">
          <p14:sldIdLst>
            <p14:sldId id="538"/>
            <p14:sldId id="535"/>
            <p14:sldId id="570"/>
            <p14:sldId id="572"/>
            <p14:sldId id="569"/>
            <p14:sldId id="588"/>
            <p14:sldId id="557"/>
            <p14:sldId id="585"/>
            <p14:sldId id="586"/>
            <p14:sldId id="589"/>
            <p14:sldId id="568"/>
            <p14:sldId id="587"/>
            <p14:sldId id="583"/>
            <p14:sldId id="545"/>
            <p14:sldId id="584"/>
            <p14:sldId id="552"/>
            <p14:sldId id="54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00FF"/>
    <a:srgbClr val="0066FF"/>
    <a:srgbClr val="FF33CC"/>
    <a:srgbClr val="FF0066"/>
    <a:srgbClr val="33CC33"/>
    <a:srgbClr val="00FFFF"/>
    <a:srgbClr val="6600FF"/>
    <a:srgbClr val="CC66FF"/>
    <a:srgbClr val="6283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86811" autoAdjust="0"/>
  </p:normalViewPr>
  <p:slideViewPr>
    <p:cSldViewPr>
      <p:cViewPr varScale="1">
        <p:scale>
          <a:sx n="82" d="100"/>
          <a:sy n="82" d="100"/>
        </p:scale>
        <p:origin x="710" y="72"/>
      </p:cViewPr>
      <p:guideLst>
        <p:guide orient="horz" pos="2160"/>
        <p:guide pos="3840"/>
      </p:guideLst>
    </p:cSldViewPr>
  </p:slideViewPr>
  <p:notesTextViewPr>
    <p:cViewPr>
      <p:scale>
        <a:sx n="100" d="100"/>
        <a:sy n="100" d="100"/>
      </p:scale>
      <p:origin x="0" y="0"/>
    </p:cViewPr>
  </p:notesTextViewPr>
  <p:sorterViewPr>
    <p:cViewPr>
      <p:scale>
        <a:sx n="90" d="100"/>
        <a:sy n="90" d="100"/>
      </p:scale>
      <p:origin x="0" y="13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26A7C97D-3554-44E0-8E72-665D45387ACC}" type="datetimeFigureOut">
              <a:rPr lang="en-US"/>
              <a:pPr>
                <a:defRPr/>
              </a:pPr>
              <a:t>11/6/2025</a:t>
            </a:fld>
            <a:endParaRPr lang="en-US"/>
          </a:p>
        </p:txBody>
      </p:sp>
      <p:sp>
        <p:nvSpPr>
          <p:cNvPr id="4" name="Footer Placeholder 3"/>
          <p:cNvSpPr>
            <a:spLocks noGrp="1"/>
          </p:cNvSpPr>
          <p:nvPr>
            <p:ph type="ftr" sz="quarter" idx="2"/>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1486DC43-659C-4A17-BDC0-5684401D4FAB}"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C973BE83-6A1D-4DA3-83D0-ED76C71EFE38}" type="datetimeFigureOut">
              <a:rPr lang="en-US"/>
              <a:pPr>
                <a:defRPr/>
              </a:pPr>
              <a:t>11/6/2025</a:t>
            </a:fld>
            <a:endParaRPr lang="en-US"/>
          </a:p>
        </p:txBody>
      </p:sp>
      <p:sp>
        <p:nvSpPr>
          <p:cNvPr id="4" name="Slide Image Placeholder 3"/>
          <p:cNvSpPr>
            <a:spLocks noGrp="1" noRot="1" noChangeAspect="1"/>
          </p:cNvSpPr>
          <p:nvPr>
            <p:ph type="sldImg" idx="2"/>
          </p:nvPr>
        </p:nvSpPr>
        <p:spPr>
          <a:xfrm>
            <a:off x="407988" y="696913"/>
            <a:ext cx="6196012"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848" y="4416426"/>
            <a:ext cx="560832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01C81575-24DE-4F6C-A73E-0331B3B2E41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3</a:t>
            </a:fld>
            <a:endParaRPr lang="en-US"/>
          </a:p>
        </p:txBody>
      </p:sp>
    </p:spTree>
    <p:extLst>
      <p:ext uri="{BB962C8B-B14F-4D97-AF65-F5344CB8AC3E}">
        <p14:creationId xmlns:p14="http://schemas.microsoft.com/office/powerpoint/2010/main" val="3517047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4</a:t>
            </a:fld>
            <a:endParaRPr lang="en-US"/>
          </a:p>
        </p:txBody>
      </p:sp>
    </p:spTree>
    <p:extLst>
      <p:ext uri="{BB962C8B-B14F-4D97-AF65-F5344CB8AC3E}">
        <p14:creationId xmlns:p14="http://schemas.microsoft.com/office/powerpoint/2010/main" val="2213043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5</a:t>
            </a:fld>
            <a:endParaRPr lang="en-US"/>
          </a:p>
        </p:txBody>
      </p:sp>
    </p:spTree>
    <p:extLst>
      <p:ext uri="{BB962C8B-B14F-4D97-AF65-F5344CB8AC3E}">
        <p14:creationId xmlns:p14="http://schemas.microsoft.com/office/powerpoint/2010/main" val="4131966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DE73D-8ECF-AF98-63B1-C3C5C8D58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F97682-F0C4-2DAE-14ED-FD74B0EA163D}"/>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85C0B31B-FD23-B3BE-3D10-42B801E3291B}"/>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63173067-ECEF-68C9-F67D-53A99CA971D4}"/>
              </a:ext>
            </a:extLst>
          </p:cNvPr>
          <p:cNvSpPr>
            <a:spLocks noGrp="1"/>
          </p:cNvSpPr>
          <p:nvPr>
            <p:ph type="sldNum" sz="quarter" idx="10"/>
          </p:nvPr>
        </p:nvSpPr>
        <p:spPr/>
        <p:txBody>
          <a:bodyPr/>
          <a:lstStyle/>
          <a:p>
            <a:pPr>
              <a:defRPr/>
            </a:pPr>
            <a:fld id="{01C81575-24DE-4F6C-A73E-0331B3B2E418}" type="slidenum">
              <a:rPr lang="en-US" smtClean="0"/>
              <a:pPr>
                <a:defRPr/>
              </a:pPr>
              <a:t>8</a:t>
            </a:fld>
            <a:endParaRPr lang="en-US"/>
          </a:p>
        </p:txBody>
      </p:sp>
    </p:spTree>
    <p:extLst>
      <p:ext uri="{BB962C8B-B14F-4D97-AF65-F5344CB8AC3E}">
        <p14:creationId xmlns:p14="http://schemas.microsoft.com/office/powerpoint/2010/main" val="3938615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34CEF-7073-D7AB-EC74-925D23444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E6DAC7-DAEB-2A57-A800-59BBBFC1C847}"/>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5799C16C-4B0D-EDC4-B7BB-F29488713B23}"/>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48FBF1AB-0288-1910-8236-CA0405E44132}"/>
              </a:ext>
            </a:extLst>
          </p:cNvPr>
          <p:cNvSpPr>
            <a:spLocks noGrp="1"/>
          </p:cNvSpPr>
          <p:nvPr>
            <p:ph type="sldNum" sz="quarter" idx="10"/>
          </p:nvPr>
        </p:nvSpPr>
        <p:spPr/>
        <p:txBody>
          <a:bodyPr/>
          <a:lstStyle/>
          <a:p>
            <a:pPr>
              <a:defRPr/>
            </a:pPr>
            <a:fld id="{01C81575-24DE-4F6C-A73E-0331B3B2E418}" type="slidenum">
              <a:rPr lang="en-US" smtClean="0"/>
              <a:pPr>
                <a:defRPr/>
              </a:pPr>
              <a:t>9</a:t>
            </a:fld>
            <a:endParaRPr lang="en-US"/>
          </a:p>
        </p:txBody>
      </p:sp>
    </p:spTree>
    <p:extLst>
      <p:ext uri="{BB962C8B-B14F-4D97-AF65-F5344CB8AC3E}">
        <p14:creationId xmlns:p14="http://schemas.microsoft.com/office/powerpoint/2010/main" val="3265499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11</a:t>
            </a:fld>
            <a:endParaRPr lang="en-US"/>
          </a:p>
        </p:txBody>
      </p:sp>
    </p:spTree>
    <p:extLst>
      <p:ext uri="{BB962C8B-B14F-4D97-AF65-F5344CB8AC3E}">
        <p14:creationId xmlns:p14="http://schemas.microsoft.com/office/powerpoint/2010/main" val="3225730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4A08C-C927-42D4-1E74-E3E84DDC8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600B6-8D8C-B153-664A-47537DFB3D5B}"/>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003644BB-518F-0B90-4C82-4A9E7FA23AD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71FC9081-9950-9395-6E9B-8C95CBB2A000}"/>
              </a:ext>
            </a:extLst>
          </p:cNvPr>
          <p:cNvSpPr>
            <a:spLocks noGrp="1"/>
          </p:cNvSpPr>
          <p:nvPr>
            <p:ph type="sldNum" sz="quarter" idx="10"/>
          </p:nvPr>
        </p:nvSpPr>
        <p:spPr/>
        <p:txBody>
          <a:bodyPr/>
          <a:lstStyle/>
          <a:p>
            <a:pPr>
              <a:defRPr/>
            </a:pPr>
            <a:fld id="{01C81575-24DE-4F6C-A73E-0331B3B2E418}" type="slidenum">
              <a:rPr lang="en-US" smtClean="0"/>
              <a:pPr>
                <a:defRPr/>
              </a:pPr>
              <a:t>12</a:t>
            </a:fld>
            <a:endParaRPr lang="en-US"/>
          </a:p>
        </p:txBody>
      </p:sp>
    </p:spTree>
    <p:extLst>
      <p:ext uri="{BB962C8B-B14F-4D97-AF65-F5344CB8AC3E}">
        <p14:creationId xmlns:p14="http://schemas.microsoft.com/office/powerpoint/2010/main" val="345797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16</a:t>
            </a:fld>
            <a:endParaRPr lang="en-US"/>
          </a:p>
        </p:txBody>
      </p:sp>
    </p:spTree>
    <p:extLst>
      <p:ext uri="{BB962C8B-B14F-4D97-AF65-F5344CB8AC3E}">
        <p14:creationId xmlns:p14="http://schemas.microsoft.com/office/powerpoint/2010/main" val="4174625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13C8-F183-1D43-AE77-BF9BD4D2AE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7AF752-0EC0-CF4D-965A-5129A91359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E32540-0688-DC4A-809A-52FB3313D316}"/>
              </a:ext>
            </a:extLst>
          </p:cNvPr>
          <p:cNvSpPr>
            <a:spLocks noGrp="1"/>
          </p:cNvSpPr>
          <p:nvPr>
            <p:ph type="dt" sz="half" idx="10"/>
          </p:nvPr>
        </p:nvSpPr>
        <p:spPr/>
        <p:txBody>
          <a:bodyPr/>
          <a:lstStyle/>
          <a:p>
            <a:fld id="{2D1A7037-0853-0447-B5BA-F1548123F733}" type="datetimeFigureOut">
              <a:rPr lang="en-US" smtClean="0"/>
              <a:pPr/>
              <a:t>11/6/2025</a:t>
            </a:fld>
            <a:endParaRPr lang="en-US"/>
          </a:p>
        </p:txBody>
      </p:sp>
      <p:sp>
        <p:nvSpPr>
          <p:cNvPr id="5" name="Footer Placeholder 4">
            <a:extLst>
              <a:ext uri="{FF2B5EF4-FFF2-40B4-BE49-F238E27FC236}">
                <a16:creationId xmlns:a16="http://schemas.microsoft.com/office/drawing/2014/main" id="{0F2CA43E-0611-D047-BC7B-31F920B65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E4123-5713-BC41-BBD0-42ADF35D9634}"/>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92070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DED43-C903-1F44-A779-40DF9AEFDE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9975D8-34AD-544B-B0E2-83FA77D2F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24DD5-B8E0-534E-B68A-EF415575E505}"/>
              </a:ext>
            </a:extLst>
          </p:cNvPr>
          <p:cNvSpPr>
            <a:spLocks noGrp="1"/>
          </p:cNvSpPr>
          <p:nvPr>
            <p:ph type="dt" sz="half" idx="10"/>
          </p:nvPr>
        </p:nvSpPr>
        <p:spPr/>
        <p:txBody>
          <a:bodyPr/>
          <a:lstStyle/>
          <a:p>
            <a:fld id="{2D1A7037-0853-0447-B5BA-F1548123F733}" type="datetimeFigureOut">
              <a:rPr lang="en-US" smtClean="0"/>
              <a:pPr/>
              <a:t>11/6/2025</a:t>
            </a:fld>
            <a:endParaRPr lang="en-US"/>
          </a:p>
        </p:txBody>
      </p:sp>
      <p:sp>
        <p:nvSpPr>
          <p:cNvPr id="5" name="Footer Placeholder 4">
            <a:extLst>
              <a:ext uri="{FF2B5EF4-FFF2-40B4-BE49-F238E27FC236}">
                <a16:creationId xmlns:a16="http://schemas.microsoft.com/office/drawing/2014/main" id="{45096688-5BB1-5E48-BD14-BBC9FA67D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C407C-3003-DB44-98B5-0DEC6272B11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12291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630D-09E2-0742-AED8-D3F732546C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5B2CD3-A564-8044-A4EC-7EBA262987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2A64EE-79C1-8B46-BA9C-199117C7B485}"/>
              </a:ext>
            </a:extLst>
          </p:cNvPr>
          <p:cNvSpPr>
            <a:spLocks noGrp="1"/>
          </p:cNvSpPr>
          <p:nvPr>
            <p:ph type="dt" sz="half" idx="10"/>
          </p:nvPr>
        </p:nvSpPr>
        <p:spPr/>
        <p:txBody>
          <a:bodyPr/>
          <a:lstStyle/>
          <a:p>
            <a:fld id="{2D1A7037-0853-0447-B5BA-F1548123F733}" type="datetimeFigureOut">
              <a:rPr lang="en-US" smtClean="0"/>
              <a:pPr/>
              <a:t>11/6/2025</a:t>
            </a:fld>
            <a:endParaRPr lang="en-US"/>
          </a:p>
        </p:txBody>
      </p:sp>
      <p:sp>
        <p:nvSpPr>
          <p:cNvPr id="5" name="Footer Placeholder 4">
            <a:extLst>
              <a:ext uri="{FF2B5EF4-FFF2-40B4-BE49-F238E27FC236}">
                <a16:creationId xmlns:a16="http://schemas.microsoft.com/office/drawing/2014/main" id="{A851AAB2-DA47-AE48-A088-6FC7C1694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8FF9C-19C9-FA46-8C21-74202499420D}"/>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71791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BAF5-C913-024F-8BE6-64C58F9702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5E6DB7-D3D7-1443-A583-8730715E2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CEB82F-3E99-7441-9B06-6D7C2156AB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26D282-1572-D344-87D1-785DA8576020}"/>
              </a:ext>
            </a:extLst>
          </p:cNvPr>
          <p:cNvSpPr>
            <a:spLocks noGrp="1"/>
          </p:cNvSpPr>
          <p:nvPr>
            <p:ph type="dt" sz="half" idx="10"/>
          </p:nvPr>
        </p:nvSpPr>
        <p:spPr/>
        <p:txBody>
          <a:bodyPr/>
          <a:lstStyle/>
          <a:p>
            <a:fld id="{2D1A7037-0853-0447-B5BA-F1548123F733}" type="datetimeFigureOut">
              <a:rPr lang="en-US" smtClean="0"/>
              <a:pPr/>
              <a:t>11/6/2025</a:t>
            </a:fld>
            <a:endParaRPr lang="en-US"/>
          </a:p>
        </p:txBody>
      </p:sp>
      <p:sp>
        <p:nvSpPr>
          <p:cNvPr id="6" name="Footer Placeholder 5">
            <a:extLst>
              <a:ext uri="{FF2B5EF4-FFF2-40B4-BE49-F238E27FC236}">
                <a16:creationId xmlns:a16="http://schemas.microsoft.com/office/drawing/2014/main" id="{3723D760-065F-6442-AF7E-1A7AAFFCA9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BF4C15-EC3A-7E41-A2B3-D2AB7D70EB32}"/>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265704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2CC90-B8AE-8A46-A8A5-F7E8DA615E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E152C5-AA77-4B47-965C-21A00C1EEC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466F8D-3502-5242-9160-E1CDE38E0A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754302-8F9A-5648-9C5E-6D037F1C75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9FC9CD-8823-F145-9952-EFBA9ACD2E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5EF4D9-655F-4842-A6B8-D44A050122B8}"/>
              </a:ext>
            </a:extLst>
          </p:cNvPr>
          <p:cNvSpPr>
            <a:spLocks noGrp="1"/>
          </p:cNvSpPr>
          <p:nvPr>
            <p:ph type="dt" sz="half" idx="10"/>
          </p:nvPr>
        </p:nvSpPr>
        <p:spPr/>
        <p:txBody>
          <a:bodyPr/>
          <a:lstStyle/>
          <a:p>
            <a:fld id="{2D1A7037-0853-0447-B5BA-F1548123F733}" type="datetimeFigureOut">
              <a:rPr lang="en-US" smtClean="0"/>
              <a:pPr/>
              <a:t>11/6/2025</a:t>
            </a:fld>
            <a:endParaRPr lang="en-US"/>
          </a:p>
        </p:txBody>
      </p:sp>
      <p:sp>
        <p:nvSpPr>
          <p:cNvPr id="8" name="Footer Placeholder 7">
            <a:extLst>
              <a:ext uri="{FF2B5EF4-FFF2-40B4-BE49-F238E27FC236}">
                <a16:creationId xmlns:a16="http://schemas.microsoft.com/office/drawing/2014/main" id="{08E68A74-725F-8F40-8F80-E96287703E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D868FA-8565-A740-9B9C-B3CD6AB33570}"/>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1827854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DFCE3-1C1E-7448-AF7E-5E46BB140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19D5C9-50F6-8546-8D8C-AFACC1BC1B4F}"/>
              </a:ext>
            </a:extLst>
          </p:cNvPr>
          <p:cNvSpPr>
            <a:spLocks noGrp="1"/>
          </p:cNvSpPr>
          <p:nvPr>
            <p:ph type="dt" sz="half" idx="10"/>
          </p:nvPr>
        </p:nvSpPr>
        <p:spPr/>
        <p:txBody>
          <a:bodyPr/>
          <a:lstStyle/>
          <a:p>
            <a:fld id="{2D1A7037-0853-0447-B5BA-F1548123F733}" type="datetimeFigureOut">
              <a:rPr lang="en-US" smtClean="0"/>
              <a:pPr/>
              <a:t>11/6/2025</a:t>
            </a:fld>
            <a:endParaRPr lang="en-US"/>
          </a:p>
        </p:txBody>
      </p:sp>
      <p:sp>
        <p:nvSpPr>
          <p:cNvPr id="4" name="Footer Placeholder 3">
            <a:extLst>
              <a:ext uri="{FF2B5EF4-FFF2-40B4-BE49-F238E27FC236}">
                <a16:creationId xmlns:a16="http://schemas.microsoft.com/office/drawing/2014/main" id="{1DEA0D0C-FCAF-4F4C-AAF5-C9B78C03C4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68836A-EEA3-7347-A63C-8E66DF7B345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602287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A43C1-2303-5A41-B234-90D15E2A4B17}"/>
              </a:ext>
            </a:extLst>
          </p:cNvPr>
          <p:cNvSpPr>
            <a:spLocks noGrp="1"/>
          </p:cNvSpPr>
          <p:nvPr>
            <p:ph type="dt" sz="half" idx="10"/>
          </p:nvPr>
        </p:nvSpPr>
        <p:spPr/>
        <p:txBody>
          <a:bodyPr/>
          <a:lstStyle/>
          <a:p>
            <a:fld id="{2D1A7037-0853-0447-B5BA-F1548123F733}" type="datetimeFigureOut">
              <a:rPr lang="en-US" smtClean="0"/>
              <a:pPr/>
              <a:t>11/6/2025</a:t>
            </a:fld>
            <a:endParaRPr lang="en-US"/>
          </a:p>
        </p:txBody>
      </p:sp>
      <p:sp>
        <p:nvSpPr>
          <p:cNvPr id="3" name="Footer Placeholder 2">
            <a:extLst>
              <a:ext uri="{FF2B5EF4-FFF2-40B4-BE49-F238E27FC236}">
                <a16:creationId xmlns:a16="http://schemas.microsoft.com/office/drawing/2014/main" id="{9EA77971-B281-6149-9884-0E9C45F816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D0F6F3-1061-E842-B540-6BD0D6CB8D59}"/>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873732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970D-13D5-B346-968D-400B0BCCF6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9FFE0-37CD-7644-A007-76E5304F12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210BE7-EA92-B44F-9EEC-94E6F6955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6D810-D2A1-B549-A5BC-25CCA5CDCD3C}"/>
              </a:ext>
            </a:extLst>
          </p:cNvPr>
          <p:cNvSpPr>
            <a:spLocks noGrp="1"/>
          </p:cNvSpPr>
          <p:nvPr>
            <p:ph type="dt" sz="half" idx="10"/>
          </p:nvPr>
        </p:nvSpPr>
        <p:spPr/>
        <p:txBody>
          <a:bodyPr/>
          <a:lstStyle/>
          <a:p>
            <a:fld id="{2D1A7037-0853-0447-B5BA-F1548123F733}" type="datetimeFigureOut">
              <a:rPr lang="en-US" smtClean="0"/>
              <a:pPr/>
              <a:t>11/6/2025</a:t>
            </a:fld>
            <a:endParaRPr lang="en-US"/>
          </a:p>
        </p:txBody>
      </p:sp>
      <p:sp>
        <p:nvSpPr>
          <p:cNvPr id="6" name="Footer Placeholder 5">
            <a:extLst>
              <a:ext uri="{FF2B5EF4-FFF2-40B4-BE49-F238E27FC236}">
                <a16:creationId xmlns:a16="http://schemas.microsoft.com/office/drawing/2014/main" id="{6AD872D2-2005-3043-A02D-3E2DB9334E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F9F01D-1164-4249-AD67-1D51D33C01DC}"/>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580386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3B30-2A71-A043-9BD7-3B8C66BF7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2B08A9-6B45-4340-8859-996D9B949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6B1F4B2-96C1-614B-9110-8D1AEE080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7DF3EB-6252-5845-AE7D-FB94ECF9F136}"/>
              </a:ext>
            </a:extLst>
          </p:cNvPr>
          <p:cNvSpPr>
            <a:spLocks noGrp="1"/>
          </p:cNvSpPr>
          <p:nvPr>
            <p:ph type="dt" sz="half" idx="10"/>
          </p:nvPr>
        </p:nvSpPr>
        <p:spPr/>
        <p:txBody>
          <a:bodyPr/>
          <a:lstStyle/>
          <a:p>
            <a:fld id="{2D1A7037-0853-0447-B5BA-F1548123F733}" type="datetimeFigureOut">
              <a:rPr lang="en-US" smtClean="0"/>
              <a:pPr/>
              <a:t>11/6/2025</a:t>
            </a:fld>
            <a:endParaRPr lang="en-US"/>
          </a:p>
        </p:txBody>
      </p:sp>
      <p:sp>
        <p:nvSpPr>
          <p:cNvPr id="6" name="Footer Placeholder 5">
            <a:extLst>
              <a:ext uri="{FF2B5EF4-FFF2-40B4-BE49-F238E27FC236}">
                <a16:creationId xmlns:a16="http://schemas.microsoft.com/office/drawing/2014/main" id="{D2D65DB7-EFE7-7446-8DEC-69F1FB47A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0E09F-0F32-5644-881A-A61CD82461E5}"/>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504594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E61B7-8DCD-1544-BC5D-B4592F60C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AB61D9-7FB3-1343-9555-936FC6036D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2A79E-2DF5-4E41-BDCF-90E9D26B7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A7037-0853-0447-B5BA-F1548123F733}" type="datetimeFigureOut">
              <a:rPr lang="en-US" smtClean="0"/>
              <a:pPr/>
              <a:t>11/6/2025</a:t>
            </a:fld>
            <a:endParaRPr lang="en-US"/>
          </a:p>
        </p:txBody>
      </p:sp>
      <p:sp>
        <p:nvSpPr>
          <p:cNvPr id="5" name="Footer Placeholder 4">
            <a:extLst>
              <a:ext uri="{FF2B5EF4-FFF2-40B4-BE49-F238E27FC236}">
                <a16:creationId xmlns:a16="http://schemas.microsoft.com/office/drawing/2014/main" id="{556D5DC5-E1CB-B84F-BCAB-EB319B3718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712A2C-5C91-4B43-A114-209348A10C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0E29-F314-934F-92DB-8EEB8DA68833}" type="slidenum">
              <a:rPr lang="en-US" smtClean="0"/>
              <a:pPr/>
              <a:t>‹#›</a:t>
            </a:fld>
            <a:endParaRPr lang="en-US"/>
          </a:p>
        </p:txBody>
      </p:sp>
      <p:pic>
        <p:nvPicPr>
          <p:cNvPr id="10" name="Picture 2" descr="PESSAT - All India Online Entrance Exam for Admission to PES University">
            <a:extLst>
              <a:ext uri="{FF2B5EF4-FFF2-40B4-BE49-F238E27FC236}">
                <a16:creationId xmlns:a16="http://schemas.microsoft.com/office/drawing/2014/main" id="{A3B97CAD-824E-EAC1-FC41-3EEEC584AA9C}"/>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167336" y="264409"/>
            <a:ext cx="1162050"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38320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03512" y="404664"/>
            <a:ext cx="7924800" cy="1138773"/>
          </a:xfrm>
          <a:prstGeom prst="rect">
            <a:avLst/>
          </a:prstGeom>
        </p:spPr>
        <p:txBody>
          <a:bodyPr wrap="square">
            <a:spAutoFit/>
          </a:bodyPr>
          <a:lstStyle/>
          <a:p>
            <a:pPr algn="ctr"/>
            <a:r>
              <a:rPr lang="en-US" sz="2800" b="1" dirty="0">
                <a:solidFill>
                  <a:srgbClr val="FF0000"/>
                </a:solidFill>
                <a:latin typeface="Trebuchet MS" pitchFamily="34" charset="0"/>
              </a:rPr>
              <a:t>UE23CS320A–  Project Phase – 1</a:t>
            </a:r>
          </a:p>
          <a:p>
            <a:pPr algn="ctr"/>
            <a:r>
              <a:rPr lang="en-US" sz="4000" dirty="0">
                <a:latin typeface="Trebuchet MS" pitchFamily="34" charset="0"/>
              </a:rPr>
              <a:t> </a:t>
            </a:r>
            <a:r>
              <a:rPr lang="en-US" sz="3600" dirty="0">
                <a:solidFill>
                  <a:srgbClr val="FF0000"/>
                </a:solidFill>
                <a:latin typeface="Trebuchet MS" pitchFamily="34" charset="0"/>
              </a:rPr>
              <a:t>Review -2</a:t>
            </a:r>
          </a:p>
        </p:txBody>
      </p:sp>
      <p:sp>
        <p:nvSpPr>
          <p:cNvPr id="4" name="Google Shape;26;p3"/>
          <p:cNvSpPr txBox="1"/>
          <p:nvPr/>
        </p:nvSpPr>
        <p:spPr>
          <a:xfrm>
            <a:off x="933450" y="1988840"/>
            <a:ext cx="10707166" cy="3816424"/>
          </a:xfrm>
          <a:prstGeom prst="rect">
            <a:avLst/>
          </a:prstGeom>
          <a:noFill/>
          <a:ln>
            <a:noFill/>
          </a:ln>
        </p:spPr>
        <p:txBody>
          <a:bodyPr spcFirstLastPara="1" wrap="square" lIns="91425" tIns="45700" rIns="91425" bIns="45700" anchor="t" anchorCtr="0">
            <a:noAutofit/>
          </a:bodyPr>
          <a:lstStyle/>
          <a:p>
            <a:pPr>
              <a:spcBef>
                <a:spcPts val="0"/>
              </a:spcBef>
              <a:spcAft>
                <a:spcPts val="0"/>
              </a:spcAft>
            </a:pPr>
            <a:r>
              <a:rPr lang="en-IN" sz="2400" dirty="0">
                <a:solidFill>
                  <a:srgbClr val="0033CC"/>
                </a:solidFill>
                <a:latin typeface="Trebuchet MS"/>
                <a:ea typeface="Trebuchet MS"/>
                <a:cs typeface="Trebuchet MS"/>
                <a:sym typeface="Trebuchet MS"/>
              </a:rPr>
              <a:t>Project Title   :</a:t>
            </a:r>
            <a:r>
              <a:rPr lang="en-US" sz="2400" dirty="0"/>
              <a:t>AI-Based Dog Health Monitoring System Using Dual-Input</a:t>
            </a:r>
          </a:p>
          <a:p>
            <a:pPr>
              <a:spcBef>
                <a:spcPts val="0"/>
              </a:spcBef>
              <a:spcAft>
                <a:spcPts val="0"/>
              </a:spcAft>
            </a:pPr>
            <a:r>
              <a:rPr lang="en-US" sz="2400" dirty="0"/>
              <a:t>                         (Images + Symptoms) for Small, Medium, and Large Breeds</a:t>
            </a:r>
            <a:endParaRPr lang="en-IN" sz="2400" dirty="0">
              <a:solidFill>
                <a:srgbClr val="0033CC"/>
              </a:solidFill>
              <a:latin typeface="Trebuchet MS"/>
              <a:ea typeface="Trebuchet MS"/>
              <a:cs typeface="Trebuchet MS"/>
              <a:sym typeface="Trebuchet MS"/>
            </a:endParaRPr>
          </a:p>
          <a:p>
            <a:pPr>
              <a:spcBef>
                <a:spcPts val="0"/>
              </a:spcBef>
              <a:spcAft>
                <a:spcPts val="0"/>
              </a:spcAft>
            </a:pPr>
            <a:r>
              <a:rPr lang="en-IN" sz="2400" dirty="0">
                <a:solidFill>
                  <a:srgbClr val="0033CC"/>
                </a:solidFill>
                <a:latin typeface="Trebuchet MS"/>
                <a:ea typeface="Trebuchet MS"/>
                <a:cs typeface="Trebuchet MS"/>
                <a:sym typeface="Trebuchet MS"/>
              </a:rPr>
              <a:t>Project ID       :</a:t>
            </a:r>
            <a:r>
              <a:rPr lang="en-IN" sz="2400" dirty="0">
                <a:latin typeface="Trebuchet MS"/>
                <a:ea typeface="Trebuchet MS"/>
                <a:cs typeface="Trebuchet MS"/>
                <a:sym typeface="Trebuchet MS"/>
              </a:rPr>
              <a:t>193</a:t>
            </a:r>
          </a:p>
          <a:p>
            <a:pPr>
              <a:spcBef>
                <a:spcPts val="0"/>
              </a:spcBef>
              <a:spcAft>
                <a:spcPts val="0"/>
              </a:spcAft>
            </a:pPr>
            <a:r>
              <a:rPr lang="en-IN" sz="2400" dirty="0">
                <a:solidFill>
                  <a:srgbClr val="0033CC"/>
                </a:solidFill>
                <a:latin typeface="Trebuchet MS"/>
                <a:ea typeface="Trebuchet MS"/>
                <a:cs typeface="Trebuchet MS"/>
                <a:sym typeface="Trebuchet MS"/>
              </a:rPr>
              <a:t>Project Guide :</a:t>
            </a:r>
            <a:r>
              <a:rPr lang="en-IN" sz="2400" dirty="0">
                <a:latin typeface="Trebuchet MS"/>
                <a:ea typeface="Trebuchet MS"/>
                <a:cs typeface="Trebuchet MS"/>
                <a:sym typeface="Trebuchet MS"/>
              </a:rPr>
              <a:t>Prof. Umme Haani</a:t>
            </a:r>
            <a:r>
              <a:rPr lang="en-IN" sz="2400" dirty="0">
                <a:solidFill>
                  <a:srgbClr val="0033CC"/>
                </a:solidFill>
                <a:latin typeface="Trebuchet MS"/>
                <a:ea typeface="Trebuchet MS"/>
                <a:cs typeface="Trebuchet MS"/>
                <a:sym typeface="Trebuchet MS"/>
              </a:rPr>
              <a:t>               </a:t>
            </a:r>
          </a:p>
          <a:p>
            <a:pPr>
              <a:spcBef>
                <a:spcPts val="0"/>
              </a:spcBef>
              <a:spcAft>
                <a:spcPts val="0"/>
              </a:spcAft>
            </a:pPr>
            <a:r>
              <a:rPr lang="en-IN" sz="2400" dirty="0">
                <a:solidFill>
                  <a:srgbClr val="0033CC"/>
                </a:solidFill>
                <a:latin typeface="Trebuchet MS"/>
                <a:ea typeface="Trebuchet MS"/>
                <a:cs typeface="Trebuchet MS"/>
                <a:sym typeface="Trebuchet MS"/>
              </a:rPr>
              <a:t>Project Team  :</a:t>
            </a:r>
            <a:r>
              <a:rPr lang="en-IN" sz="2400" dirty="0">
                <a:latin typeface="Trebuchet MS"/>
                <a:ea typeface="Trebuchet MS"/>
                <a:cs typeface="Trebuchet MS"/>
                <a:sym typeface="Trebuchet MS"/>
              </a:rPr>
              <a:t>Aishwarya Ravi – PES2UG23AM008</a:t>
            </a:r>
          </a:p>
          <a:p>
            <a:pPr>
              <a:spcBef>
                <a:spcPts val="0"/>
              </a:spcBef>
              <a:spcAft>
                <a:spcPts val="0"/>
              </a:spcAft>
            </a:pPr>
            <a:r>
              <a:rPr lang="en-IN" sz="2400" dirty="0">
                <a:latin typeface="Trebuchet MS"/>
                <a:sym typeface="Trebuchet MS"/>
              </a:rPr>
              <a:t>                       Deepika N – PES2UG23AM028</a:t>
            </a:r>
          </a:p>
          <a:p>
            <a:pPr>
              <a:spcBef>
                <a:spcPts val="0"/>
              </a:spcBef>
              <a:spcAft>
                <a:spcPts val="0"/>
              </a:spcAft>
            </a:pPr>
            <a:r>
              <a:rPr lang="en-IN" sz="2400" dirty="0">
                <a:latin typeface="Trebuchet MS"/>
                <a:sym typeface="Trebuchet MS"/>
              </a:rPr>
              <a:t>                       Rahul Rathod – PES2UG23CS462</a:t>
            </a:r>
          </a:p>
          <a:p>
            <a:pPr>
              <a:spcBef>
                <a:spcPts val="0"/>
              </a:spcBef>
              <a:spcAft>
                <a:spcPts val="0"/>
              </a:spcAft>
            </a:pPr>
            <a:r>
              <a:rPr lang="en-IN" sz="2400" dirty="0">
                <a:latin typeface="Trebuchet MS"/>
                <a:sym typeface="Trebuchet MS"/>
              </a:rPr>
              <a:t>                       Renuka Gangadhar </a:t>
            </a:r>
            <a:r>
              <a:rPr lang="en-IN" sz="2400" dirty="0" err="1">
                <a:latin typeface="Trebuchet MS"/>
                <a:sym typeface="Trebuchet MS"/>
              </a:rPr>
              <a:t>Hosamani</a:t>
            </a:r>
            <a:r>
              <a:rPr lang="en-IN" sz="2400" dirty="0">
                <a:latin typeface="Trebuchet MS"/>
                <a:sym typeface="Trebuchet MS"/>
              </a:rPr>
              <a:t> – PES2UG23CS474</a:t>
            </a:r>
            <a:endParaRPr lang="en-IN" sz="2000" dirty="0"/>
          </a:p>
          <a:p>
            <a:pPr>
              <a:spcBef>
                <a:spcPts val="0"/>
              </a:spcBef>
              <a:spcAft>
                <a:spcPts val="0"/>
              </a:spcAft>
            </a:pPr>
            <a:r>
              <a:rPr lang="en-US" sz="2400" dirty="0">
                <a:solidFill>
                  <a:srgbClr val="0033CC"/>
                </a:solidFill>
                <a:latin typeface="Trebuchet MS"/>
                <a:ea typeface="Trebuchet MS"/>
                <a:cs typeface="Trebuchet MS"/>
                <a:sym typeface="Trebuchet MS"/>
              </a:rPr>
              <a:t> </a:t>
            </a:r>
            <a:endParaRPr sz="2000" dirty="0">
              <a:solidFill>
                <a:srgbClr val="0033CC"/>
              </a:solidFill>
            </a:endParaRPr>
          </a:p>
          <a:p>
            <a:pPr>
              <a:spcBef>
                <a:spcPts val="0"/>
              </a:spcBef>
              <a:spcAft>
                <a:spcPts val="0"/>
              </a:spcAft>
            </a:pPr>
            <a:endParaRPr sz="2400" dirty="0">
              <a:solidFill>
                <a:srgbClr val="0033CC"/>
              </a:solidFill>
              <a:latin typeface="Trebuchet MS"/>
              <a:ea typeface="Trebuchet MS"/>
              <a:cs typeface="Trebuchet MS"/>
              <a:sym typeface="Trebuchet MS"/>
            </a:endParaRPr>
          </a:p>
          <a:p>
            <a:pPr>
              <a:spcBef>
                <a:spcPts val="0"/>
              </a:spcBef>
              <a:spcAft>
                <a:spcPts val="0"/>
              </a:spcAft>
            </a:pPr>
            <a:endParaRPr sz="2400" dirty="0">
              <a:solidFill>
                <a:srgbClr val="0033CC"/>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2057400" y="1676400"/>
            <a:ext cx="8077200" cy="4724400"/>
          </a:xfrm>
          <a:prstGeom prst="rect">
            <a:avLst/>
          </a:prstGeom>
        </p:spPr>
        <p:txBody>
          <a:bodyPr/>
          <a:lstStyle/>
          <a:p>
            <a:pPr marL="685791" indent="-342900" algn="just" eaLnBrk="0" hangingPunct="0">
              <a:spcBef>
                <a:spcPct val="20000"/>
              </a:spcBef>
              <a:buFont typeface="Arial" panose="020B0604020202020204" pitchFamily="34" charset="0"/>
              <a:buChar char="•"/>
              <a:defRPr/>
            </a:pPr>
            <a:r>
              <a:rPr lang="en-IN" sz="2000" kern="0" dirty="0">
                <a:solidFill>
                  <a:srgbClr val="0000FF"/>
                </a:solidFill>
                <a:latin typeface="Trebuchet MS" pitchFamily="34" charset="0"/>
              </a:rPr>
              <a:t>Introduction and Motivation</a:t>
            </a:r>
          </a:p>
          <a:p>
            <a:pPr marL="685791" indent="-342900" algn="just" eaLnBrk="0" hangingPunct="0">
              <a:spcBef>
                <a:spcPct val="20000"/>
              </a:spcBef>
              <a:buFont typeface="Arial" panose="020B0604020202020204" pitchFamily="34" charset="0"/>
              <a:buChar char="•"/>
              <a:defRPr/>
            </a:pPr>
            <a:r>
              <a:rPr lang="en-IN" sz="2000" kern="0" dirty="0">
                <a:solidFill>
                  <a:srgbClr val="0000FF"/>
                </a:solidFill>
                <a:latin typeface="Trebuchet MS" pitchFamily="34" charset="0"/>
              </a:rPr>
              <a:t>Problem Statement</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Abstract and Scope</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Suggestions from Review – 1</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 Research / Technology gap and Challenges</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Objectives</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Literature Survey / Existing System</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sym typeface="Trebuchet MS"/>
              </a:rPr>
              <a:t>References</a:t>
            </a:r>
            <a:endParaRPr lang="en-US" sz="2000" kern="0" dirty="0">
              <a:solidFill>
                <a:srgbClr val="0000FF"/>
              </a:solidFill>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1919536" y="1844824"/>
            <a:ext cx="9583216" cy="4162419"/>
          </a:xfrm>
          <a:prstGeom prst="rect">
            <a:avLst/>
          </a:prstGeom>
        </p:spPr>
        <p:txBody>
          <a:bodyPr/>
          <a:lstStyle/>
          <a:p>
            <a:pPr marL="342891" indent="12700" algn="just" eaLnBrk="0" hangingPunct="0">
              <a:spcBef>
                <a:spcPct val="20000"/>
              </a:spcBef>
              <a:defRPr/>
            </a:pPr>
            <a:r>
              <a:rPr lang="en-US" sz="2400" dirty="0"/>
              <a:t>The project aims to develop an AI-based Dog Health Monitoring System that analyzes both images and symptoms to accurately detect diseases in dogs. It uses a dual-input model to provide comprehensive health assessment for small, medium, and large breeds .Current systems rely only on images or text, leading to incomplete diagnoses. By combining visual and clinical data, this approach ensures early detection and better decision support for veterinarians and pet owners. The motivation is to improve pet healthcare using multimodal AI technology for timely and reliable health monitoring</a:t>
            </a:r>
            <a:endParaRPr lang="en-IN" sz="2400" kern="0" dirty="0">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Introduction and Motivation</a:t>
            </a:r>
          </a:p>
        </p:txBody>
      </p:sp>
    </p:spTree>
    <p:extLst>
      <p:ext uri="{BB962C8B-B14F-4D97-AF65-F5344CB8AC3E}">
        <p14:creationId xmlns:p14="http://schemas.microsoft.com/office/powerpoint/2010/main" val="3892582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1991544" y="1844824"/>
            <a:ext cx="9865096" cy="4162419"/>
          </a:xfrm>
          <a:prstGeom prst="rect">
            <a:avLst/>
          </a:prstGeom>
        </p:spPr>
        <p:txBody>
          <a:bodyPr/>
          <a:lstStyle/>
          <a:p>
            <a:pPr marL="342891" indent="12700" algn="just" eaLnBrk="0" hangingPunct="0">
              <a:spcBef>
                <a:spcPct val="20000"/>
              </a:spcBef>
              <a:defRPr/>
            </a:pPr>
            <a:r>
              <a:rPr lang="en-US" sz="2400" dirty="0"/>
              <a:t>Pet owners often struggle to identify whether their pets are suffering from common or serious illnesses. Visiting a veterinarian for every minor concern can be costly and inconvenient. Many diseases show early signs in the form of symptoms (loss of appetite, vomiting, fatigue) and visible indicators (abnormal stool, urine color, skin conditions, or vomit appearance). There is currently no widely available system that integrates both symptom descriptions and visual evidence to support early health assessments. We aim to develop a hybrid, multi-modal AI system that analyzes both symptom descriptions and pet images to predict possible diseases, highlight key evidence, and guide owners on whether they should seek veterinary care. </a:t>
            </a:r>
            <a:endParaRPr lang="en-IN" sz="2400" kern="0" dirty="0">
              <a:solidFill>
                <a:srgbClr val="0000FF"/>
              </a:solidFill>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Problem Statement</a:t>
            </a:r>
          </a:p>
        </p:txBody>
      </p:sp>
    </p:spTree>
    <p:extLst>
      <p:ext uri="{BB962C8B-B14F-4D97-AF65-F5344CB8AC3E}">
        <p14:creationId xmlns:p14="http://schemas.microsoft.com/office/powerpoint/2010/main" val="82208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1850368" y="1844823"/>
            <a:ext cx="10150288" cy="4535485"/>
          </a:xfrm>
          <a:prstGeom prst="rect">
            <a:avLst/>
          </a:prstGeom>
        </p:spPr>
        <p:txBody>
          <a:bodyPr/>
          <a:lstStyle/>
          <a:p>
            <a:r>
              <a:rPr lang="en-US" sz="2400" b="1" dirty="0">
                <a:solidFill>
                  <a:srgbClr val="0066FF"/>
                </a:solidFill>
              </a:rPr>
              <a:t>Abstract</a:t>
            </a:r>
          </a:p>
          <a:p>
            <a:endParaRPr lang="en-US" sz="2400" b="1" dirty="0">
              <a:solidFill>
                <a:srgbClr val="0066FF"/>
              </a:solidFill>
            </a:endParaRPr>
          </a:p>
          <a:p>
            <a:r>
              <a:rPr lang="en-US" sz="2400" dirty="0"/>
              <a:t>This project addresses the problem of inaccurate or delayed disease detection in dogs caused by single-input health monitoring systems. It introduces an AI-Based Dog Health Monitoring System that uses dual inputs — images and symptoms for better accuracy. The system applies deep learning for image-based disease detection and machine learning for symptom analysis. By integrating both data types, it ensures early and more reliable diagnosis across small, medium, and large breeds. The project aims to assist veterinarians and pet owners in improving preventive healthcare and timely treatment.</a:t>
            </a: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Abstract and Scope</a:t>
            </a:r>
          </a:p>
        </p:txBody>
      </p:sp>
    </p:spTree>
    <p:extLst>
      <p:ext uri="{BB962C8B-B14F-4D97-AF65-F5344CB8AC3E}">
        <p14:creationId xmlns:p14="http://schemas.microsoft.com/office/powerpoint/2010/main" val="3811030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5816CB-854E-B790-0CB4-D00090CDDABE}"/>
              </a:ext>
            </a:extLst>
          </p:cNvPr>
          <p:cNvSpPr txBox="1"/>
          <p:nvPr/>
        </p:nvSpPr>
        <p:spPr>
          <a:xfrm>
            <a:off x="1883532" y="1412776"/>
            <a:ext cx="9253028" cy="4154984"/>
          </a:xfrm>
          <a:prstGeom prst="rect">
            <a:avLst/>
          </a:prstGeom>
          <a:noFill/>
        </p:spPr>
        <p:txBody>
          <a:bodyPr wrap="square">
            <a:spAutoFit/>
          </a:bodyPr>
          <a:lstStyle/>
          <a:p>
            <a:pPr>
              <a:buNone/>
            </a:pPr>
            <a:r>
              <a:rPr lang="en-US" sz="2400" b="1" dirty="0">
                <a:solidFill>
                  <a:srgbClr val="0066FF"/>
                </a:solidFill>
              </a:rPr>
              <a:t>Scope</a:t>
            </a:r>
          </a:p>
          <a:p>
            <a:pPr>
              <a:buNone/>
            </a:pPr>
            <a:endParaRPr lang="en-US" sz="2400" b="1" dirty="0"/>
          </a:p>
          <a:p>
            <a:pPr>
              <a:buNone/>
            </a:pPr>
            <a:r>
              <a:rPr lang="en-US" sz="2400" dirty="0"/>
              <a:t>The scope includes data collection, preprocessing, model training, and multimodal fusion of images and symptoms. It covers health monitoring and disease prediction for different dog breed sizes with scalable AI models. The system provides a user-friendly interface for owners to upload images and report symptoms for instant analysis. Future extensions can integrate IoT sensors and mobile applications for real-time health tracking. Overall, the project establishes a foundation for AI-driven, breed-aware, and multimodal veterinary health monitoring systems.</a:t>
            </a:r>
          </a:p>
        </p:txBody>
      </p:sp>
    </p:spTree>
    <p:extLst>
      <p:ext uri="{BB962C8B-B14F-4D97-AF65-F5344CB8AC3E}">
        <p14:creationId xmlns:p14="http://schemas.microsoft.com/office/powerpoint/2010/main" val="1013275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2135560" y="1916832"/>
            <a:ext cx="9015536" cy="4384667"/>
          </a:xfrm>
          <a:prstGeom prst="rect">
            <a:avLst/>
          </a:prstGeom>
        </p:spPr>
        <p:txBody>
          <a:bodyPr/>
          <a:lstStyle/>
          <a:p>
            <a:r>
              <a:rPr lang="en-US" sz="2400" dirty="0"/>
              <a:t>During Review–1, the panel members suggested improving the Gantt chart for better time allocation and clarity of project phases. They also recommended enhancing the presentation quality and providing more detailed explanations of each module. </a:t>
            </a:r>
          </a:p>
          <a:p>
            <a:r>
              <a:rPr lang="en-US" sz="2400" dirty="0"/>
              <a:t>In response, the Gantt chart has been revised to clearly show timelines, and phase-wise milestones.</a:t>
            </a:r>
          </a:p>
          <a:p>
            <a:r>
              <a:rPr lang="en-US" sz="2400" dirty="0"/>
              <a:t>The presentation has been refined with improved structured content, and clear communication of objectives. </a:t>
            </a:r>
          </a:p>
          <a:p>
            <a:r>
              <a:rPr lang="en-US" sz="2400" dirty="0"/>
              <a:t>Additional clarity has been provided in the project documentation to ensure a better understanding of the proposed system.</a:t>
            </a: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Suggestions from Review - 1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7E7DF-CD10-A895-4CFF-5816898EE3E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DB940B1-8E0A-43F5-8145-5E6D13847780}"/>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a:extLst>
              <a:ext uri="{FF2B5EF4-FFF2-40B4-BE49-F238E27FC236}">
                <a16:creationId xmlns:a16="http://schemas.microsoft.com/office/drawing/2014/main" id="{929AC46B-F2BB-0650-180C-2D4A9807C7E0}"/>
              </a:ext>
            </a:extLst>
          </p:cNvPr>
          <p:cNvSpPr txBox="1">
            <a:spLocks/>
          </p:cNvSpPr>
          <p:nvPr/>
        </p:nvSpPr>
        <p:spPr>
          <a:xfrm>
            <a:off x="2057400" y="2188868"/>
            <a:ext cx="8077200" cy="4211931"/>
          </a:xfrm>
          <a:prstGeom prst="rect">
            <a:avLst/>
          </a:prstGeom>
        </p:spPr>
        <p:txBody>
          <a:bodyPr/>
          <a:lstStyle/>
          <a:p>
            <a:pPr marL="342891" algn="just" eaLnBrk="0" hangingPunct="0">
              <a:spcBef>
                <a:spcPct val="20000"/>
              </a:spcBef>
              <a:defRPr/>
            </a:pPr>
            <a:endParaRPr lang="en-IN" sz="2400" dirty="0">
              <a:solidFill>
                <a:srgbClr val="0000FF"/>
              </a:solidFill>
              <a:latin typeface="Trebuchet MS" pitchFamily="34" charset="0"/>
            </a:endParaRPr>
          </a:p>
        </p:txBody>
      </p:sp>
      <p:sp>
        <p:nvSpPr>
          <p:cNvPr id="14" name="Text Box 34">
            <a:extLst>
              <a:ext uri="{FF2B5EF4-FFF2-40B4-BE49-F238E27FC236}">
                <a16:creationId xmlns:a16="http://schemas.microsoft.com/office/drawing/2014/main" id="{1390B55D-43F9-5CAE-77DD-5114F2D2BD46}"/>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Challenges and Research Gap</a:t>
            </a:r>
          </a:p>
        </p:txBody>
      </p:sp>
      <p:graphicFrame>
        <p:nvGraphicFramePr>
          <p:cNvPr id="3" name="Table 2">
            <a:extLst>
              <a:ext uri="{FF2B5EF4-FFF2-40B4-BE49-F238E27FC236}">
                <a16:creationId xmlns:a16="http://schemas.microsoft.com/office/drawing/2014/main" id="{F2435BFD-AF14-E240-C0F9-84C24CB3DC7D}"/>
              </a:ext>
            </a:extLst>
          </p:cNvPr>
          <p:cNvGraphicFramePr>
            <a:graphicFrameLocks noGrp="1"/>
          </p:cNvGraphicFramePr>
          <p:nvPr>
            <p:extLst>
              <p:ext uri="{D42A27DB-BD31-4B8C-83A1-F6EECF244321}">
                <p14:modId xmlns:p14="http://schemas.microsoft.com/office/powerpoint/2010/main" val="3619860722"/>
              </p:ext>
            </p:extLst>
          </p:nvPr>
        </p:nvGraphicFramePr>
        <p:xfrm>
          <a:off x="1559496" y="1844824"/>
          <a:ext cx="9937104" cy="4395320"/>
        </p:xfrm>
        <a:graphic>
          <a:graphicData uri="http://schemas.openxmlformats.org/drawingml/2006/table">
            <a:tbl>
              <a:tblPr firstRow="1" bandRow="1">
                <a:tableStyleId>{5C22544A-7EE6-4342-B048-85BDC9FD1C3A}</a:tableStyleId>
              </a:tblPr>
              <a:tblGrid>
                <a:gridCol w="4896544">
                  <a:extLst>
                    <a:ext uri="{9D8B030D-6E8A-4147-A177-3AD203B41FA5}">
                      <a16:colId xmlns:a16="http://schemas.microsoft.com/office/drawing/2014/main" val="196681624"/>
                    </a:ext>
                  </a:extLst>
                </a:gridCol>
                <a:gridCol w="5040560">
                  <a:extLst>
                    <a:ext uri="{9D8B030D-6E8A-4147-A177-3AD203B41FA5}">
                      <a16:colId xmlns:a16="http://schemas.microsoft.com/office/drawing/2014/main" val="1416083966"/>
                    </a:ext>
                  </a:extLst>
                </a:gridCol>
              </a:tblGrid>
              <a:tr h="737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Existing Gaps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our Project Fills Them</a:t>
                      </a:r>
                    </a:p>
                    <a:p>
                      <a:endParaRPr lang="en-IN" dirty="0"/>
                    </a:p>
                  </a:txBody>
                  <a:tcPr/>
                </a:tc>
                <a:extLst>
                  <a:ext uri="{0D108BD9-81ED-4DB2-BD59-A6C34878D82A}">
                    <a16:rowId xmlns:a16="http://schemas.microsoft.com/office/drawing/2014/main" val="1168646443"/>
                  </a:ext>
                </a:extLst>
              </a:tr>
              <a:tr h="737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Models focus on only one data type (image or symptom).</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Combines both inputs for better accuracy.</a:t>
                      </a:r>
                    </a:p>
                    <a:p>
                      <a:endParaRPr lang="en-IN" dirty="0"/>
                    </a:p>
                  </a:txBody>
                  <a:tcPr/>
                </a:tc>
                <a:extLst>
                  <a:ext uri="{0D108BD9-81ED-4DB2-BD59-A6C34878D82A}">
                    <a16:rowId xmlns:a16="http://schemas.microsoft.com/office/drawing/2014/main" val="1492430734"/>
                  </a:ext>
                </a:extLst>
              </a:tr>
              <a:tr h="737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Lack of systems generalized across dog breeds.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Model trained to handle multiple breeds (small, medium, large).</a:t>
                      </a:r>
                    </a:p>
                    <a:p>
                      <a:endParaRPr lang="en-IN" dirty="0"/>
                    </a:p>
                  </a:txBody>
                  <a:tcPr/>
                </a:tc>
                <a:extLst>
                  <a:ext uri="{0D108BD9-81ED-4DB2-BD59-A6C34878D82A}">
                    <a16:rowId xmlns:a16="http://schemas.microsoft.com/office/drawing/2014/main" val="2672324811"/>
                  </a:ext>
                </a:extLst>
              </a:tr>
              <a:tr h="737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 early disease alert system for owners.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Provides instant prediction from image + basic symptom entry.</a:t>
                      </a:r>
                    </a:p>
                    <a:p>
                      <a:endParaRPr lang="en-IN" dirty="0"/>
                    </a:p>
                  </a:txBody>
                  <a:tcPr/>
                </a:tc>
                <a:extLst>
                  <a:ext uri="{0D108BD9-81ED-4DB2-BD59-A6C34878D82A}">
                    <a16:rowId xmlns:a16="http://schemas.microsoft.com/office/drawing/2014/main" val="3036788158"/>
                  </a:ext>
                </a:extLst>
              </a:tr>
              <a:tr h="737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Low interpretability of image-only models.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Fusion gives explainable results — you can show which symptom or image feature led to prediction.</a:t>
                      </a:r>
                    </a:p>
                    <a:p>
                      <a:endParaRPr lang="en-IN" dirty="0"/>
                    </a:p>
                  </a:txBody>
                  <a:tcPr/>
                </a:tc>
                <a:extLst>
                  <a:ext uri="{0D108BD9-81ED-4DB2-BD59-A6C34878D82A}">
                    <a16:rowId xmlns:a16="http://schemas.microsoft.com/office/drawing/2014/main" val="1541495514"/>
                  </a:ext>
                </a:extLst>
              </a:tr>
            </a:tbl>
          </a:graphicData>
        </a:graphic>
      </p:graphicFrame>
    </p:spTree>
    <p:extLst>
      <p:ext uri="{BB962C8B-B14F-4D97-AF65-F5344CB8AC3E}">
        <p14:creationId xmlns:p14="http://schemas.microsoft.com/office/powerpoint/2010/main" val="2386270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A82B5-85E5-9F52-E735-9D94A9AC850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977EF10-7059-1AAF-06F1-C993B66CD461}"/>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a:extLst>
              <a:ext uri="{FF2B5EF4-FFF2-40B4-BE49-F238E27FC236}">
                <a16:creationId xmlns:a16="http://schemas.microsoft.com/office/drawing/2014/main" id="{F20BC0D5-82C5-776F-7C47-B575E1F9943F}"/>
              </a:ext>
            </a:extLst>
          </p:cNvPr>
          <p:cNvSpPr txBox="1">
            <a:spLocks/>
          </p:cNvSpPr>
          <p:nvPr/>
        </p:nvSpPr>
        <p:spPr>
          <a:xfrm>
            <a:off x="2057400" y="2188868"/>
            <a:ext cx="8077200" cy="4211931"/>
          </a:xfrm>
          <a:prstGeom prst="rect">
            <a:avLst/>
          </a:prstGeom>
        </p:spPr>
        <p:txBody>
          <a:bodyPr/>
          <a:lstStyle/>
          <a:p>
            <a:pPr marL="685791" indent="-342900" algn="just" eaLnBrk="0" hangingPunct="0">
              <a:spcBef>
                <a:spcPct val="20000"/>
              </a:spcBef>
              <a:buFont typeface="Arial" panose="020B0604020202020204" pitchFamily="34" charset="0"/>
              <a:buChar char="•"/>
              <a:defRPr/>
            </a:pPr>
            <a:endParaRPr lang="en-IN" sz="2400" dirty="0">
              <a:solidFill>
                <a:srgbClr val="0000FF"/>
              </a:solidFill>
              <a:latin typeface="Trebuchet MS" pitchFamily="34" charset="0"/>
            </a:endParaRPr>
          </a:p>
        </p:txBody>
      </p:sp>
      <p:sp>
        <p:nvSpPr>
          <p:cNvPr id="14" name="Text Box 34">
            <a:extLst>
              <a:ext uri="{FF2B5EF4-FFF2-40B4-BE49-F238E27FC236}">
                <a16:creationId xmlns:a16="http://schemas.microsoft.com/office/drawing/2014/main" id="{F1B5795C-E560-9A58-09B9-5DABEA897158}"/>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Objectives</a:t>
            </a:r>
          </a:p>
        </p:txBody>
      </p:sp>
      <p:sp>
        <p:nvSpPr>
          <p:cNvPr id="2" name="TextBox 1">
            <a:extLst>
              <a:ext uri="{FF2B5EF4-FFF2-40B4-BE49-F238E27FC236}">
                <a16:creationId xmlns:a16="http://schemas.microsoft.com/office/drawing/2014/main" id="{E9412D00-3589-0008-37F0-FFC630094186}"/>
              </a:ext>
            </a:extLst>
          </p:cNvPr>
          <p:cNvSpPr txBox="1"/>
          <p:nvPr/>
        </p:nvSpPr>
        <p:spPr>
          <a:xfrm>
            <a:off x="911424" y="1783581"/>
            <a:ext cx="11280576" cy="5693866"/>
          </a:xfrm>
          <a:prstGeom prst="rect">
            <a:avLst/>
          </a:prstGeom>
          <a:noFill/>
        </p:spPr>
        <p:txBody>
          <a:bodyPr wrap="square" rtlCol="0">
            <a:spAutoFit/>
          </a:bodyPr>
          <a:lstStyle/>
          <a:p>
            <a:r>
              <a:rPr lang="en-US" sz="2400" b="1" dirty="0">
                <a:solidFill>
                  <a:srgbClr val="0066FF"/>
                </a:solidFill>
              </a:rPr>
              <a:t>Objectives of the Project</a:t>
            </a:r>
          </a:p>
          <a:p>
            <a:endParaRPr lang="en-US" sz="2400" b="1" dirty="0">
              <a:solidFill>
                <a:srgbClr val="0066FF"/>
              </a:solidFill>
            </a:endParaRPr>
          </a:p>
          <a:p>
            <a:r>
              <a:rPr lang="en-US" sz="2400" dirty="0"/>
              <a:t>1.To develop an AI-based system that can detect and monitor dog health conditions using both images and symptom data.</a:t>
            </a:r>
          </a:p>
          <a:p>
            <a:endParaRPr lang="en-US" sz="2400" dirty="0"/>
          </a:p>
          <a:p>
            <a:r>
              <a:rPr lang="en-US" sz="2400" dirty="0"/>
              <a:t>2.To implement deep learning models for image-based disease detection and machine learning algorithms for symptom analysis.</a:t>
            </a:r>
          </a:p>
          <a:p>
            <a:endParaRPr lang="en-US" sz="2400" dirty="0"/>
          </a:p>
          <a:p>
            <a:r>
              <a:rPr lang="en-US" sz="2400" dirty="0"/>
              <a:t>3.To combine (fuse) visual and clinical features for accurate and early disease prediction.</a:t>
            </a:r>
          </a:p>
          <a:p>
            <a:endParaRPr lang="en-US" sz="2400" dirty="0"/>
          </a:p>
          <a:p>
            <a:r>
              <a:rPr lang="en-US" sz="2400" dirty="0"/>
              <a:t>4.To design the system to work efficiently across different dog breed sizes  small, medium, and large.</a:t>
            </a:r>
          </a:p>
          <a:p>
            <a:r>
              <a:rPr lang="en-US" sz="2400" dirty="0"/>
              <a:t>.</a:t>
            </a:r>
          </a:p>
          <a:p>
            <a:endParaRPr lang="en-IN" sz="2800" dirty="0">
              <a:solidFill>
                <a:srgbClr val="0000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3662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00DEB4-C460-DF84-F381-577087F2E1B2}"/>
              </a:ext>
            </a:extLst>
          </p:cNvPr>
          <p:cNvSpPr txBox="1"/>
          <p:nvPr/>
        </p:nvSpPr>
        <p:spPr>
          <a:xfrm>
            <a:off x="1271464" y="1484784"/>
            <a:ext cx="10081120" cy="3046988"/>
          </a:xfrm>
          <a:prstGeom prst="rect">
            <a:avLst/>
          </a:prstGeom>
          <a:noFill/>
        </p:spPr>
        <p:txBody>
          <a:bodyPr wrap="square">
            <a:spAutoFit/>
          </a:bodyPr>
          <a:lstStyle/>
          <a:p>
            <a:r>
              <a:rPr lang="en-US" sz="2400" dirty="0"/>
              <a:t>5.To create a user-friendly interface for pet owners to upload images and input symptoms easily.</a:t>
            </a:r>
          </a:p>
          <a:p>
            <a:endParaRPr lang="en-US" sz="2400" dirty="0"/>
          </a:p>
          <a:p>
            <a:r>
              <a:rPr lang="en-US" sz="2400" dirty="0"/>
              <a:t>6.To assist veterinarians and pet owners in early diagnosis and preventive healthcare.</a:t>
            </a:r>
          </a:p>
          <a:p>
            <a:endParaRPr lang="en-US" sz="2400" dirty="0"/>
          </a:p>
          <a:p>
            <a:r>
              <a:rPr lang="en-US" sz="2400" dirty="0"/>
              <a:t>7.To ensure the system is scalable and adaptable for integration with IoT or mobile health platforms in the future</a:t>
            </a:r>
            <a:endParaRPr lang="en-IN" sz="2400" dirty="0"/>
          </a:p>
        </p:txBody>
      </p:sp>
    </p:spTree>
    <p:extLst>
      <p:ext uri="{BB962C8B-B14F-4D97-AF65-F5344CB8AC3E}">
        <p14:creationId xmlns:p14="http://schemas.microsoft.com/office/powerpoint/2010/main" val="2371486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2057400" y="2188868"/>
            <a:ext cx="8077200" cy="4211931"/>
          </a:xfrm>
          <a:prstGeom prst="rect">
            <a:avLst/>
          </a:prstGeom>
        </p:spPr>
        <p:txBody>
          <a:bodyPr/>
          <a:lstStyle/>
          <a:p>
            <a:pPr marL="342891" algn="just" eaLnBrk="0" hangingPunct="0">
              <a:spcBef>
                <a:spcPct val="20000"/>
              </a:spcBef>
              <a:defRPr/>
            </a:pPr>
            <a:endParaRPr lang="en-IN" sz="2400" dirty="0">
              <a:solidFill>
                <a:srgbClr val="0000FF"/>
              </a:solidFill>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Literature Survey/Existing System</a:t>
            </a:r>
          </a:p>
        </p:txBody>
      </p:sp>
      <p:graphicFrame>
        <p:nvGraphicFramePr>
          <p:cNvPr id="2" name="Table 1">
            <a:extLst>
              <a:ext uri="{FF2B5EF4-FFF2-40B4-BE49-F238E27FC236}">
                <a16:creationId xmlns:a16="http://schemas.microsoft.com/office/drawing/2014/main" id="{0FAFEA0B-3970-5013-7D4D-317A8AA3BFBD}"/>
              </a:ext>
            </a:extLst>
          </p:cNvPr>
          <p:cNvGraphicFramePr>
            <a:graphicFrameLocks noGrp="1"/>
          </p:cNvGraphicFramePr>
          <p:nvPr>
            <p:extLst>
              <p:ext uri="{D42A27DB-BD31-4B8C-83A1-F6EECF244321}">
                <p14:modId xmlns:p14="http://schemas.microsoft.com/office/powerpoint/2010/main" val="3606981351"/>
              </p:ext>
            </p:extLst>
          </p:nvPr>
        </p:nvGraphicFramePr>
        <p:xfrm>
          <a:off x="838200" y="1825625"/>
          <a:ext cx="10369152" cy="4419600"/>
        </p:xfrm>
        <a:graphic>
          <a:graphicData uri="http://schemas.openxmlformats.org/drawingml/2006/table">
            <a:tbl>
              <a:tblPr firstRow="1" bandRow="1">
                <a:tableStyleId>{5C22544A-7EE6-4342-B048-85BDC9FD1C3A}</a:tableStyleId>
              </a:tblPr>
              <a:tblGrid>
                <a:gridCol w="1657400">
                  <a:extLst>
                    <a:ext uri="{9D8B030D-6E8A-4147-A177-3AD203B41FA5}">
                      <a16:colId xmlns:a16="http://schemas.microsoft.com/office/drawing/2014/main" val="3324597762"/>
                    </a:ext>
                  </a:extLst>
                </a:gridCol>
                <a:gridCol w="1078904">
                  <a:extLst>
                    <a:ext uri="{9D8B030D-6E8A-4147-A177-3AD203B41FA5}">
                      <a16:colId xmlns:a16="http://schemas.microsoft.com/office/drawing/2014/main" val="4028941731"/>
                    </a:ext>
                  </a:extLst>
                </a:gridCol>
                <a:gridCol w="2520280">
                  <a:extLst>
                    <a:ext uri="{9D8B030D-6E8A-4147-A177-3AD203B41FA5}">
                      <a16:colId xmlns:a16="http://schemas.microsoft.com/office/drawing/2014/main" val="3392936139"/>
                    </a:ext>
                  </a:extLst>
                </a:gridCol>
                <a:gridCol w="2466274">
                  <a:extLst>
                    <a:ext uri="{9D8B030D-6E8A-4147-A177-3AD203B41FA5}">
                      <a16:colId xmlns:a16="http://schemas.microsoft.com/office/drawing/2014/main" val="1722925122"/>
                    </a:ext>
                  </a:extLst>
                </a:gridCol>
                <a:gridCol w="2646294">
                  <a:extLst>
                    <a:ext uri="{9D8B030D-6E8A-4147-A177-3AD203B41FA5}">
                      <a16:colId xmlns:a16="http://schemas.microsoft.com/office/drawing/2014/main" val="1866199307"/>
                    </a:ext>
                  </a:extLst>
                </a:gridCol>
              </a:tblGrid>
              <a:tr h="576063">
                <a:tc>
                  <a:txBody>
                    <a:bodyPr/>
                    <a:lstStyle/>
                    <a:p>
                      <a:r>
                        <a:rPr lang="en-US" dirty="0"/>
                        <a:t>Details of Paper- Title, author, conference /Journal</a:t>
                      </a:r>
                      <a:endParaRPr lang="en-IN" dirty="0"/>
                    </a:p>
                  </a:txBody>
                  <a:tcPr/>
                </a:tc>
                <a:tc>
                  <a:txBody>
                    <a:bodyPr/>
                    <a:lstStyle/>
                    <a:p>
                      <a:r>
                        <a:rPr lang="en-IN" dirty="0"/>
                        <a:t>year</a:t>
                      </a:r>
                    </a:p>
                  </a:txBody>
                  <a:tcPr/>
                </a:tc>
                <a:tc>
                  <a:txBody>
                    <a:bodyPr/>
                    <a:lstStyle/>
                    <a:p>
                      <a:r>
                        <a:rPr lang="en-US" dirty="0"/>
                        <a:t>Methodology Used</a:t>
                      </a:r>
                      <a:endParaRPr lang="en-IN" dirty="0"/>
                    </a:p>
                  </a:txBody>
                  <a:tcPr/>
                </a:tc>
                <a:tc>
                  <a:txBody>
                    <a:bodyPr/>
                    <a:lstStyle/>
                    <a:p>
                      <a:r>
                        <a:rPr lang="en-US" dirty="0"/>
                        <a:t>Result</a:t>
                      </a:r>
                      <a:endParaRPr lang="en-IN" dirty="0"/>
                    </a:p>
                  </a:txBody>
                  <a:tcPr/>
                </a:tc>
                <a:tc>
                  <a:txBody>
                    <a:bodyPr/>
                    <a:lstStyle/>
                    <a:p>
                      <a:r>
                        <a:rPr lang="en-US" dirty="0"/>
                        <a:t>Limitations</a:t>
                      </a:r>
                      <a:endParaRPr lang="en-IN" dirty="0"/>
                    </a:p>
                  </a:txBody>
                  <a:tcPr/>
                </a:tc>
                <a:extLst>
                  <a:ext uri="{0D108BD9-81ED-4DB2-BD59-A6C34878D82A}">
                    <a16:rowId xmlns:a16="http://schemas.microsoft.com/office/drawing/2014/main" val="1322633629"/>
                  </a:ext>
                </a:extLst>
              </a:tr>
              <a:tr h="493203">
                <a:tc>
                  <a:txBody>
                    <a:bodyPr/>
                    <a:lstStyle/>
                    <a:p>
                      <a:r>
                        <a:rPr lang="en-US" sz="1100" b="0" dirty="0"/>
                        <a:t>Deep Learning-Based Pet Disease Diagnosis Using Skin and Fur Images </a:t>
                      </a:r>
                      <a:br>
                        <a:rPr lang="en-US" sz="1100" dirty="0"/>
                      </a:br>
                      <a:r>
                        <a:rPr lang="en-US" sz="1100" dirty="0"/>
                        <a:t>A. Kumar, R. Sharma, S. Gupta</a:t>
                      </a:r>
                      <a:endParaRPr lang="en-IN" sz="1100" dirty="0"/>
                    </a:p>
                  </a:txBody>
                  <a:tcPr/>
                </a:tc>
                <a:tc>
                  <a:txBody>
                    <a:bodyPr/>
                    <a:lstStyle/>
                    <a:p>
                      <a:r>
                        <a:rPr lang="en-IN" sz="1200" dirty="0"/>
                        <a:t>2023</a:t>
                      </a:r>
                    </a:p>
                  </a:txBody>
                  <a:tcPr/>
                </a:tc>
                <a:tc>
                  <a:txBody>
                    <a:bodyPr/>
                    <a:lstStyle/>
                    <a:p>
                      <a:r>
                        <a:rPr lang="en-US" sz="1100" b="0" dirty="0"/>
                        <a:t>Used CNN (ResNet50) for classification of pet skin </a:t>
                      </a:r>
                      <a:r>
                        <a:rPr lang="en-US" sz="1100" dirty="0"/>
                        <a:t>diseases from image datasets.</a:t>
                      </a:r>
                      <a:endParaRPr lang="en-IN" sz="1100" dirty="0"/>
                    </a:p>
                  </a:txBody>
                  <a:tcPr/>
                </a:tc>
                <a:tc>
                  <a:txBody>
                    <a:bodyPr/>
                    <a:lstStyle/>
                    <a:p>
                      <a:r>
                        <a:rPr lang="en-US" sz="1100" dirty="0"/>
                        <a:t>Achieved </a:t>
                      </a:r>
                      <a:r>
                        <a:rPr lang="en-US" sz="1100" b="0" dirty="0"/>
                        <a:t>91% accuracy </a:t>
                      </a:r>
                      <a:r>
                        <a:rPr lang="en-US" sz="1100" dirty="0"/>
                        <a:t>in detecting visible infections.</a:t>
                      </a:r>
                      <a:endParaRPr lang="en-IN" sz="1100" dirty="0"/>
                    </a:p>
                  </a:txBody>
                  <a:tcPr/>
                </a:tc>
                <a:tc>
                  <a:txBody>
                    <a:bodyPr/>
                    <a:lstStyle/>
                    <a:p>
                      <a:r>
                        <a:rPr lang="en-US" sz="1100" dirty="0"/>
                        <a:t>Focused </a:t>
                      </a:r>
                      <a:r>
                        <a:rPr lang="en-US" sz="1100" b="0" dirty="0"/>
                        <a:t>only on images, ignores </a:t>
                      </a:r>
                      <a:r>
                        <a:rPr lang="en-US" sz="1100" dirty="0"/>
                        <a:t>symptom-based diagnostics.</a:t>
                      </a:r>
                      <a:endParaRPr lang="en-IN" sz="1100" dirty="0"/>
                    </a:p>
                  </a:txBody>
                  <a:tcPr/>
                </a:tc>
                <a:extLst>
                  <a:ext uri="{0D108BD9-81ED-4DB2-BD59-A6C34878D82A}">
                    <a16:rowId xmlns:a16="http://schemas.microsoft.com/office/drawing/2014/main" val="2338891494"/>
                  </a:ext>
                </a:extLst>
              </a:tr>
              <a:tr h="493203">
                <a:tc>
                  <a:txBody>
                    <a:bodyPr/>
                    <a:lstStyle/>
                    <a:p>
                      <a:r>
                        <a:rPr lang="en-US" sz="1100" b="0" dirty="0"/>
                        <a:t>Pet Care AI: A Smartphone-Based Health Monitoring Tool for Dogs </a:t>
                      </a:r>
                      <a:br>
                        <a:rPr lang="en-US" sz="1100" dirty="0"/>
                      </a:br>
                      <a:r>
                        <a:rPr lang="en-US" sz="1100" dirty="0"/>
                        <a:t>S. Patel, R. Nair, P. Joshi</a:t>
                      </a:r>
                      <a:endParaRPr lang="en-IN" sz="1100" dirty="0"/>
                    </a:p>
                  </a:txBody>
                  <a:tcPr/>
                </a:tc>
                <a:tc>
                  <a:txBody>
                    <a:bodyPr/>
                    <a:lstStyle/>
                    <a:p>
                      <a:r>
                        <a:rPr lang="en-IN" sz="1400" dirty="0"/>
                        <a:t>2021</a:t>
                      </a:r>
                    </a:p>
                  </a:txBody>
                  <a:tcPr/>
                </a:tc>
                <a:tc>
                  <a:txBody>
                    <a:bodyPr/>
                    <a:lstStyle/>
                    <a:p>
                      <a:r>
                        <a:rPr lang="en-US" sz="1100" dirty="0"/>
                        <a:t>Designed </a:t>
                      </a:r>
                      <a:r>
                        <a:rPr lang="en-US" sz="1100" b="0" dirty="0"/>
                        <a:t>rule-based expert system for dog disease diagnosis based on user-input </a:t>
                      </a:r>
                      <a:r>
                        <a:rPr lang="en-US" sz="1100" dirty="0"/>
                        <a:t>symptoms.</a:t>
                      </a:r>
                      <a:endParaRPr lang="en-IN" sz="1100" dirty="0"/>
                    </a:p>
                  </a:txBody>
                  <a:tcPr/>
                </a:tc>
                <a:tc>
                  <a:txBody>
                    <a:bodyPr/>
                    <a:lstStyle/>
                    <a:p>
                      <a:r>
                        <a:rPr lang="en-US" sz="1100" dirty="0"/>
                        <a:t>Assisted remote users to self-check dog health issues.</a:t>
                      </a:r>
                      <a:endParaRPr lang="en-IN" sz="1100" dirty="0"/>
                    </a:p>
                  </a:txBody>
                  <a:tcPr/>
                </a:tc>
                <a:tc>
                  <a:txBody>
                    <a:bodyPr/>
                    <a:lstStyle/>
                    <a:p>
                      <a:r>
                        <a:rPr lang="en-US" sz="1100" dirty="0"/>
                        <a:t>No </a:t>
                      </a:r>
                      <a:r>
                        <a:rPr lang="en-US" sz="1100" b="0" dirty="0"/>
                        <a:t>machine learning or image processing</a:t>
                      </a:r>
                      <a:r>
                        <a:rPr lang="en-US" sz="1100" dirty="0"/>
                        <a:t>; limited adaptability</a:t>
                      </a:r>
                      <a:r>
                        <a:rPr lang="en-US" sz="1400" dirty="0"/>
                        <a:t>.</a:t>
                      </a:r>
                      <a:endParaRPr lang="en-IN" sz="1400" dirty="0"/>
                    </a:p>
                  </a:txBody>
                  <a:tcPr/>
                </a:tc>
                <a:extLst>
                  <a:ext uri="{0D108BD9-81ED-4DB2-BD59-A6C34878D82A}">
                    <a16:rowId xmlns:a16="http://schemas.microsoft.com/office/drawing/2014/main" val="1391382621"/>
                  </a:ext>
                </a:extLst>
              </a:tr>
              <a:tr h="493203">
                <a:tc>
                  <a:txBody>
                    <a:bodyPr/>
                    <a:lstStyle/>
                    <a:p>
                      <a:r>
                        <a:rPr lang="en-IN" sz="1100" b="0" dirty="0" err="1"/>
                        <a:t>PawSense</a:t>
                      </a:r>
                      <a:r>
                        <a:rPr lang="en-IN" sz="1100" b="0" dirty="0"/>
                        <a:t>: AI-IoT Enabled Smart Pet Care for Real-Time Health Monitoring </a:t>
                      </a:r>
                      <a:br>
                        <a:rPr lang="en-IN" sz="1100" dirty="0"/>
                      </a:br>
                      <a:r>
                        <a:rPr lang="en-IN" sz="1100" dirty="0"/>
                        <a:t>Aravind G., Dr. Sasirekha S.P., Jeeva S., Selvaganesh D.</a:t>
                      </a:r>
                    </a:p>
                  </a:txBody>
                  <a:tcPr/>
                </a:tc>
                <a:tc>
                  <a:txBody>
                    <a:bodyPr/>
                    <a:lstStyle/>
                    <a:p>
                      <a:r>
                        <a:rPr lang="en-IN" sz="1400" dirty="0"/>
                        <a:t>2025</a:t>
                      </a:r>
                    </a:p>
                  </a:txBody>
                  <a:tcPr/>
                </a:tc>
                <a:tc>
                  <a:txBody>
                    <a:bodyPr/>
                    <a:lstStyle/>
                    <a:p>
                      <a:r>
                        <a:rPr lang="en-US" sz="1100" dirty="0"/>
                        <a:t>Combined </a:t>
                      </a:r>
                      <a:r>
                        <a:rPr lang="en-US" sz="1100" b="0" dirty="0"/>
                        <a:t>AI, IoT, and blockchain in a Flutter-based pet care system. Real-time health data from IoT collars processed with deep learning </a:t>
                      </a:r>
                      <a:r>
                        <a:rPr lang="en-US" sz="1100" dirty="0"/>
                        <a:t>on cloud-edge architecture</a:t>
                      </a:r>
                      <a:r>
                        <a:rPr lang="en-US" sz="1400" dirty="0"/>
                        <a:t>.</a:t>
                      </a:r>
                      <a:endParaRPr lang="en-IN" sz="1400" dirty="0"/>
                    </a:p>
                  </a:txBody>
                  <a:tcPr/>
                </a:tc>
                <a:tc>
                  <a:txBody>
                    <a:bodyPr/>
                    <a:lstStyle/>
                    <a:p>
                      <a:r>
                        <a:rPr lang="en-US" sz="1100" dirty="0"/>
                        <a:t>Enabled </a:t>
                      </a:r>
                      <a:r>
                        <a:rPr lang="en-US" sz="1100" b="0" dirty="0"/>
                        <a:t>real-time anomaly detection </a:t>
                      </a:r>
                      <a:r>
                        <a:rPr lang="en-US" sz="1100" dirty="0"/>
                        <a:t>and predictive alerts for pet health. Improved security and latency.</a:t>
                      </a:r>
                      <a:endParaRPr lang="en-IN" sz="1100" dirty="0"/>
                    </a:p>
                  </a:txBody>
                  <a:tcPr/>
                </a:tc>
                <a:tc>
                  <a:txBody>
                    <a:bodyPr/>
                    <a:lstStyle/>
                    <a:p>
                      <a:r>
                        <a:rPr lang="en-US" sz="1100" dirty="0"/>
                        <a:t>Only uses </a:t>
                      </a:r>
                      <a:r>
                        <a:rPr lang="en-US" sz="1100" b="0" dirty="0"/>
                        <a:t>IoT sensor data; lacks integration of image and symptom-based AI models.</a:t>
                      </a:r>
                      <a:endParaRPr lang="en-IN" sz="1100" b="0" dirty="0"/>
                    </a:p>
                  </a:txBody>
                  <a:tcPr/>
                </a:tc>
                <a:extLst>
                  <a:ext uri="{0D108BD9-81ED-4DB2-BD59-A6C34878D82A}">
                    <a16:rowId xmlns:a16="http://schemas.microsoft.com/office/drawing/2014/main" val="874846422"/>
                  </a:ext>
                </a:extLst>
              </a:tr>
            </a:tbl>
          </a:graphicData>
        </a:graphic>
      </p:graphicFrame>
    </p:spTree>
    <p:extLst>
      <p:ext uri="{BB962C8B-B14F-4D97-AF65-F5344CB8AC3E}">
        <p14:creationId xmlns:p14="http://schemas.microsoft.com/office/powerpoint/2010/main" val="4205369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623FF-26CE-0AF2-6ED4-D8B45DDAF5C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9FD3129-7547-A295-0997-F1A0378C9EC1}"/>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a:extLst>
              <a:ext uri="{FF2B5EF4-FFF2-40B4-BE49-F238E27FC236}">
                <a16:creationId xmlns:a16="http://schemas.microsoft.com/office/drawing/2014/main" id="{E59D000B-476A-6A52-28DE-6A4B6A5E4E07}"/>
              </a:ext>
            </a:extLst>
          </p:cNvPr>
          <p:cNvSpPr txBox="1">
            <a:spLocks/>
          </p:cNvSpPr>
          <p:nvPr/>
        </p:nvSpPr>
        <p:spPr>
          <a:xfrm>
            <a:off x="2057400" y="2188868"/>
            <a:ext cx="8077200" cy="4211931"/>
          </a:xfrm>
          <a:prstGeom prst="rect">
            <a:avLst/>
          </a:prstGeom>
        </p:spPr>
        <p:txBody>
          <a:bodyPr/>
          <a:lstStyle/>
          <a:p>
            <a:pPr marL="342891" algn="just" eaLnBrk="0" hangingPunct="0">
              <a:spcBef>
                <a:spcPct val="20000"/>
              </a:spcBef>
              <a:defRPr/>
            </a:pPr>
            <a:endParaRPr lang="en-US" sz="2400" dirty="0">
              <a:solidFill>
                <a:srgbClr val="0000FF"/>
              </a:solidFill>
              <a:latin typeface="Trebuchet MS" pitchFamily="34" charset="0"/>
            </a:endParaRPr>
          </a:p>
          <a:p>
            <a:pPr marL="685791" indent="-342900" algn="just" eaLnBrk="0" hangingPunct="0">
              <a:spcBef>
                <a:spcPct val="20000"/>
              </a:spcBef>
              <a:buFont typeface="Arial" panose="020B0604020202020204" pitchFamily="34" charset="0"/>
              <a:buChar char="•"/>
              <a:defRPr/>
            </a:pPr>
            <a:endParaRPr lang="en-IN" sz="2400" dirty="0">
              <a:solidFill>
                <a:srgbClr val="0000FF"/>
              </a:solidFill>
              <a:latin typeface="Trebuchet MS" pitchFamily="34" charset="0"/>
            </a:endParaRPr>
          </a:p>
        </p:txBody>
      </p:sp>
      <p:sp>
        <p:nvSpPr>
          <p:cNvPr id="14" name="Text Box 34">
            <a:extLst>
              <a:ext uri="{FF2B5EF4-FFF2-40B4-BE49-F238E27FC236}">
                <a16:creationId xmlns:a16="http://schemas.microsoft.com/office/drawing/2014/main" id="{CE0956C5-C413-3480-EEF3-487EA92FE7F4}"/>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Literature Survey/Existing System</a:t>
            </a:r>
          </a:p>
        </p:txBody>
      </p:sp>
      <p:graphicFrame>
        <p:nvGraphicFramePr>
          <p:cNvPr id="3" name="Table 2">
            <a:extLst>
              <a:ext uri="{FF2B5EF4-FFF2-40B4-BE49-F238E27FC236}">
                <a16:creationId xmlns:a16="http://schemas.microsoft.com/office/drawing/2014/main" id="{E1B274D4-6B3C-241B-E87E-3F0192A129C2}"/>
              </a:ext>
            </a:extLst>
          </p:cNvPr>
          <p:cNvGraphicFramePr>
            <a:graphicFrameLocks noGrp="1"/>
          </p:cNvGraphicFramePr>
          <p:nvPr>
            <p:extLst>
              <p:ext uri="{D42A27DB-BD31-4B8C-83A1-F6EECF244321}">
                <p14:modId xmlns:p14="http://schemas.microsoft.com/office/powerpoint/2010/main" val="1964265384"/>
              </p:ext>
            </p:extLst>
          </p:nvPr>
        </p:nvGraphicFramePr>
        <p:xfrm>
          <a:off x="838200" y="1825625"/>
          <a:ext cx="10369152" cy="4206240"/>
        </p:xfrm>
        <a:graphic>
          <a:graphicData uri="http://schemas.openxmlformats.org/drawingml/2006/table">
            <a:tbl>
              <a:tblPr firstRow="1" bandRow="1">
                <a:tableStyleId>{5C22544A-7EE6-4342-B048-85BDC9FD1C3A}</a:tableStyleId>
              </a:tblPr>
              <a:tblGrid>
                <a:gridCol w="1945432">
                  <a:extLst>
                    <a:ext uri="{9D8B030D-6E8A-4147-A177-3AD203B41FA5}">
                      <a16:colId xmlns:a16="http://schemas.microsoft.com/office/drawing/2014/main" val="3152974139"/>
                    </a:ext>
                  </a:extLst>
                </a:gridCol>
                <a:gridCol w="790872">
                  <a:extLst>
                    <a:ext uri="{9D8B030D-6E8A-4147-A177-3AD203B41FA5}">
                      <a16:colId xmlns:a16="http://schemas.microsoft.com/office/drawing/2014/main" val="1788023218"/>
                    </a:ext>
                  </a:extLst>
                </a:gridCol>
                <a:gridCol w="2520280">
                  <a:extLst>
                    <a:ext uri="{9D8B030D-6E8A-4147-A177-3AD203B41FA5}">
                      <a16:colId xmlns:a16="http://schemas.microsoft.com/office/drawing/2014/main" val="902985348"/>
                    </a:ext>
                  </a:extLst>
                </a:gridCol>
                <a:gridCol w="2466274">
                  <a:extLst>
                    <a:ext uri="{9D8B030D-6E8A-4147-A177-3AD203B41FA5}">
                      <a16:colId xmlns:a16="http://schemas.microsoft.com/office/drawing/2014/main" val="656889914"/>
                    </a:ext>
                  </a:extLst>
                </a:gridCol>
                <a:gridCol w="2646294">
                  <a:extLst>
                    <a:ext uri="{9D8B030D-6E8A-4147-A177-3AD203B41FA5}">
                      <a16:colId xmlns:a16="http://schemas.microsoft.com/office/drawing/2014/main" val="4053549090"/>
                    </a:ext>
                  </a:extLst>
                </a:gridCol>
              </a:tblGrid>
              <a:tr h="576063">
                <a:tc>
                  <a:txBody>
                    <a:bodyPr/>
                    <a:lstStyle/>
                    <a:p>
                      <a:r>
                        <a:rPr lang="en-US" dirty="0"/>
                        <a:t>Details of Paper- Title, author, conference /Journal</a:t>
                      </a:r>
                      <a:endParaRPr lang="en-IN" dirty="0"/>
                    </a:p>
                  </a:txBody>
                  <a:tcPr/>
                </a:tc>
                <a:tc>
                  <a:txBody>
                    <a:bodyPr/>
                    <a:lstStyle/>
                    <a:p>
                      <a:r>
                        <a:rPr lang="en-IN" dirty="0"/>
                        <a:t>year</a:t>
                      </a:r>
                    </a:p>
                  </a:txBody>
                  <a:tcPr/>
                </a:tc>
                <a:tc>
                  <a:txBody>
                    <a:bodyPr/>
                    <a:lstStyle/>
                    <a:p>
                      <a:r>
                        <a:rPr lang="en-US" dirty="0"/>
                        <a:t>Methodology Used</a:t>
                      </a:r>
                      <a:endParaRPr lang="en-IN" dirty="0"/>
                    </a:p>
                  </a:txBody>
                  <a:tcPr/>
                </a:tc>
                <a:tc>
                  <a:txBody>
                    <a:bodyPr/>
                    <a:lstStyle/>
                    <a:p>
                      <a:r>
                        <a:rPr lang="en-US" dirty="0"/>
                        <a:t>Result</a:t>
                      </a:r>
                      <a:endParaRPr lang="en-IN" dirty="0"/>
                    </a:p>
                  </a:txBody>
                  <a:tcPr/>
                </a:tc>
                <a:tc>
                  <a:txBody>
                    <a:bodyPr/>
                    <a:lstStyle/>
                    <a:p>
                      <a:r>
                        <a:rPr lang="en-US" dirty="0"/>
                        <a:t>Limitations</a:t>
                      </a:r>
                      <a:endParaRPr lang="en-IN" dirty="0"/>
                    </a:p>
                  </a:txBody>
                  <a:tcPr/>
                </a:tc>
                <a:extLst>
                  <a:ext uri="{0D108BD9-81ED-4DB2-BD59-A6C34878D82A}">
                    <a16:rowId xmlns:a16="http://schemas.microsoft.com/office/drawing/2014/main" val="2749252180"/>
                  </a:ext>
                </a:extLst>
              </a:tr>
              <a:tr h="0">
                <a:tc>
                  <a:txBody>
                    <a:bodyPr/>
                    <a:lstStyle/>
                    <a:p>
                      <a:r>
                        <a:rPr lang="en-US" sz="1100" dirty="0"/>
                        <a:t>Development of a Dog Health Score Using an Artificial Intelligence Disease Prediction Algorithm Based on Multifaceted Data</a:t>
                      </a:r>
                      <a:br>
                        <a:rPr lang="en-US" sz="1100" dirty="0"/>
                      </a:br>
                      <a:r>
                        <a:rPr lang="en-US" sz="1100" dirty="0"/>
                        <a:t>S-C Kim &amp; S. Kim </a:t>
                      </a:r>
                      <a:endParaRPr lang="en-IN" sz="1100" dirty="0"/>
                    </a:p>
                  </a:txBody>
                  <a:tcPr/>
                </a:tc>
                <a:tc>
                  <a:txBody>
                    <a:bodyPr/>
                    <a:lstStyle/>
                    <a:p>
                      <a:r>
                        <a:rPr lang="en-IN" sz="1200" dirty="0"/>
                        <a:t>2024</a:t>
                      </a:r>
                    </a:p>
                  </a:txBody>
                  <a:tcPr/>
                </a:tc>
                <a:tc>
                  <a:txBody>
                    <a:bodyPr/>
                    <a:lstStyle/>
                    <a:p>
                      <a:r>
                        <a:rPr lang="en-US" sz="1100" dirty="0"/>
                        <a:t>Activity sensors (leash/wearables) monitoring behaviors (scratching, licking, swallowing, sleep) + AI algorithm to assign a “Health Score”. </a:t>
                      </a:r>
                      <a:endParaRPr lang="en-IN" sz="1100" dirty="0"/>
                    </a:p>
                  </a:txBody>
                  <a:tcPr/>
                </a:tc>
                <a:tc>
                  <a:txBody>
                    <a:bodyPr/>
                    <a:lstStyle/>
                    <a:p>
                      <a:r>
                        <a:rPr lang="en-US" sz="1100" dirty="0"/>
                        <a:t>Achieved ~87.5% concordance with veterinarian diagnoses</a:t>
                      </a:r>
                      <a:r>
                        <a:rPr lang="en-US" sz="1400" dirty="0"/>
                        <a:t>.</a:t>
                      </a:r>
                      <a:endParaRPr lang="en-IN" sz="1400" dirty="0"/>
                    </a:p>
                  </a:txBody>
                  <a:tcPr/>
                </a:tc>
                <a:tc>
                  <a:txBody>
                    <a:bodyPr/>
                    <a:lstStyle/>
                    <a:p>
                      <a:r>
                        <a:rPr lang="en-US" sz="1100" dirty="0"/>
                        <a:t>Only behavioral data from sensors; doesn’t include images or symptom-text fusion.</a:t>
                      </a:r>
                      <a:endParaRPr lang="en-IN" sz="1100" dirty="0"/>
                    </a:p>
                  </a:txBody>
                  <a:tcPr/>
                </a:tc>
                <a:extLst>
                  <a:ext uri="{0D108BD9-81ED-4DB2-BD59-A6C34878D82A}">
                    <a16:rowId xmlns:a16="http://schemas.microsoft.com/office/drawing/2014/main" val="1553900488"/>
                  </a:ext>
                </a:extLst>
              </a:tr>
              <a:tr h="493203">
                <a:tc>
                  <a:txBody>
                    <a:bodyPr/>
                    <a:lstStyle/>
                    <a:p>
                      <a:r>
                        <a:rPr lang="en-US" sz="1100" b="0" dirty="0"/>
                        <a:t>A Multimodal Fusion Approach for Veterinary Disease Detection </a:t>
                      </a:r>
                      <a:br>
                        <a:rPr lang="en-US" sz="1100" dirty="0"/>
                      </a:br>
                      <a:r>
                        <a:rPr lang="en-US" sz="1100" dirty="0"/>
                        <a:t>L. Chen, M. Zhao, Y. Li</a:t>
                      </a:r>
                      <a:endParaRPr lang="en-IN" sz="1100" dirty="0"/>
                    </a:p>
                  </a:txBody>
                  <a:tcPr/>
                </a:tc>
                <a:tc>
                  <a:txBody>
                    <a:bodyPr/>
                    <a:lstStyle/>
                    <a:p>
                      <a:r>
                        <a:rPr lang="en-IN" sz="1200" dirty="0"/>
                        <a:t>2024</a:t>
                      </a:r>
                    </a:p>
                  </a:txBody>
                  <a:tcPr/>
                </a:tc>
                <a:tc>
                  <a:txBody>
                    <a:bodyPr/>
                    <a:lstStyle/>
                    <a:p>
                      <a:r>
                        <a:rPr lang="en-US" sz="1100" b="0" dirty="0"/>
                        <a:t>Combined CNN (images) and LSTM (text symptoms) for disease prediction in livestock</a:t>
                      </a:r>
                      <a:r>
                        <a:rPr lang="en-US" sz="1400" b="1" dirty="0"/>
                        <a:t>.</a:t>
                      </a:r>
                      <a:endParaRPr lang="en-IN" sz="1400" b="1" dirty="0"/>
                    </a:p>
                  </a:txBody>
                  <a:tcPr/>
                </a:tc>
                <a:tc>
                  <a:txBody>
                    <a:bodyPr/>
                    <a:lstStyle/>
                    <a:p>
                      <a:r>
                        <a:rPr lang="en-US" sz="1100" b="0" dirty="0"/>
                        <a:t>Fusion improved accuracy by 12% over single-modal models</a:t>
                      </a:r>
                      <a:endParaRPr lang="en-IN" sz="1100" b="0" dirty="0"/>
                    </a:p>
                  </a:txBody>
                  <a:tcPr/>
                </a:tc>
                <a:tc>
                  <a:txBody>
                    <a:bodyPr/>
                    <a:lstStyle/>
                    <a:p>
                      <a:r>
                        <a:rPr lang="en-US" sz="1100" dirty="0"/>
                        <a:t>Model focused on livestock; not adap</a:t>
                      </a:r>
                      <a:r>
                        <a:rPr lang="en-US" sz="1100" b="0" dirty="0"/>
                        <a:t>ted for pet species or user-facing systems</a:t>
                      </a:r>
                      <a:r>
                        <a:rPr lang="en-US" sz="1400" dirty="0"/>
                        <a:t>..</a:t>
                      </a:r>
                      <a:endParaRPr lang="en-IN" sz="1400" dirty="0"/>
                    </a:p>
                  </a:txBody>
                  <a:tcPr/>
                </a:tc>
                <a:extLst>
                  <a:ext uri="{0D108BD9-81ED-4DB2-BD59-A6C34878D82A}">
                    <a16:rowId xmlns:a16="http://schemas.microsoft.com/office/drawing/2014/main" val="599841182"/>
                  </a:ext>
                </a:extLst>
              </a:tr>
              <a:tr h="493203">
                <a:tc>
                  <a:txBody>
                    <a:bodyPr/>
                    <a:lstStyle/>
                    <a:p>
                      <a:r>
                        <a:rPr lang="en-US" sz="1100" dirty="0"/>
                        <a:t>Pet Pulse: Detecting Dog Diseases with </a:t>
                      </a:r>
                      <a:r>
                        <a:rPr lang="en-US" sz="1100" dirty="0" err="1"/>
                        <a:t>TFLite</a:t>
                      </a:r>
                      <a:r>
                        <a:rPr lang="en-US" sz="1100" dirty="0"/>
                        <a:t>, Booking Vet Consults” </a:t>
                      </a:r>
                      <a:br>
                        <a:rPr lang="en-US" sz="1100" dirty="0"/>
                      </a:br>
                      <a:r>
                        <a:rPr lang="en-US" sz="1100" dirty="0"/>
                        <a:t>B. Abirami &amp; T. </a:t>
                      </a:r>
                      <a:r>
                        <a:rPr lang="en-US" sz="1100" dirty="0" err="1"/>
                        <a:t>Momithasree</a:t>
                      </a:r>
                      <a:r>
                        <a:rPr lang="en-US" sz="1100" dirty="0"/>
                        <a:t> </a:t>
                      </a:r>
                      <a:endParaRPr lang="en-IN" sz="1100" dirty="0"/>
                    </a:p>
                  </a:txBody>
                  <a:tcPr/>
                </a:tc>
                <a:tc>
                  <a:txBody>
                    <a:bodyPr/>
                    <a:lstStyle/>
                    <a:p>
                      <a:r>
                        <a:rPr lang="en-IN" sz="1200" dirty="0"/>
                        <a:t>2025</a:t>
                      </a:r>
                    </a:p>
                  </a:txBody>
                  <a:tcPr/>
                </a:tc>
                <a:tc>
                  <a:txBody>
                    <a:bodyPr/>
                    <a:lstStyle/>
                    <a:p>
                      <a:r>
                        <a:rPr lang="en-IN" sz="1400" dirty="0"/>
                        <a:t>Mobile app combining symptom tracking + pulse monitoring + image processing (skin conditions) using </a:t>
                      </a:r>
                      <a:r>
                        <a:rPr lang="en-IN" sz="1400" dirty="0" err="1"/>
                        <a:t>TFLite</a:t>
                      </a:r>
                      <a:r>
                        <a:rPr lang="en-IN" sz="1400" dirty="0"/>
                        <a:t> on smartphone. I</a:t>
                      </a:r>
                    </a:p>
                  </a:txBody>
                  <a:tcPr/>
                </a:tc>
                <a:tc>
                  <a:txBody>
                    <a:bodyPr/>
                    <a:lstStyle/>
                    <a:p>
                      <a:r>
                        <a:rPr lang="en-US" sz="1400" dirty="0"/>
                        <a:t>Demonstrated ability for owners to detect pet skin/health issues via mobile app; improved accessibility</a:t>
                      </a:r>
                      <a:endParaRPr lang="en-IN" dirty="0"/>
                    </a:p>
                  </a:txBody>
                  <a:tcPr/>
                </a:tc>
                <a:tc>
                  <a:txBody>
                    <a:bodyPr/>
                    <a:lstStyle/>
                    <a:p>
                      <a:r>
                        <a:rPr lang="en-US" sz="1400" dirty="0"/>
                        <a:t>Limited described dataset; possibly restricted to skin/disease types; full multimodal (symptoms + image + text) integration not completely detailed.</a:t>
                      </a:r>
                      <a:endParaRPr lang="en-IN" sz="1400" dirty="0"/>
                    </a:p>
                  </a:txBody>
                  <a:tcPr/>
                </a:tc>
                <a:extLst>
                  <a:ext uri="{0D108BD9-81ED-4DB2-BD59-A6C34878D82A}">
                    <a16:rowId xmlns:a16="http://schemas.microsoft.com/office/drawing/2014/main" val="1779298087"/>
                  </a:ext>
                </a:extLst>
              </a:tr>
            </a:tbl>
          </a:graphicData>
        </a:graphic>
      </p:graphicFrame>
    </p:spTree>
    <p:extLst>
      <p:ext uri="{BB962C8B-B14F-4D97-AF65-F5344CB8AC3E}">
        <p14:creationId xmlns:p14="http://schemas.microsoft.com/office/powerpoint/2010/main" val="3065681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599" y="1143002"/>
            <a:ext cx="8229599" cy="461665"/>
          </a:xfrm>
          <a:prstGeom prst="rect">
            <a:avLst/>
          </a:prstGeom>
          <a:noFill/>
          <a:ln w="9525">
            <a:noFill/>
            <a:miter lim="800000"/>
            <a:headEnd/>
            <a:tailEnd/>
          </a:ln>
        </p:spPr>
        <p:txBody>
          <a:bodyPr wrap="square">
            <a:spAutoFit/>
          </a:bodyPr>
          <a:lstStyle/>
          <a:p>
            <a:pPr marL="342900" indent="-342900" algn="r" eaLnBrk="0" hangingPunct="0">
              <a:spcBef>
                <a:spcPts val="0"/>
              </a:spcBef>
              <a:spcAft>
                <a:spcPts val="0"/>
              </a:spcAft>
              <a:defRPr/>
            </a:pPr>
            <a:r>
              <a:rPr lang="en-IN" sz="2400" dirty="0">
                <a:solidFill>
                  <a:srgbClr val="FF0000"/>
                </a:solidFill>
                <a:latin typeface="Trebuchet MS"/>
              </a:rPr>
              <a:t>Capstone (Phase-I , Phase-II and Phase III) Project Timeline</a:t>
            </a:r>
            <a:endParaRPr lang="en-US" sz="2400" dirty="0">
              <a:solidFill>
                <a:srgbClr val="FF0000"/>
              </a:solidFill>
              <a:latin typeface="Trebuchet MS"/>
            </a:endParaRPr>
          </a:p>
        </p:txBody>
      </p:sp>
      <p:pic>
        <p:nvPicPr>
          <p:cNvPr id="6" name="Picture 5">
            <a:extLst>
              <a:ext uri="{FF2B5EF4-FFF2-40B4-BE49-F238E27FC236}">
                <a16:creationId xmlns:a16="http://schemas.microsoft.com/office/drawing/2014/main" id="{EEAD59E0-6821-B55E-7805-9B447450EA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9616" y="1772816"/>
            <a:ext cx="7128792" cy="4395479"/>
          </a:xfrm>
          <a:prstGeom prst="rect">
            <a:avLst/>
          </a:prstGeom>
        </p:spPr>
      </p:pic>
    </p:spTree>
    <p:extLst>
      <p:ext uri="{BB962C8B-B14F-4D97-AF65-F5344CB8AC3E}">
        <p14:creationId xmlns:p14="http://schemas.microsoft.com/office/powerpoint/2010/main" val="1007940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Any other information</a:t>
            </a:r>
          </a:p>
        </p:txBody>
      </p:sp>
      <p:sp>
        <p:nvSpPr>
          <p:cNvPr id="5" name="TextBox 4">
            <a:extLst>
              <a:ext uri="{FF2B5EF4-FFF2-40B4-BE49-F238E27FC236}">
                <a16:creationId xmlns:a16="http://schemas.microsoft.com/office/drawing/2014/main" id="{EBB10B19-4157-41B3-85CA-452455B519DD}"/>
              </a:ext>
            </a:extLst>
          </p:cNvPr>
          <p:cNvSpPr txBox="1"/>
          <p:nvPr/>
        </p:nvSpPr>
        <p:spPr>
          <a:xfrm>
            <a:off x="2063552" y="2042820"/>
            <a:ext cx="8784976" cy="3046988"/>
          </a:xfrm>
          <a:prstGeom prst="rect">
            <a:avLst/>
          </a:prstGeom>
          <a:noFill/>
        </p:spPr>
        <p:txBody>
          <a:bodyPr wrap="square">
            <a:spAutoFit/>
          </a:bodyPr>
          <a:lstStyle/>
          <a:p>
            <a:pPr marL="342891" indent="12700" algn="just" eaLnBrk="0" hangingPunct="0">
              <a:spcBef>
                <a:spcPct val="20000"/>
              </a:spcBef>
              <a:defRPr/>
            </a:pPr>
            <a:r>
              <a:rPr lang="en-US" sz="2400" dirty="0"/>
              <a:t>The project is in its initial development phase and the team is focusing on literature review and data collection. Discussions are ongoing to finalize the model design and dataset selection for different dog breeds. Team members are coordinating regularly to ensure smooth progress and proper task distribution. The group is also exploring possible real-world applications and user-friendly features for the final system.</a:t>
            </a:r>
            <a:endParaRPr lang="en-IN" sz="2400" kern="0" dirty="0">
              <a:latin typeface="Trebuchet MS"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indent="-342900" algn="r" eaLnBrk="0" hangingPunct="0">
              <a:spcBef>
                <a:spcPts val="0"/>
              </a:spcBef>
              <a:spcAft>
                <a:spcPts val="0"/>
              </a:spcAft>
              <a:defRPr/>
            </a:pPr>
            <a:r>
              <a:rPr lang="en-IN" sz="2400" dirty="0">
                <a:solidFill>
                  <a:srgbClr val="FF0000"/>
                </a:solidFill>
                <a:latin typeface="Trebuchet MS"/>
              </a:rPr>
              <a:t>Conclusion</a:t>
            </a:r>
            <a:endParaRPr lang="en-US" sz="2400" dirty="0">
              <a:solidFill>
                <a:srgbClr val="FF0000"/>
              </a:solidFill>
              <a:latin typeface="Trebuchet MS"/>
            </a:endParaRPr>
          </a:p>
        </p:txBody>
      </p:sp>
      <p:sp>
        <p:nvSpPr>
          <p:cNvPr id="5" name="TextBox 4">
            <a:extLst>
              <a:ext uri="{FF2B5EF4-FFF2-40B4-BE49-F238E27FC236}">
                <a16:creationId xmlns:a16="http://schemas.microsoft.com/office/drawing/2014/main" id="{F9381D5F-DF09-D6C9-8BAF-27B22606CA29}"/>
              </a:ext>
            </a:extLst>
          </p:cNvPr>
          <p:cNvSpPr txBox="1"/>
          <p:nvPr/>
        </p:nvSpPr>
        <p:spPr>
          <a:xfrm>
            <a:off x="1685764" y="1916832"/>
            <a:ext cx="10344472" cy="4154984"/>
          </a:xfrm>
          <a:prstGeom prst="rect">
            <a:avLst/>
          </a:prstGeom>
          <a:noFill/>
        </p:spPr>
        <p:txBody>
          <a:bodyPr wrap="square">
            <a:spAutoFit/>
          </a:bodyPr>
          <a:lstStyle/>
          <a:p>
            <a:r>
              <a:rPr lang="en-US" sz="2400" dirty="0"/>
              <a:t>The AI-Based Dog Health Monitoring System Using Dual-Input (Images + Symptoms) successfully demonstrates how artificial intelligence can be applied to enhance veterinary healthcare. By integrating deep learning for image analysis and machine learning for symptom-based prediction, the system provides a more accurate and reliable health assessment for dogs of small, medium, and large breeds. It addresses the limitations of existing single-input models and promotes early disease detection and preventive healthcare. The project also highlights the potential of multimodal AI in improving animal welfare and supporting veterinarians with data-driven insights. Overall, this work lays the foundation for future advancements in intelligent, breed-aware, and automated pet health monitoring systems.</a:t>
            </a:r>
            <a:endParaRPr lang="en-IN" sz="2400" dirty="0"/>
          </a:p>
        </p:txBody>
      </p:sp>
    </p:spTree>
    <p:extLst>
      <p:ext uri="{BB962C8B-B14F-4D97-AF65-F5344CB8AC3E}">
        <p14:creationId xmlns:p14="http://schemas.microsoft.com/office/powerpoint/2010/main" val="2374062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2783632" y="1100626"/>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References</a:t>
            </a:r>
          </a:p>
        </p:txBody>
      </p:sp>
      <p:sp>
        <p:nvSpPr>
          <p:cNvPr id="6" name="Content Placeholder 2"/>
          <p:cNvSpPr txBox="1">
            <a:spLocks/>
          </p:cNvSpPr>
          <p:nvPr/>
        </p:nvSpPr>
        <p:spPr>
          <a:xfrm>
            <a:off x="1631979" y="908720"/>
            <a:ext cx="8458200" cy="4724400"/>
          </a:xfrm>
          <a:prstGeom prst="rect">
            <a:avLst/>
          </a:prstGeom>
        </p:spPr>
        <p:txBody>
          <a:bodyPr/>
          <a:lstStyle/>
          <a:p>
            <a:pPr marL="342900" indent="12700" algn="just" eaLnBrk="0" hangingPunct="0">
              <a:spcBef>
                <a:spcPct val="20000"/>
              </a:spcBef>
              <a:defRPr/>
            </a:pPr>
            <a:endParaRPr lang="en-IN" sz="2400" dirty="0">
              <a:solidFill>
                <a:srgbClr val="0000FF"/>
              </a:solidFill>
              <a:latin typeface="Trebuchet MS" pitchFamily="34" charset="0"/>
            </a:endParaRPr>
          </a:p>
          <a:p>
            <a:pPr marL="342900" indent="12700" algn="just" eaLnBrk="0" hangingPunct="0">
              <a:spcBef>
                <a:spcPct val="20000"/>
              </a:spcBef>
              <a:defRPr/>
            </a:pPr>
            <a:endParaRPr lang="en-IN" sz="2400" dirty="0">
              <a:solidFill>
                <a:srgbClr val="0000FF"/>
              </a:solidFill>
              <a:latin typeface="Trebuchet MS" pitchFamily="34" charset="0"/>
            </a:endParaRPr>
          </a:p>
          <a:p>
            <a:pPr marL="1077913" lvl="1" indent="-265113" algn="just" eaLnBrk="0" hangingPunct="0">
              <a:spcBef>
                <a:spcPct val="20000"/>
              </a:spcBef>
              <a:defRPr/>
            </a:pPr>
            <a:r>
              <a:rPr lang="en-IN" sz="2000" dirty="0">
                <a:latin typeface="Trebuchet MS" pitchFamily="34" charset="0"/>
              </a:rPr>
              <a:t>📚 </a:t>
            </a:r>
            <a:r>
              <a:rPr lang="en-IN" sz="2000" dirty="0">
                <a:solidFill>
                  <a:srgbClr val="0000FF"/>
                </a:solidFill>
                <a:latin typeface="Trebuchet MS" pitchFamily="34" charset="0"/>
              </a:rPr>
              <a:t>References (IEEE Format)</a:t>
            </a:r>
          </a:p>
          <a:p>
            <a:pPr marL="1077913" lvl="1" indent="-265113" algn="just" eaLnBrk="0" hangingPunct="0">
              <a:spcBef>
                <a:spcPct val="20000"/>
              </a:spcBef>
              <a:defRPr/>
            </a:pPr>
            <a:r>
              <a:rPr lang="en-IN" sz="2000" dirty="0">
                <a:latin typeface="Trebuchet MS" pitchFamily="34" charset="0"/>
              </a:rPr>
              <a:t>  </a:t>
            </a:r>
            <a:r>
              <a:rPr lang="en-IN" sz="2000" dirty="0">
                <a:solidFill>
                  <a:srgbClr val="FF0000"/>
                </a:solidFill>
                <a:latin typeface="Trebuchet MS" pitchFamily="34" charset="0"/>
              </a:rPr>
              <a:t> </a:t>
            </a:r>
            <a:r>
              <a:rPr lang="en-IN" sz="2000" dirty="0">
                <a:solidFill>
                  <a:srgbClr val="002060"/>
                </a:solidFill>
                <a:latin typeface="Trebuchet MS" pitchFamily="34" charset="0"/>
              </a:rPr>
              <a:t>1) </a:t>
            </a:r>
            <a:r>
              <a:rPr lang="en-IN" sz="2000" dirty="0">
                <a:solidFill>
                  <a:srgbClr val="3399FF"/>
                </a:solidFill>
                <a:latin typeface="Trebuchet MS" pitchFamily="34" charset="0"/>
              </a:rPr>
              <a:t>L. Chen, M. Zhao, and Y. Li, “A Multimodal Fusion Approach for Veterinary Disease Detection,” Computers in Biology and Medicine, vol. 169, pp. 107534, 2024.</a:t>
            </a:r>
          </a:p>
          <a:p>
            <a:pPr marL="1077913" lvl="1" indent="-265113" algn="just" eaLnBrk="0" hangingPunct="0">
              <a:spcBef>
                <a:spcPct val="20000"/>
              </a:spcBef>
              <a:defRPr/>
            </a:pPr>
            <a:r>
              <a:rPr lang="en-IN" sz="2000" dirty="0">
                <a:solidFill>
                  <a:srgbClr val="3399FF"/>
                </a:solidFill>
                <a:latin typeface="Trebuchet MS" pitchFamily="34" charset="0"/>
              </a:rPr>
              <a:t>   </a:t>
            </a:r>
            <a:r>
              <a:rPr lang="en-IN" sz="2000" dirty="0">
                <a:solidFill>
                  <a:srgbClr val="002060"/>
                </a:solidFill>
                <a:latin typeface="Trebuchet MS" pitchFamily="34" charset="0"/>
              </a:rPr>
              <a:t>2) </a:t>
            </a:r>
            <a:r>
              <a:rPr lang="en-IN" sz="2000" dirty="0">
                <a:solidFill>
                  <a:srgbClr val="3399FF"/>
                </a:solidFill>
                <a:latin typeface="Trebuchet MS" pitchFamily="34" charset="0"/>
              </a:rPr>
              <a:t>A. Kumar, R. Sharma, and S. Gupta, “Deep Learning-Based Pet Disease Diagnosis Using Skin and Fur Images,” IEEE Access, vol. 11, pp. 45782–45791, 2023.</a:t>
            </a:r>
          </a:p>
          <a:p>
            <a:pPr marL="1077913" lvl="1" indent="-265113" algn="just" eaLnBrk="0" hangingPunct="0">
              <a:spcBef>
                <a:spcPct val="20000"/>
              </a:spcBef>
              <a:defRPr/>
            </a:pPr>
            <a:endParaRPr lang="en-IN" sz="2000" dirty="0">
              <a:solidFill>
                <a:srgbClr val="3399FF"/>
              </a:solidFill>
              <a:latin typeface="Trebuchet MS" pitchFamily="34" charset="0"/>
            </a:endParaRPr>
          </a:p>
          <a:p>
            <a:pPr marL="342900" indent="-342900" eaLnBrk="0" hangingPunct="0">
              <a:spcBef>
                <a:spcPct val="20000"/>
              </a:spcBef>
              <a:defRPr/>
            </a:pPr>
            <a:endParaRPr lang="en-IN" sz="2000" kern="0" dirty="0">
              <a:latin typeface="Trebuchet MS" pitchFamily="34" charset="0"/>
            </a:endParaRPr>
          </a:p>
        </p:txBody>
      </p:sp>
    </p:spTree>
    <p:extLst>
      <p:ext uri="{BB962C8B-B14F-4D97-AF65-F5344CB8AC3E}">
        <p14:creationId xmlns:p14="http://schemas.microsoft.com/office/powerpoint/2010/main" val="3902358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71485" y="3352800"/>
            <a:ext cx="2506584" cy="707886"/>
          </a:xfrm>
          <a:prstGeom prst="rect">
            <a:avLst/>
          </a:prstGeom>
        </p:spPr>
        <p:txBody>
          <a:bodyPr wrap="none">
            <a:spAutoFit/>
          </a:bodyPr>
          <a:lstStyle/>
          <a:p>
            <a:pPr algn="r"/>
            <a:r>
              <a:rPr lang="en-US" sz="4000" dirty="0">
                <a:solidFill>
                  <a:srgbClr val="FF0000"/>
                </a:solidFill>
                <a:latin typeface="Trebuchet MS" pitchFamily="34" charset="0"/>
              </a:rPr>
              <a:t>Thank You</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pstone Project - Review 3 - Template.pptx" id="{77E64785-C4AC-D447-9F20-AA3556BA4DEA}" vid="{211B08FD-A304-1146-A3C3-5229E601B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Capstone Project - Review 3 - Template (1)</Template>
  <TotalTime>478</TotalTime>
  <Words>1604</Words>
  <Application>Microsoft Office PowerPoint</Application>
  <PresentationFormat>Widescreen</PresentationFormat>
  <Paragraphs>127</Paragraphs>
  <Slides>17</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Times New Roman</vt:lpstr>
      <vt:lpstr>Trebuchet MS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KTwo Technology Solutions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Sunitha R</dc:creator>
  <cp:lastModifiedBy>Deepika N</cp:lastModifiedBy>
  <cp:revision>54</cp:revision>
  <dcterms:created xsi:type="dcterms:W3CDTF">2020-11-22T08:14:37Z</dcterms:created>
  <dcterms:modified xsi:type="dcterms:W3CDTF">2025-11-06T09:22:46Z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