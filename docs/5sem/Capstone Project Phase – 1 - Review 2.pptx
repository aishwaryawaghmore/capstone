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7"/>
  </p:notesMasterIdLst>
  <p:handoutMasterIdLst>
    <p:handoutMasterId r:id="rId18"/>
  </p:handoutMasterIdLst>
  <p:sldIdLst>
    <p:sldId id="538" r:id="rId2"/>
    <p:sldId id="535" r:id="rId3"/>
    <p:sldId id="570" r:id="rId4"/>
    <p:sldId id="572" r:id="rId5"/>
    <p:sldId id="569" r:id="rId6"/>
    <p:sldId id="557" r:id="rId7"/>
    <p:sldId id="585" r:id="rId8"/>
    <p:sldId id="586" r:id="rId9"/>
    <p:sldId id="568" r:id="rId10"/>
    <p:sldId id="587" r:id="rId11"/>
    <p:sldId id="583" r:id="rId12"/>
    <p:sldId id="545" r:id="rId13"/>
    <p:sldId id="584" r:id="rId14"/>
    <p:sldId id="552" r:id="rId15"/>
    <p:sldId id="549" r:id="rId16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0066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59" d="100"/>
          <a:sy n="59" d="100"/>
        </p:scale>
        <p:origin x="95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47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43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E73D-8ECF-AF98-63B1-C3C5C8D5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97682-F0C4-2DAE-14ED-FD74B0EA1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0B31B-FD23-B3BE-3D10-42B801E32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73067-ECEF-68C9-F67D-53A99CA97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1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4CEF-7073-D7AB-EC74-925D2344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6DAC7-DAEB-2A57-A800-59BBBFC1C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9C16C-4B0D-EDC4-B7BB-F29488713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BF1AB-0288-1910-8236-CA0405E4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99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4A08C-C927-42D4-1E74-E3E84DDC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600B6-8D8C-B153-664A-47537DFB3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644BB-518F-0B90-4C82-4A9E7FA23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C9081-9950-9395-6E9B-8C95CBB2A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7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A3B97CAD-824E-EAC1-FC41-3EEEC584AA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00200"/>
            <a:ext cx="7924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rebuchet MS" pitchFamily="34" charset="0"/>
              </a:rPr>
              <a:t>UE23CS320A–  Project Phase – 1</a:t>
            </a:r>
          </a:p>
          <a:p>
            <a:pPr algn="ctr"/>
            <a:r>
              <a:rPr lang="en-US" sz="4000" dirty="0">
                <a:latin typeface="Trebuchet MS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rebuchet MS" pitchFamily="34" charset="0"/>
              </a:rPr>
              <a:t>Review -2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703512" y="4105167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lang="en-IN"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1676400"/>
            <a:ext cx="8077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Introduction and Motivation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Problem Statement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Abstract and Scope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Suggestions from Review – 1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 Research / Technology gap and Challenges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Objectives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Literature Survey / Existing System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  <a:endParaRPr lang="en-US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basic introduction of the project and also motivation to select the problem statement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Introduction and Motivation</a:t>
            </a:r>
          </a:p>
        </p:txBody>
      </p:sp>
    </p:spTree>
    <p:extLst>
      <p:ext uri="{BB962C8B-B14F-4D97-AF65-F5344CB8AC3E}">
        <p14:creationId xmlns:p14="http://schemas.microsoft.com/office/powerpoint/2010/main" val="389258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Well defined problem statement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It should clearly specify the problem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220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Include the following,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 The problem addressed in the project.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 Provide a basic introduction of the project and also an overview of scope it entails.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Include objective and adopted approach.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  Set the context.</a:t>
            </a: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Explain how each remark by panel members is addressed in the current system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E7DF-CD10-A895-4CFF-5816898E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B940B1-8E0A-43F5-8145-5E6D13847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9AC46B-F2BB-0650-180C-2D4A9807C7E0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1390B55D-43F9-5CAE-77DD-5114F2D2B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Challenges and Research Gap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5C299-4584-D135-D740-A49DDBCBF6EC}"/>
              </a:ext>
            </a:extLst>
          </p:cNvPr>
          <p:cNvSpPr txBox="1"/>
          <p:nvPr/>
        </p:nvSpPr>
        <p:spPr>
          <a:xfrm>
            <a:off x="911424" y="2167178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research Gap</a:t>
            </a:r>
            <a:endParaRPr lang="en-IN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27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82B5-85E5-9F52-E735-9D94A9AC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77EF10-7059-1AAF-06F1-C993B66CD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0BC0D5-82C5-776F-7C47-B575E1F9943F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F1B5795C-E560-9A58-09B9-5DABEA897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12D00-3589-0008-37F0-FFC630094186}"/>
              </a:ext>
            </a:extLst>
          </p:cNvPr>
          <p:cNvSpPr txBox="1"/>
          <p:nvPr/>
        </p:nvSpPr>
        <p:spPr>
          <a:xfrm>
            <a:off x="911424" y="2167178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the objectives of project</a:t>
            </a:r>
            <a:endParaRPr lang="en-IN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6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A critical assessment of the research that has been conducted on the topic.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5-6 recently published research papers/products.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Summarize the individual papers/products with as much detail as each deserves, depending up on its relative importance in the overall literature on the topic. </a:t>
            </a:r>
          </a:p>
          <a:p>
            <a:pPr marL="342891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Survey/Existing System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23FF-26CE-0AF2-6ED4-D8B45DDA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FD3129-7547-A295-0997-F1A0378C9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9D000B-476A-6A52-28DE-6A4B6A5E4E07}"/>
              </a:ext>
            </a:extLst>
          </p:cNvPr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Sample Template- Student can use any other template also to explain about the paper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CE0956C5-C413-3480-EEF3-487EA92FE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Survey/Existing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450688-C4D3-B62C-E415-135F1AB23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34582"/>
              </p:ext>
            </p:extLst>
          </p:nvPr>
        </p:nvGraphicFramePr>
        <p:xfrm>
          <a:off x="1847528" y="3140968"/>
          <a:ext cx="8352928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82100494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42816839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99845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370996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Details of Paper- Title, author, conference /Journal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 Used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50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07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53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7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68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, Phase-II and Phase 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timelines for execution of the project through Gantt chart.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plan in terms of efforts by individuals in the team.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Mention the tasks involved in different stages.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40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any other information you wish to add on.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Note: Changes can be made in the template, with the consent of the guide for inclusion of any other information.</a:t>
            </a:r>
            <a:endParaRPr lang="en-IN" sz="2400" kern="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Conclusion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7406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/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EX:</a:t>
            </a: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G. Eason, B. Noble, and I. N. Sneddon, “On certain integrals of  Lipschitz-Hankel type involving products of Bessel functions,” Phil. Trans.  Roy. Soc. London, vol. A247, pp. 529–551, April 1955. (references)</a:t>
            </a: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58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191</TotalTime>
  <Words>416</Words>
  <Application>Microsoft Office PowerPoint</Application>
  <PresentationFormat>Widescreen</PresentationFormat>
  <Paragraphs>71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48</cp:revision>
  <dcterms:created xsi:type="dcterms:W3CDTF">2020-11-22T08:14:37Z</dcterms:created>
  <dcterms:modified xsi:type="dcterms:W3CDTF">2025-10-13T07:52:54Z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